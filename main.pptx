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101" y="4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731" y="477227"/>
            <a:ext cx="4432935" cy="687070"/>
          </a:xfrm>
          <a:custGeom>
            <a:avLst/>
            <a:gdLst/>
            <a:ahLst/>
            <a:cxnLst/>
            <a:rect l="l" t="t" r="r" b="b"/>
            <a:pathLst>
              <a:path w="4432935" h="687069">
                <a:moveTo>
                  <a:pt x="4432566" y="44424"/>
                </a:moveTo>
                <a:lnTo>
                  <a:pt x="4431271" y="44424"/>
                </a:lnTo>
                <a:lnTo>
                  <a:pt x="4428566" y="31076"/>
                </a:lnTo>
                <a:lnTo>
                  <a:pt x="4417644" y="14922"/>
                </a:lnTo>
                <a:lnTo>
                  <a:pt x="4401502" y="4013"/>
                </a:lnTo>
                <a:lnTo>
                  <a:pt x="4381766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635939"/>
                </a:lnTo>
                <a:lnTo>
                  <a:pt x="4013" y="655675"/>
                </a:lnTo>
                <a:lnTo>
                  <a:pt x="14922" y="671830"/>
                </a:lnTo>
                <a:lnTo>
                  <a:pt x="31076" y="682739"/>
                </a:lnTo>
                <a:lnTo>
                  <a:pt x="50812" y="686752"/>
                </a:lnTo>
                <a:lnTo>
                  <a:pt x="4381766" y="686752"/>
                </a:lnTo>
                <a:lnTo>
                  <a:pt x="4401502" y="682739"/>
                </a:lnTo>
                <a:lnTo>
                  <a:pt x="4417644" y="671830"/>
                </a:lnTo>
                <a:lnTo>
                  <a:pt x="4428566" y="655675"/>
                </a:lnTo>
                <a:lnTo>
                  <a:pt x="4432566" y="635939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32566" y="44424"/>
                </a:lnTo>
                <a:close/>
              </a:path>
            </a:pathLst>
          </a:custGeom>
          <a:solidFill>
            <a:srgbClr val="9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51597" y="524991"/>
            <a:ext cx="2106904" cy="507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78460"/>
          </a:xfrm>
          <a:custGeom>
            <a:avLst/>
            <a:gdLst/>
            <a:ahLst/>
            <a:cxnLst/>
            <a:rect l="l" t="t" r="r" b="b"/>
            <a:pathLst>
              <a:path w="4608195" h="378460">
                <a:moveTo>
                  <a:pt x="4608004" y="0"/>
                </a:moveTo>
                <a:lnTo>
                  <a:pt x="0" y="0"/>
                </a:lnTo>
                <a:lnTo>
                  <a:pt x="0" y="378409"/>
                </a:lnTo>
                <a:lnTo>
                  <a:pt x="4608004" y="378409"/>
                </a:lnTo>
                <a:lnTo>
                  <a:pt x="4608004" y="0"/>
                </a:lnTo>
                <a:close/>
              </a:path>
            </a:pathLst>
          </a:custGeom>
          <a:solidFill>
            <a:srgbClr val="9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221" y="88160"/>
            <a:ext cx="320357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144" y="606384"/>
            <a:ext cx="4289425" cy="231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80738" y="3332810"/>
            <a:ext cx="3067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pc="-40" dirty="0"/>
              <a:t>Cranberries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55" dirty="0"/>
              <a:t> </a:t>
            </a:r>
            <a:r>
              <a:rPr dirty="0"/>
              <a:t>Heat</a:t>
            </a:r>
            <a:r>
              <a:rPr spc="-55" dirty="0"/>
              <a:t> </a:t>
            </a:r>
            <a:r>
              <a:rPr spc="-10" dirty="0"/>
              <a:t>Stress</a:t>
            </a: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100" dirty="0"/>
              <a:t>Yield</a:t>
            </a:r>
            <a:r>
              <a:rPr sz="1100" spc="-35" dirty="0"/>
              <a:t> and</a:t>
            </a:r>
            <a:r>
              <a:rPr sz="1100" spc="-30" dirty="0"/>
              <a:t> </a:t>
            </a:r>
            <a:r>
              <a:rPr sz="1100" spc="-40" dirty="0"/>
              <a:t>Temperature</a:t>
            </a:r>
            <a:r>
              <a:rPr sz="1100" spc="-30" dirty="0"/>
              <a:t> </a:t>
            </a:r>
            <a:r>
              <a:rPr sz="1100" spc="-10" dirty="0"/>
              <a:t>Analysis</a:t>
            </a:r>
            <a:endParaRPr sz="1100"/>
          </a:p>
        </p:txBody>
      </p:sp>
      <p:sp>
        <p:nvSpPr>
          <p:cNvPr id="3" name="object 3"/>
          <p:cNvSpPr txBox="1"/>
          <p:nvPr/>
        </p:nvSpPr>
        <p:spPr>
          <a:xfrm>
            <a:off x="1385938" y="1340312"/>
            <a:ext cx="1878330" cy="847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en-US" sz="1000" spc="-20" dirty="0">
                <a:latin typeface="Tahoma"/>
                <a:cs typeface="Tahoma"/>
              </a:rPr>
              <a:t>Group 5</a:t>
            </a:r>
            <a:endParaRPr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000" dirty="0">
              <a:latin typeface="Tahoma"/>
              <a:cs typeface="Tahoma"/>
            </a:endParaRPr>
          </a:p>
          <a:p>
            <a:pPr marL="12700" marR="5080" algn="ctr">
              <a:lnSpc>
                <a:spcPct val="100000"/>
              </a:lnSpc>
            </a:pPr>
            <a:r>
              <a:rPr sz="1000" dirty="0">
                <a:latin typeface="Tahoma"/>
                <a:cs typeface="Tahoma"/>
              </a:rPr>
              <a:t>STAT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628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Data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Science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Practicum </a:t>
            </a:r>
            <a:r>
              <a:rPr sz="1000" spc="-25" dirty="0">
                <a:latin typeface="Tahoma"/>
                <a:cs typeface="Tahoma"/>
              </a:rPr>
              <a:t>Spring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2026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23371" y="2354427"/>
            <a:ext cx="1564005" cy="533400"/>
            <a:chOff x="1523371" y="2354427"/>
            <a:chExt cx="1564005" cy="533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3394" y="2574062"/>
              <a:ext cx="1213361" cy="2404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3371" y="2354427"/>
              <a:ext cx="335565" cy="5333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6746" y="2492517"/>
              <a:ext cx="208938" cy="3202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6278" y="2533798"/>
              <a:ext cx="170045" cy="234121"/>
            </a:xfrm>
            <a:prstGeom prst="rect">
              <a:avLst/>
            </a:prstGeom>
          </p:spPr>
        </p:pic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Yield</a:t>
            </a:r>
            <a:r>
              <a:rPr spc="-50" dirty="0"/>
              <a:t> </a:t>
            </a:r>
            <a:r>
              <a:rPr spc="-30" dirty="0"/>
              <a:t>Analysis:</a:t>
            </a:r>
            <a:r>
              <a:rPr spc="80" dirty="0"/>
              <a:t> </a:t>
            </a:r>
            <a:r>
              <a:rPr spc="-50" dirty="0"/>
              <a:t>Long-</a:t>
            </a:r>
            <a:r>
              <a:rPr spc="-25" dirty="0"/>
              <a:t>Term</a:t>
            </a:r>
            <a:r>
              <a:rPr spc="-50" dirty="0"/>
              <a:t> </a:t>
            </a:r>
            <a:r>
              <a:rPr spc="-20" dirty="0"/>
              <a:t>Experiment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75086" y="66886"/>
            <a:ext cx="133985" cy="216535"/>
            <a:chOff x="4275086" y="66886"/>
            <a:chExt cx="133985" cy="216535"/>
          </a:xfrm>
        </p:grpSpPr>
        <p:sp>
          <p:nvSpPr>
            <p:cNvPr id="4" name="object 4"/>
            <p:cNvSpPr/>
            <p:nvPr/>
          </p:nvSpPr>
          <p:spPr>
            <a:xfrm>
              <a:off x="4275086" y="66886"/>
              <a:ext cx="133985" cy="216535"/>
            </a:xfrm>
            <a:custGeom>
              <a:avLst/>
              <a:gdLst/>
              <a:ahLst/>
              <a:cxnLst/>
              <a:rect l="l" t="t" r="r" b="b"/>
              <a:pathLst>
                <a:path w="133985" h="216535">
                  <a:moveTo>
                    <a:pt x="75562" y="0"/>
                  </a:moveTo>
                  <a:lnTo>
                    <a:pt x="67666" y="472"/>
                  </a:lnTo>
                  <a:lnTo>
                    <a:pt x="66960" y="493"/>
                  </a:lnTo>
                  <a:lnTo>
                    <a:pt x="66258" y="472"/>
                  </a:lnTo>
                  <a:lnTo>
                    <a:pt x="58363" y="1"/>
                  </a:lnTo>
                  <a:lnTo>
                    <a:pt x="55719" y="9490"/>
                  </a:lnTo>
                  <a:lnTo>
                    <a:pt x="54589" y="9358"/>
                  </a:lnTo>
                  <a:lnTo>
                    <a:pt x="52122" y="9290"/>
                  </a:lnTo>
                  <a:lnTo>
                    <a:pt x="48327" y="12045"/>
                  </a:lnTo>
                  <a:lnTo>
                    <a:pt x="47311" y="14028"/>
                  </a:lnTo>
                  <a:lnTo>
                    <a:pt x="46920" y="16653"/>
                  </a:lnTo>
                  <a:lnTo>
                    <a:pt x="44422" y="16169"/>
                  </a:lnTo>
                  <a:lnTo>
                    <a:pt x="9548" y="40726"/>
                  </a:lnTo>
                  <a:lnTo>
                    <a:pt x="0" y="92324"/>
                  </a:lnTo>
                  <a:lnTo>
                    <a:pt x="105" y="98726"/>
                  </a:lnTo>
                  <a:lnTo>
                    <a:pt x="9308" y="152251"/>
                  </a:lnTo>
                  <a:lnTo>
                    <a:pt x="40505" y="199970"/>
                  </a:lnTo>
                  <a:lnTo>
                    <a:pt x="62432" y="211719"/>
                  </a:lnTo>
                  <a:lnTo>
                    <a:pt x="63840" y="214087"/>
                  </a:lnTo>
                  <a:lnTo>
                    <a:pt x="65591" y="215787"/>
                  </a:lnTo>
                  <a:lnTo>
                    <a:pt x="66961" y="216170"/>
                  </a:lnTo>
                  <a:lnTo>
                    <a:pt x="68330" y="215787"/>
                  </a:lnTo>
                  <a:lnTo>
                    <a:pt x="70078" y="214087"/>
                  </a:lnTo>
                  <a:lnTo>
                    <a:pt x="71485" y="211720"/>
                  </a:lnTo>
                  <a:lnTo>
                    <a:pt x="93417" y="199973"/>
                  </a:lnTo>
                  <a:lnTo>
                    <a:pt x="124622" y="152252"/>
                  </a:lnTo>
                  <a:lnTo>
                    <a:pt x="132975" y="111963"/>
                  </a:lnTo>
                  <a:lnTo>
                    <a:pt x="133933" y="92326"/>
                  </a:lnTo>
                  <a:lnTo>
                    <a:pt x="132846" y="72820"/>
                  </a:lnTo>
                  <a:lnTo>
                    <a:pt x="117161" y="29048"/>
                  </a:lnTo>
                  <a:lnTo>
                    <a:pt x="91934" y="16070"/>
                  </a:lnTo>
                  <a:lnTo>
                    <a:pt x="89151" y="16183"/>
                  </a:lnTo>
                  <a:lnTo>
                    <a:pt x="86501" y="16764"/>
                  </a:lnTo>
                  <a:lnTo>
                    <a:pt x="86102" y="14047"/>
                  </a:lnTo>
                  <a:lnTo>
                    <a:pt x="85078" y="12012"/>
                  </a:lnTo>
                  <a:lnTo>
                    <a:pt x="81438" y="9365"/>
                  </a:lnTo>
                  <a:lnTo>
                    <a:pt x="79249" y="9389"/>
                  </a:lnTo>
                  <a:lnTo>
                    <a:pt x="78205" y="9498"/>
                  </a:lnTo>
                  <a:lnTo>
                    <a:pt x="75562" y="0"/>
                  </a:lnTo>
                  <a:close/>
                </a:path>
              </a:pathLst>
            </a:custGeom>
            <a:solidFill>
              <a:srgbClr val="A98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01711" y="126161"/>
              <a:ext cx="81280" cy="127635"/>
            </a:xfrm>
            <a:custGeom>
              <a:avLst/>
              <a:gdLst/>
              <a:ahLst/>
              <a:cxnLst/>
              <a:rect l="l" t="t" r="r" b="b"/>
              <a:pathLst>
                <a:path w="81279" h="127635">
                  <a:moveTo>
                    <a:pt x="56730" y="0"/>
                  </a:moveTo>
                  <a:lnTo>
                    <a:pt x="47922" y="2286"/>
                  </a:lnTo>
                  <a:lnTo>
                    <a:pt x="43508" y="2990"/>
                  </a:lnTo>
                  <a:lnTo>
                    <a:pt x="40350" y="3075"/>
                  </a:lnTo>
                  <a:lnTo>
                    <a:pt x="36960" y="2984"/>
                  </a:lnTo>
                  <a:lnTo>
                    <a:pt x="32581" y="2243"/>
                  </a:lnTo>
                  <a:lnTo>
                    <a:pt x="23947" y="1"/>
                  </a:lnTo>
                  <a:lnTo>
                    <a:pt x="18883" y="1599"/>
                  </a:lnTo>
                  <a:lnTo>
                    <a:pt x="524" y="35285"/>
                  </a:lnTo>
                  <a:lnTo>
                    <a:pt x="0" y="44781"/>
                  </a:lnTo>
                  <a:lnTo>
                    <a:pt x="0" y="47065"/>
                  </a:lnTo>
                  <a:lnTo>
                    <a:pt x="7745" y="84974"/>
                  </a:lnTo>
                  <a:lnTo>
                    <a:pt x="33318" y="122090"/>
                  </a:lnTo>
                  <a:lnTo>
                    <a:pt x="40357" y="127353"/>
                  </a:lnTo>
                  <a:lnTo>
                    <a:pt x="47391" y="122089"/>
                  </a:lnTo>
                  <a:lnTo>
                    <a:pt x="72941" y="84976"/>
                  </a:lnTo>
                  <a:lnTo>
                    <a:pt x="80707" y="46307"/>
                  </a:lnTo>
                  <a:lnTo>
                    <a:pt x="80707" y="44260"/>
                  </a:lnTo>
                  <a:lnTo>
                    <a:pt x="66286" y="5320"/>
                  </a:lnTo>
                  <a:lnTo>
                    <a:pt x="56730" y="0"/>
                  </a:lnTo>
                  <a:close/>
                </a:path>
              </a:pathLst>
            </a:custGeom>
            <a:solidFill>
              <a:srgbClr val="CD15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1948" y="98740"/>
              <a:ext cx="6317" cy="162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0290" y="72987"/>
              <a:ext cx="103519" cy="448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5606" y="162832"/>
              <a:ext cx="20230" cy="567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8639" y="162832"/>
              <a:ext cx="20228" cy="567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6935" y="266463"/>
              <a:ext cx="10483" cy="149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75192" y="67095"/>
              <a:ext cx="133721" cy="2158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25844" y="674024"/>
            <a:ext cx="23844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No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significant</a:t>
            </a:r>
            <a:r>
              <a:rPr sz="1200" b="1" spc="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heat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effect</a:t>
            </a:r>
            <a:r>
              <a:rPr sz="1200" b="1" spc="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on</a:t>
            </a:r>
            <a:r>
              <a:rPr sz="1200" b="1" spc="25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yield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3513" y="1368080"/>
            <a:ext cx="2202180" cy="1137920"/>
            <a:chOff x="413513" y="1368080"/>
            <a:chExt cx="2202180" cy="1137920"/>
          </a:xfrm>
        </p:grpSpPr>
        <p:sp>
          <p:nvSpPr>
            <p:cNvPr id="14" name="object 14"/>
            <p:cNvSpPr/>
            <p:nvPr/>
          </p:nvSpPr>
          <p:spPr>
            <a:xfrm>
              <a:off x="413513" y="1528387"/>
              <a:ext cx="1083945" cy="707390"/>
            </a:xfrm>
            <a:custGeom>
              <a:avLst/>
              <a:gdLst/>
              <a:ahLst/>
              <a:cxnLst/>
              <a:rect l="l" t="t" r="r" b="b"/>
              <a:pathLst>
                <a:path w="1083945" h="707389">
                  <a:moveTo>
                    <a:pt x="0" y="706906"/>
                  </a:moveTo>
                  <a:lnTo>
                    <a:pt x="1083690" y="706906"/>
                  </a:lnTo>
                </a:path>
                <a:path w="1083945" h="707389">
                  <a:moveTo>
                    <a:pt x="0" y="353453"/>
                  </a:moveTo>
                  <a:lnTo>
                    <a:pt x="1083690" y="353453"/>
                  </a:lnTo>
                </a:path>
                <a:path w="1083945" h="707389">
                  <a:moveTo>
                    <a:pt x="0" y="0"/>
                  </a:moveTo>
                  <a:lnTo>
                    <a:pt x="1083690" y="0"/>
                  </a:lnTo>
                </a:path>
              </a:pathLst>
            </a:custGeom>
            <a:ln w="340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3513" y="1368080"/>
              <a:ext cx="1083945" cy="1137920"/>
            </a:xfrm>
            <a:custGeom>
              <a:avLst/>
              <a:gdLst/>
              <a:ahLst/>
              <a:cxnLst/>
              <a:rect l="l" t="t" r="r" b="b"/>
              <a:pathLst>
                <a:path w="1083945" h="1137920">
                  <a:moveTo>
                    <a:pt x="0" y="1043918"/>
                  </a:moveTo>
                  <a:lnTo>
                    <a:pt x="1083690" y="1043918"/>
                  </a:lnTo>
                </a:path>
                <a:path w="1083945" h="1137920">
                  <a:moveTo>
                    <a:pt x="0" y="690465"/>
                  </a:moveTo>
                  <a:lnTo>
                    <a:pt x="1083690" y="690465"/>
                  </a:lnTo>
                </a:path>
                <a:path w="1083945" h="1137920">
                  <a:moveTo>
                    <a:pt x="0" y="337012"/>
                  </a:moveTo>
                  <a:lnTo>
                    <a:pt x="1083690" y="337012"/>
                  </a:lnTo>
                </a:path>
                <a:path w="1083945" h="1137920">
                  <a:moveTo>
                    <a:pt x="295539" y="1137896"/>
                  </a:moveTo>
                  <a:lnTo>
                    <a:pt x="295539" y="0"/>
                  </a:lnTo>
                </a:path>
                <a:path w="1083945" h="1137920">
                  <a:moveTo>
                    <a:pt x="788150" y="1137896"/>
                  </a:moveTo>
                  <a:lnTo>
                    <a:pt x="788150" y="0"/>
                  </a:lnTo>
                </a:path>
              </a:pathLst>
            </a:custGeom>
            <a:ln w="6759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7366" y="141622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4">
                  <a:moveTo>
                    <a:pt x="18141" y="0"/>
                  </a:moveTo>
                  <a:lnTo>
                    <a:pt x="5276" y="0"/>
                  </a:lnTo>
                  <a:lnTo>
                    <a:pt x="0" y="5276"/>
                  </a:lnTo>
                  <a:lnTo>
                    <a:pt x="0" y="11687"/>
                  </a:lnTo>
                  <a:lnTo>
                    <a:pt x="0" y="18141"/>
                  </a:lnTo>
                  <a:lnTo>
                    <a:pt x="5276" y="23374"/>
                  </a:lnTo>
                  <a:lnTo>
                    <a:pt x="18141" y="23374"/>
                  </a:lnTo>
                  <a:lnTo>
                    <a:pt x="23374" y="18141"/>
                  </a:lnTo>
                  <a:lnTo>
                    <a:pt x="23374" y="5276"/>
                  </a:lnTo>
                  <a:lnTo>
                    <a:pt x="18141" y="0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7366" y="141622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4">
                  <a:moveTo>
                    <a:pt x="0" y="11687"/>
                  </a:moveTo>
                  <a:lnTo>
                    <a:pt x="0" y="5276"/>
                  </a:lnTo>
                  <a:lnTo>
                    <a:pt x="5276" y="0"/>
                  </a:lnTo>
                  <a:lnTo>
                    <a:pt x="11687" y="0"/>
                  </a:lnTo>
                  <a:lnTo>
                    <a:pt x="18141" y="0"/>
                  </a:lnTo>
                  <a:lnTo>
                    <a:pt x="23374" y="5276"/>
                  </a:lnTo>
                  <a:lnTo>
                    <a:pt x="23374" y="11687"/>
                  </a:lnTo>
                  <a:lnTo>
                    <a:pt x="23374" y="18141"/>
                  </a:lnTo>
                  <a:lnTo>
                    <a:pt x="18141" y="23374"/>
                  </a:lnTo>
                  <a:lnTo>
                    <a:pt x="11687" y="23374"/>
                  </a:lnTo>
                  <a:lnTo>
                    <a:pt x="5276" y="23374"/>
                  </a:lnTo>
                  <a:lnTo>
                    <a:pt x="0" y="18141"/>
                  </a:lnTo>
                  <a:lnTo>
                    <a:pt x="0" y="11687"/>
                  </a:lnTo>
                </a:path>
              </a:pathLst>
            </a:custGeom>
            <a:ln w="317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5673" y="1734550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4" h="6985">
                  <a:moveTo>
                    <a:pt x="0" y="3379"/>
                  </a:moveTo>
                  <a:lnTo>
                    <a:pt x="989" y="989"/>
                  </a:lnTo>
                  <a:lnTo>
                    <a:pt x="3379" y="0"/>
                  </a:lnTo>
                  <a:lnTo>
                    <a:pt x="5769" y="989"/>
                  </a:lnTo>
                  <a:lnTo>
                    <a:pt x="6759" y="3379"/>
                  </a:lnTo>
                  <a:lnTo>
                    <a:pt x="5769" y="5769"/>
                  </a:lnTo>
                  <a:lnTo>
                    <a:pt x="3379" y="6759"/>
                  </a:lnTo>
                  <a:lnTo>
                    <a:pt x="989" y="5769"/>
                  </a:lnTo>
                  <a:lnTo>
                    <a:pt x="0" y="3379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9053" y="1887902"/>
              <a:ext cx="0" cy="76835"/>
            </a:xfrm>
            <a:custGeom>
              <a:avLst/>
              <a:gdLst/>
              <a:ahLst/>
              <a:cxnLst/>
              <a:rect l="l" t="t" r="r" b="b"/>
              <a:pathLst>
                <a:path h="76835">
                  <a:moveTo>
                    <a:pt x="0" y="0"/>
                  </a:moveTo>
                  <a:lnTo>
                    <a:pt x="0" y="76752"/>
                  </a:lnTo>
                </a:path>
              </a:pathLst>
            </a:custGeom>
            <a:ln w="675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5900" y="1737930"/>
              <a:ext cx="246379" cy="150495"/>
            </a:xfrm>
            <a:custGeom>
              <a:avLst/>
              <a:gdLst/>
              <a:ahLst/>
              <a:cxnLst/>
              <a:rect l="l" t="t" r="r" b="b"/>
              <a:pathLst>
                <a:path w="246380" h="150494">
                  <a:moveTo>
                    <a:pt x="246305" y="0"/>
                  </a:moveTo>
                  <a:lnTo>
                    <a:pt x="0" y="0"/>
                  </a:lnTo>
                  <a:lnTo>
                    <a:pt x="0" y="149972"/>
                  </a:lnTo>
                  <a:lnTo>
                    <a:pt x="246305" y="149972"/>
                  </a:lnTo>
                  <a:lnTo>
                    <a:pt x="246305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5900" y="1737930"/>
              <a:ext cx="246379" cy="150495"/>
            </a:xfrm>
            <a:custGeom>
              <a:avLst/>
              <a:gdLst/>
              <a:ahLst/>
              <a:cxnLst/>
              <a:rect l="l" t="t" r="r" b="b"/>
              <a:pathLst>
                <a:path w="246380" h="150494">
                  <a:moveTo>
                    <a:pt x="0" y="0"/>
                  </a:moveTo>
                  <a:lnTo>
                    <a:pt x="0" y="149972"/>
                  </a:lnTo>
                  <a:lnTo>
                    <a:pt x="246305" y="149972"/>
                  </a:lnTo>
                  <a:lnTo>
                    <a:pt x="246305" y="0"/>
                  </a:lnTo>
                  <a:lnTo>
                    <a:pt x="0" y="0"/>
                  </a:lnTo>
                  <a:close/>
                </a:path>
              </a:pathLst>
            </a:custGeom>
            <a:ln w="675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5900" y="1845034"/>
              <a:ext cx="246379" cy="13970"/>
            </a:xfrm>
            <a:custGeom>
              <a:avLst/>
              <a:gdLst/>
              <a:ahLst/>
              <a:cxnLst/>
              <a:rect l="l" t="t" r="r" b="b"/>
              <a:pathLst>
                <a:path w="246380" h="13969">
                  <a:moveTo>
                    <a:pt x="0" y="13518"/>
                  </a:moveTo>
                  <a:lnTo>
                    <a:pt x="246305" y="13518"/>
                  </a:lnTo>
                  <a:lnTo>
                    <a:pt x="246305" y="0"/>
                  </a:lnTo>
                  <a:lnTo>
                    <a:pt x="0" y="0"/>
                  </a:lnTo>
                  <a:lnTo>
                    <a:pt x="0" y="13518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01663" y="1766145"/>
              <a:ext cx="0" cy="480695"/>
            </a:xfrm>
            <a:custGeom>
              <a:avLst/>
              <a:gdLst/>
              <a:ahLst/>
              <a:cxnLst/>
              <a:rect l="l" t="t" r="r" b="b"/>
              <a:pathLst>
                <a:path h="480694">
                  <a:moveTo>
                    <a:pt x="0" y="103266"/>
                  </a:moveTo>
                  <a:lnTo>
                    <a:pt x="0" y="0"/>
                  </a:lnTo>
                </a:path>
                <a:path h="480694">
                  <a:moveTo>
                    <a:pt x="0" y="347740"/>
                  </a:moveTo>
                  <a:lnTo>
                    <a:pt x="0" y="480399"/>
                  </a:lnTo>
                </a:path>
              </a:pathLst>
            </a:custGeom>
            <a:ln w="675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78511" y="1869412"/>
              <a:ext cx="246379" cy="244475"/>
            </a:xfrm>
            <a:custGeom>
              <a:avLst/>
              <a:gdLst/>
              <a:ahLst/>
              <a:cxnLst/>
              <a:rect l="l" t="t" r="r" b="b"/>
              <a:pathLst>
                <a:path w="246380" h="244475">
                  <a:moveTo>
                    <a:pt x="246305" y="0"/>
                  </a:moveTo>
                  <a:lnTo>
                    <a:pt x="0" y="0"/>
                  </a:lnTo>
                  <a:lnTo>
                    <a:pt x="0" y="244473"/>
                  </a:lnTo>
                  <a:lnTo>
                    <a:pt x="246305" y="244473"/>
                  </a:lnTo>
                  <a:lnTo>
                    <a:pt x="246305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78511" y="1869412"/>
              <a:ext cx="246379" cy="244475"/>
            </a:xfrm>
            <a:custGeom>
              <a:avLst/>
              <a:gdLst/>
              <a:ahLst/>
              <a:cxnLst/>
              <a:rect l="l" t="t" r="r" b="b"/>
              <a:pathLst>
                <a:path w="246380" h="244475">
                  <a:moveTo>
                    <a:pt x="0" y="0"/>
                  </a:moveTo>
                  <a:lnTo>
                    <a:pt x="0" y="244473"/>
                  </a:lnTo>
                  <a:lnTo>
                    <a:pt x="246305" y="244473"/>
                  </a:lnTo>
                  <a:lnTo>
                    <a:pt x="246305" y="0"/>
                  </a:lnTo>
                  <a:lnTo>
                    <a:pt x="0" y="0"/>
                  </a:lnTo>
                  <a:close/>
                </a:path>
              </a:pathLst>
            </a:custGeom>
            <a:ln w="675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78510" y="1980005"/>
              <a:ext cx="246379" cy="13970"/>
            </a:xfrm>
            <a:custGeom>
              <a:avLst/>
              <a:gdLst/>
              <a:ahLst/>
              <a:cxnLst/>
              <a:rect l="l" t="t" r="r" b="b"/>
              <a:pathLst>
                <a:path w="246380" h="13969">
                  <a:moveTo>
                    <a:pt x="0" y="13518"/>
                  </a:moveTo>
                  <a:lnTo>
                    <a:pt x="246305" y="13518"/>
                  </a:lnTo>
                  <a:lnTo>
                    <a:pt x="246305" y="0"/>
                  </a:lnTo>
                  <a:lnTo>
                    <a:pt x="0" y="0"/>
                  </a:lnTo>
                  <a:lnTo>
                    <a:pt x="0" y="13518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10429" y="189509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25118" y="0"/>
                  </a:moveTo>
                  <a:lnTo>
                    <a:pt x="7282" y="0"/>
                  </a:lnTo>
                  <a:lnTo>
                    <a:pt x="0" y="7282"/>
                  </a:lnTo>
                  <a:lnTo>
                    <a:pt x="0" y="16179"/>
                  </a:lnTo>
                  <a:lnTo>
                    <a:pt x="0" y="25118"/>
                  </a:lnTo>
                  <a:lnTo>
                    <a:pt x="7282" y="32401"/>
                  </a:lnTo>
                  <a:lnTo>
                    <a:pt x="25118" y="32401"/>
                  </a:lnTo>
                  <a:lnTo>
                    <a:pt x="32401" y="25118"/>
                  </a:lnTo>
                  <a:lnTo>
                    <a:pt x="32401" y="7282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10429" y="189509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0" y="16179"/>
                  </a:moveTo>
                  <a:lnTo>
                    <a:pt x="0" y="7282"/>
                  </a:lnTo>
                  <a:lnTo>
                    <a:pt x="7282" y="0"/>
                  </a:lnTo>
                  <a:lnTo>
                    <a:pt x="16179" y="0"/>
                  </a:lnTo>
                  <a:lnTo>
                    <a:pt x="25118" y="0"/>
                  </a:lnTo>
                  <a:lnTo>
                    <a:pt x="32401" y="7282"/>
                  </a:lnTo>
                  <a:lnTo>
                    <a:pt x="32401" y="16179"/>
                  </a:lnTo>
                  <a:lnTo>
                    <a:pt x="32401" y="25118"/>
                  </a:lnTo>
                  <a:lnTo>
                    <a:pt x="25118" y="32401"/>
                  </a:lnTo>
                  <a:lnTo>
                    <a:pt x="16179" y="32401"/>
                  </a:lnTo>
                  <a:lnTo>
                    <a:pt x="7282" y="32401"/>
                  </a:lnTo>
                  <a:lnTo>
                    <a:pt x="0" y="25118"/>
                  </a:lnTo>
                  <a:lnTo>
                    <a:pt x="0" y="16179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1988" y="183945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19">
                  <a:moveTo>
                    <a:pt x="25118" y="0"/>
                  </a:moveTo>
                  <a:lnTo>
                    <a:pt x="7282" y="0"/>
                  </a:lnTo>
                  <a:lnTo>
                    <a:pt x="0" y="7282"/>
                  </a:lnTo>
                  <a:lnTo>
                    <a:pt x="0" y="16179"/>
                  </a:lnTo>
                  <a:lnTo>
                    <a:pt x="0" y="25118"/>
                  </a:lnTo>
                  <a:lnTo>
                    <a:pt x="7282" y="32401"/>
                  </a:lnTo>
                  <a:lnTo>
                    <a:pt x="25118" y="32401"/>
                  </a:lnTo>
                  <a:lnTo>
                    <a:pt x="32401" y="25118"/>
                  </a:lnTo>
                  <a:lnTo>
                    <a:pt x="32401" y="7282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1988" y="183945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19">
                  <a:moveTo>
                    <a:pt x="0" y="16179"/>
                  </a:moveTo>
                  <a:lnTo>
                    <a:pt x="0" y="7282"/>
                  </a:lnTo>
                  <a:lnTo>
                    <a:pt x="7282" y="0"/>
                  </a:lnTo>
                  <a:lnTo>
                    <a:pt x="16179" y="0"/>
                  </a:lnTo>
                  <a:lnTo>
                    <a:pt x="25118" y="0"/>
                  </a:lnTo>
                  <a:lnTo>
                    <a:pt x="32401" y="7282"/>
                  </a:lnTo>
                  <a:lnTo>
                    <a:pt x="32401" y="16179"/>
                  </a:lnTo>
                  <a:lnTo>
                    <a:pt x="32401" y="25118"/>
                  </a:lnTo>
                  <a:lnTo>
                    <a:pt x="25118" y="32401"/>
                  </a:lnTo>
                  <a:lnTo>
                    <a:pt x="16179" y="32401"/>
                  </a:lnTo>
                  <a:lnTo>
                    <a:pt x="7282" y="32401"/>
                  </a:lnTo>
                  <a:lnTo>
                    <a:pt x="0" y="25118"/>
                  </a:lnTo>
                  <a:lnTo>
                    <a:pt x="0" y="16179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0478" y="140357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19">
                  <a:moveTo>
                    <a:pt x="25118" y="0"/>
                  </a:moveTo>
                  <a:lnTo>
                    <a:pt x="7326" y="0"/>
                  </a:lnTo>
                  <a:lnTo>
                    <a:pt x="0" y="7326"/>
                  </a:lnTo>
                  <a:lnTo>
                    <a:pt x="0" y="16222"/>
                  </a:lnTo>
                  <a:lnTo>
                    <a:pt x="0" y="25118"/>
                  </a:lnTo>
                  <a:lnTo>
                    <a:pt x="7326" y="32445"/>
                  </a:lnTo>
                  <a:lnTo>
                    <a:pt x="25118" y="32445"/>
                  </a:lnTo>
                  <a:lnTo>
                    <a:pt x="32445" y="25118"/>
                  </a:lnTo>
                  <a:lnTo>
                    <a:pt x="32445" y="7326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0478" y="140357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19">
                  <a:moveTo>
                    <a:pt x="0" y="16222"/>
                  </a:moveTo>
                  <a:lnTo>
                    <a:pt x="0" y="7326"/>
                  </a:lnTo>
                  <a:lnTo>
                    <a:pt x="7326" y="0"/>
                  </a:lnTo>
                  <a:lnTo>
                    <a:pt x="16222" y="0"/>
                  </a:lnTo>
                  <a:lnTo>
                    <a:pt x="25118" y="0"/>
                  </a:lnTo>
                  <a:lnTo>
                    <a:pt x="32445" y="7326"/>
                  </a:lnTo>
                  <a:lnTo>
                    <a:pt x="32445" y="16222"/>
                  </a:lnTo>
                  <a:lnTo>
                    <a:pt x="32445" y="25118"/>
                  </a:lnTo>
                  <a:lnTo>
                    <a:pt x="25118" y="32445"/>
                  </a:lnTo>
                  <a:lnTo>
                    <a:pt x="16222" y="32445"/>
                  </a:lnTo>
                  <a:lnTo>
                    <a:pt x="7326" y="32445"/>
                  </a:lnTo>
                  <a:lnTo>
                    <a:pt x="0" y="25118"/>
                  </a:lnTo>
                  <a:lnTo>
                    <a:pt x="0" y="16222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4299" y="1819915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19">
                  <a:moveTo>
                    <a:pt x="25118" y="0"/>
                  </a:moveTo>
                  <a:lnTo>
                    <a:pt x="7282" y="0"/>
                  </a:lnTo>
                  <a:lnTo>
                    <a:pt x="0" y="7326"/>
                  </a:lnTo>
                  <a:lnTo>
                    <a:pt x="0" y="16222"/>
                  </a:lnTo>
                  <a:lnTo>
                    <a:pt x="0" y="25118"/>
                  </a:lnTo>
                  <a:lnTo>
                    <a:pt x="7282" y="32445"/>
                  </a:lnTo>
                  <a:lnTo>
                    <a:pt x="25118" y="32445"/>
                  </a:lnTo>
                  <a:lnTo>
                    <a:pt x="32401" y="25118"/>
                  </a:lnTo>
                  <a:lnTo>
                    <a:pt x="32401" y="7326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4299" y="1819915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19">
                  <a:moveTo>
                    <a:pt x="0" y="16222"/>
                  </a:moveTo>
                  <a:lnTo>
                    <a:pt x="0" y="7326"/>
                  </a:lnTo>
                  <a:lnTo>
                    <a:pt x="7282" y="0"/>
                  </a:lnTo>
                  <a:lnTo>
                    <a:pt x="16222" y="0"/>
                  </a:lnTo>
                  <a:lnTo>
                    <a:pt x="25118" y="0"/>
                  </a:lnTo>
                  <a:lnTo>
                    <a:pt x="32401" y="7326"/>
                  </a:lnTo>
                  <a:lnTo>
                    <a:pt x="32401" y="16222"/>
                  </a:lnTo>
                  <a:lnTo>
                    <a:pt x="32401" y="25118"/>
                  </a:lnTo>
                  <a:lnTo>
                    <a:pt x="25118" y="32445"/>
                  </a:lnTo>
                  <a:lnTo>
                    <a:pt x="16222" y="32445"/>
                  </a:lnTo>
                  <a:lnTo>
                    <a:pt x="7282" y="32445"/>
                  </a:lnTo>
                  <a:lnTo>
                    <a:pt x="0" y="25118"/>
                  </a:lnTo>
                  <a:lnTo>
                    <a:pt x="0" y="16222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8878" y="195641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19">
                  <a:moveTo>
                    <a:pt x="25118" y="0"/>
                  </a:moveTo>
                  <a:lnTo>
                    <a:pt x="7282" y="0"/>
                  </a:lnTo>
                  <a:lnTo>
                    <a:pt x="0" y="7282"/>
                  </a:lnTo>
                  <a:lnTo>
                    <a:pt x="0" y="16222"/>
                  </a:lnTo>
                  <a:lnTo>
                    <a:pt x="0" y="25118"/>
                  </a:lnTo>
                  <a:lnTo>
                    <a:pt x="7282" y="32401"/>
                  </a:lnTo>
                  <a:lnTo>
                    <a:pt x="25118" y="32401"/>
                  </a:lnTo>
                  <a:lnTo>
                    <a:pt x="32401" y="25118"/>
                  </a:lnTo>
                  <a:lnTo>
                    <a:pt x="32401" y="7282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8878" y="195641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19">
                  <a:moveTo>
                    <a:pt x="0" y="16222"/>
                  </a:moveTo>
                  <a:lnTo>
                    <a:pt x="0" y="7282"/>
                  </a:lnTo>
                  <a:lnTo>
                    <a:pt x="7282" y="0"/>
                  </a:lnTo>
                  <a:lnTo>
                    <a:pt x="16179" y="0"/>
                  </a:lnTo>
                  <a:lnTo>
                    <a:pt x="25118" y="0"/>
                  </a:lnTo>
                  <a:lnTo>
                    <a:pt x="32401" y="7282"/>
                  </a:lnTo>
                  <a:lnTo>
                    <a:pt x="32401" y="16222"/>
                  </a:lnTo>
                  <a:lnTo>
                    <a:pt x="32401" y="25118"/>
                  </a:lnTo>
                  <a:lnTo>
                    <a:pt x="25118" y="32401"/>
                  </a:lnTo>
                  <a:lnTo>
                    <a:pt x="16179" y="32401"/>
                  </a:lnTo>
                  <a:lnTo>
                    <a:pt x="7282" y="32401"/>
                  </a:lnTo>
                  <a:lnTo>
                    <a:pt x="0" y="25118"/>
                  </a:lnTo>
                  <a:lnTo>
                    <a:pt x="0" y="16222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74451" y="2230496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25118" y="0"/>
                  </a:moveTo>
                  <a:lnTo>
                    <a:pt x="7282" y="0"/>
                  </a:lnTo>
                  <a:lnTo>
                    <a:pt x="0" y="7282"/>
                  </a:lnTo>
                  <a:lnTo>
                    <a:pt x="0" y="16179"/>
                  </a:lnTo>
                  <a:lnTo>
                    <a:pt x="0" y="25118"/>
                  </a:lnTo>
                  <a:lnTo>
                    <a:pt x="7282" y="32401"/>
                  </a:lnTo>
                  <a:lnTo>
                    <a:pt x="25118" y="32401"/>
                  </a:lnTo>
                  <a:lnTo>
                    <a:pt x="32401" y="25118"/>
                  </a:lnTo>
                  <a:lnTo>
                    <a:pt x="32401" y="7282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74451" y="2230496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0" y="16179"/>
                  </a:moveTo>
                  <a:lnTo>
                    <a:pt x="0" y="7282"/>
                  </a:lnTo>
                  <a:lnTo>
                    <a:pt x="7282" y="0"/>
                  </a:lnTo>
                  <a:lnTo>
                    <a:pt x="16179" y="0"/>
                  </a:lnTo>
                  <a:lnTo>
                    <a:pt x="25118" y="0"/>
                  </a:lnTo>
                  <a:lnTo>
                    <a:pt x="32401" y="7282"/>
                  </a:lnTo>
                  <a:lnTo>
                    <a:pt x="32401" y="16179"/>
                  </a:lnTo>
                  <a:lnTo>
                    <a:pt x="32401" y="25118"/>
                  </a:lnTo>
                  <a:lnTo>
                    <a:pt x="25118" y="32401"/>
                  </a:lnTo>
                  <a:lnTo>
                    <a:pt x="16179" y="32401"/>
                  </a:lnTo>
                  <a:lnTo>
                    <a:pt x="7282" y="32401"/>
                  </a:lnTo>
                  <a:lnTo>
                    <a:pt x="0" y="25118"/>
                  </a:lnTo>
                  <a:lnTo>
                    <a:pt x="0" y="16179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47980" y="2048471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25118" y="0"/>
                  </a:moveTo>
                  <a:lnTo>
                    <a:pt x="7282" y="0"/>
                  </a:lnTo>
                  <a:lnTo>
                    <a:pt x="0" y="7282"/>
                  </a:lnTo>
                  <a:lnTo>
                    <a:pt x="0" y="16222"/>
                  </a:lnTo>
                  <a:lnTo>
                    <a:pt x="0" y="25118"/>
                  </a:lnTo>
                  <a:lnTo>
                    <a:pt x="7282" y="32401"/>
                  </a:lnTo>
                  <a:lnTo>
                    <a:pt x="25118" y="32401"/>
                  </a:lnTo>
                  <a:lnTo>
                    <a:pt x="32401" y="25118"/>
                  </a:lnTo>
                  <a:lnTo>
                    <a:pt x="32401" y="7282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47980" y="2048471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0" y="16222"/>
                  </a:moveTo>
                  <a:lnTo>
                    <a:pt x="0" y="7282"/>
                  </a:lnTo>
                  <a:lnTo>
                    <a:pt x="7282" y="0"/>
                  </a:lnTo>
                  <a:lnTo>
                    <a:pt x="16179" y="0"/>
                  </a:lnTo>
                  <a:lnTo>
                    <a:pt x="25118" y="0"/>
                  </a:lnTo>
                  <a:lnTo>
                    <a:pt x="32401" y="7282"/>
                  </a:lnTo>
                  <a:lnTo>
                    <a:pt x="32401" y="16222"/>
                  </a:lnTo>
                  <a:lnTo>
                    <a:pt x="32401" y="25118"/>
                  </a:lnTo>
                  <a:lnTo>
                    <a:pt x="25118" y="32401"/>
                  </a:lnTo>
                  <a:lnTo>
                    <a:pt x="16179" y="32401"/>
                  </a:lnTo>
                  <a:lnTo>
                    <a:pt x="7282" y="32401"/>
                  </a:lnTo>
                  <a:lnTo>
                    <a:pt x="0" y="25118"/>
                  </a:lnTo>
                  <a:lnTo>
                    <a:pt x="0" y="16222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64246" y="1752801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25118" y="0"/>
                  </a:moveTo>
                  <a:lnTo>
                    <a:pt x="7282" y="0"/>
                  </a:lnTo>
                  <a:lnTo>
                    <a:pt x="0" y="7326"/>
                  </a:lnTo>
                  <a:lnTo>
                    <a:pt x="0" y="16222"/>
                  </a:lnTo>
                  <a:lnTo>
                    <a:pt x="0" y="25118"/>
                  </a:lnTo>
                  <a:lnTo>
                    <a:pt x="7282" y="32445"/>
                  </a:lnTo>
                  <a:lnTo>
                    <a:pt x="25118" y="32445"/>
                  </a:lnTo>
                  <a:lnTo>
                    <a:pt x="32401" y="25118"/>
                  </a:lnTo>
                  <a:lnTo>
                    <a:pt x="32401" y="7326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164246" y="1752801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0" y="16222"/>
                  </a:moveTo>
                  <a:lnTo>
                    <a:pt x="0" y="7326"/>
                  </a:lnTo>
                  <a:lnTo>
                    <a:pt x="7282" y="0"/>
                  </a:lnTo>
                  <a:lnTo>
                    <a:pt x="16179" y="0"/>
                  </a:lnTo>
                  <a:lnTo>
                    <a:pt x="25118" y="0"/>
                  </a:lnTo>
                  <a:lnTo>
                    <a:pt x="32401" y="7326"/>
                  </a:lnTo>
                  <a:lnTo>
                    <a:pt x="32401" y="16222"/>
                  </a:lnTo>
                  <a:lnTo>
                    <a:pt x="32401" y="25118"/>
                  </a:lnTo>
                  <a:lnTo>
                    <a:pt x="25118" y="32445"/>
                  </a:lnTo>
                  <a:lnTo>
                    <a:pt x="16179" y="32445"/>
                  </a:lnTo>
                  <a:lnTo>
                    <a:pt x="7282" y="32445"/>
                  </a:lnTo>
                  <a:lnTo>
                    <a:pt x="0" y="25118"/>
                  </a:lnTo>
                  <a:lnTo>
                    <a:pt x="0" y="16222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31960" y="1528387"/>
              <a:ext cx="1083945" cy="707390"/>
            </a:xfrm>
            <a:custGeom>
              <a:avLst/>
              <a:gdLst/>
              <a:ahLst/>
              <a:cxnLst/>
              <a:rect l="l" t="t" r="r" b="b"/>
              <a:pathLst>
                <a:path w="1083945" h="707389">
                  <a:moveTo>
                    <a:pt x="0" y="706906"/>
                  </a:moveTo>
                  <a:lnTo>
                    <a:pt x="1083733" y="706906"/>
                  </a:lnTo>
                </a:path>
                <a:path w="1083945" h="707389">
                  <a:moveTo>
                    <a:pt x="0" y="353453"/>
                  </a:moveTo>
                  <a:lnTo>
                    <a:pt x="1083733" y="353453"/>
                  </a:lnTo>
                </a:path>
                <a:path w="1083945" h="707389">
                  <a:moveTo>
                    <a:pt x="0" y="0"/>
                  </a:moveTo>
                  <a:lnTo>
                    <a:pt x="1083733" y="0"/>
                  </a:lnTo>
                </a:path>
              </a:pathLst>
            </a:custGeom>
            <a:ln w="340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31960" y="1368080"/>
              <a:ext cx="1083945" cy="1137920"/>
            </a:xfrm>
            <a:custGeom>
              <a:avLst/>
              <a:gdLst/>
              <a:ahLst/>
              <a:cxnLst/>
              <a:rect l="l" t="t" r="r" b="b"/>
              <a:pathLst>
                <a:path w="1083945" h="1137920">
                  <a:moveTo>
                    <a:pt x="0" y="1043918"/>
                  </a:moveTo>
                  <a:lnTo>
                    <a:pt x="1083733" y="1043918"/>
                  </a:lnTo>
                </a:path>
                <a:path w="1083945" h="1137920">
                  <a:moveTo>
                    <a:pt x="0" y="690465"/>
                  </a:moveTo>
                  <a:lnTo>
                    <a:pt x="1083733" y="690465"/>
                  </a:lnTo>
                </a:path>
                <a:path w="1083945" h="1137920">
                  <a:moveTo>
                    <a:pt x="0" y="337012"/>
                  </a:moveTo>
                  <a:lnTo>
                    <a:pt x="1083733" y="337012"/>
                  </a:lnTo>
                </a:path>
                <a:path w="1083945" h="1137920">
                  <a:moveTo>
                    <a:pt x="295583" y="1137896"/>
                  </a:moveTo>
                  <a:lnTo>
                    <a:pt x="295583" y="0"/>
                  </a:lnTo>
                </a:path>
                <a:path w="1083945" h="1137920">
                  <a:moveTo>
                    <a:pt x="788193" y="1137896"/>
                  </a:moveTo>
                  <a:lnTo>
                    <a:pt x="788193" y="0"/>
                  </a:lnTo>
                </a:path>
              </a:pathLst>
            </a:custGeom>
            <a:ln w="6759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815856" y="2442350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18097" y="0"/>
                  </a:moveTo>
                  <a:lnTo>
                    <a:pt x="5233" y="0"/>
                  </a:lnTo>
                  <a:lnTo>
                    <a:pt x="0" y="5233"/>
                  </a:lnTo>
                  <a:lnTo>
                    <a:pt x="0" y="11687"/>
                  </a:lnTo>
                  <a:lnTo>
                    <a:pt x="0" y="18141"/>
                  </a:lnTo>
                  <a:lnTo>
                    <a:pt x="5233" y="23374"/>
                  </a:lnTo>
                  <a:lnTo>
                    <a:pt x="18097" y="23374"/>
                  </a:lnTo>
                  <a:lnTo>
                    <a:pt x="23374" y="18141"/>
                  </a:lnTo>
                  <a:lnTo>
                    <a:pt x="23374" y="5233"/>
                  </a:lnTo>
                  <a:lnTo>
                    <a:pt x="18097" y="0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815856" y="2442350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0" y="11687"/>
                  </a:moveTo>
                  <a:lnTo>
                    <a:pt x="0" y="5233"/>
                  </a:lnTo>
                  <a:lnTo>
                    <a:pt x="5233" y="0"/>
                  </a:lnTo>
                  <a:lnTo>
                    <a:pt x="11687" y="0"/>
                  </a:lnTo>
                  <a:lnTo>
                    <a:pt x="18097" y="0"/>
                  </a:lnTo>
                  <a:lnTo>
                    <a:pt x="23374" y="5233"/>
                  </a:lnTo>
                  <a:lnTo>
                    <a:pt x="23374" y="11687"/>
                  </a:lnTo>
                  <a:lnTo>
                    <a:pt x="23374" y="18141"/>
                  </a:lnTo>
                  <a:lnTo>
                    <a:pt x="18097" y="23374"/>
                  </a:lnTo>
                  <a:lnTo>
                    <a:pt x="11687" y="23374"/>
                  </a:lnTo>
                  <a:lnTo>
                    <a:pt x="5233" y="23374"/>
                  </a:lnTo>
                  <a:lnTo>
                    <a:pt x="0" y="18141"/>
                  </a:lnTo>
                  <a:lnTo>
                    <a:pt x="0" y="11687"/>
                  </a:lnTo>
                </a:path>
              </a:pathLst>
            </a:custGeom>
            <a:ln w="317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827543" y="2150866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h="62230">
                  <a:moveTo>
                    <a:pt x="0" y="61881"/>
                  </a:moveTo>
                  <a:lnTo>
                    <a:pt x="0" y="0"/>
                  </a:lnTo>
                </a:path>
              </a:pathLst>
            </a:custGeom>
            <a:ln w="675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824163" y="2286382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5" h="6985">
                  <a:moveTo>
                    <a:pt x="0" y="3379"/>
                  </a:moveTo>
                  <a:lnTo>
                    <a:pt x="989" y="989"/>
                  </a:lnTo>
                  <a:lnTo>
                    <a:pt x="3379" y="0"/>
                  </a:lnTo>
                  <a:lnTo>
                    <a:pt x="5769" y="989"/>
                  </a:lnTo>
                  <a:lnTo>
                    <a:pt x="6759" y="3379"/>
                  </a:lnTo>
                  <a:lnTo>
                    <a:pt x="5769" y="5769"/>
                  </a:lnTo>
                  <a:lnTo>
                    <a:pt x="3379" y="6759"/>
                  </a:lnTo>
                  <a:lnTo>
                    <a:pt x="989" y="5769"/>
                  </a:lnTo>
                  <a:lnTo>
                    <a:pt x="0" y="3379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704391" y="2212747"/>
              <a:ext cx="246379" cy="77470"/>
            </a:xfrm>
            <a:custGeom>
              <a:avLst/>
              <a:gdLst/>
              <a:ahLst/>
              <a:cxnLst/>
              <a:rect l="l" t="t" r="r" b="b"/>
              <a:pathLst>
                <a:path w="246380" h="77469">
                  <a:moveTo>
                    <a:pt x="246305" y="0"/>
                  </a:moveTo>
                  <a:lnTo>
                    <a:pt x="0" y="0"/>
                  </a:lnTo>
                  <a:lnTo>
                    <a:pt x="0" y="77013"/>
                  </a:lnTo>
                  <a:lnTo>
                    <a:pt x="246305" y="77013"/>
                  </a:lnTo>
                  <a:lnTo>
                    <a:pt x="246305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704391" y="2212747"/>
              <a:ext cx="246379" cy="77470"/>
            </a:xfrm>
            <a:custGeom>
              <a:avLst/>
              <a:gdLst/>
              <a:ahLst/>
              <a:cxnLst/>
              <a:rect l="l" t="t" r="r" b="b"/>
              <a:pathLst>
                <a:path w="246380" h="77469">
                  <a:moveTo>
                    <a:pt x="0" y="0"/>
                  </a:moveTo>
                  <a:lnTo>
                    <a:pt x="0" y="77013"/>
                  </a:lnTo>
                  <a:lnTo>
                    <a:pt x="246305" y="77013"/>
                  </a:lnTo>
                  <a:lnTo>
                    <a:pt x="246305" y="0"/>
                  </a:lnTo>
                  <a:lnTo>
                    <a:pt x="0" y="0"/>
                  </a:lnTo>
                  <a:close/>
                </a:path>
              </a:pathLst>
            </a:custGeom>
            <a:ln w="675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704391" y="2227444"/>
              <a:ext cx="246379" cy="13970"/>
            </a:xfrm>
            <a:custGeom>
              <a:avLst/>
              <a:gdLst/>
              <a:ahLst/>
              <a:cxnLst/>
              <a:rect l="l" t="t" r="r" b="b"/>
              <a:pathLst>
                <a:path w="246380" h="13969">
                  <a:moveTo>
                    <a:pt x="0" y="13518"/>
                  </a:moveTo>
                  <a:lnTo>
                    <a:pt x="246305" y="13518"/>
                  </a:lnTo>
                  <a:lnTo>
                    <a:pt x="246305" y="0"/>
                  </a:lnTo>
                  <a:lnTo>
                    <a:pt x="0" y="0"/>
                  </a:lnTo>
                  <a:lnTo>
                    <a:pt x="0" y="13518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320153" y="2117767"/>
              <a:ext cx="0" cy="321310"/>
            </a:xfrm>
            <a:custGeom>
              <a:avLst/>
              <a:gdLst/>
              <a:ahLst/>
              <a:cxnLst/>
              <a:rect l="l" t="t" r="r" b="b"/>
              <a:pathLst>
                <a:path h="321310">
                  <a:moveTo>
                    <a:pt x="0" y="78016"/>
                  </a:moveTo>
                  <a:lnTo>
                    <a:pt x="0" y="0"/>
                  </a:lnTo>
                </a:path>
                <a:path h="321310">
                  <a:moveTo>
                    <a:pt x="0" y="199555"/>
                  </a:moveTo>
                  <a:lnTo>
                    <a:pt x="0" y="320789"/>
                  </a:lnTo>
                </a:path>
              </a:pathLst>
            </a:custGeom>
            <a:ln w="675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197001" y="2195783"/>
              <a:ext cx="246379" cy="121920"/>
            </a:xfrm>
            <a:custGeom>
              <a:avLst/>
              <a:gdLst/>
              <a:ahLst/>
              <a:cxnLst/>
              <a:rect l="l" t="t" r="r" b="b"/>
              <a:pathLst>
                <a:path w="246380" h="121919">
                  <a:moveTo>
                    <a:pt x="246261" y="0"/>
                  </a:moveTo>
                  <a:lnTo>
                    <a:pt x="0" y="0"/>
                  </a:lnTo>
                  <a:lnTo>
                    <a:pt x="0" y="121539"/>
                  </a:lnTo>
                  <a:lnTo>
                    <a:pt x="246261" y="121539"/>
                  </a:lnTo>
                  <a:lnTo>
                    <a:pt x="246261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197001" y="2195783"/>
              <a:ext cx="246379" cy="121920"/>
            </a:xfrm>
            <a:custGeom>
              <a:avLst/>
              <a:gdLst/>
              <a:ahLst/>
              <a:cxnLst/>
              <a:rect l="l" t="t" r="r" b="b"/>
              <a:pathLst>
                <a:path w="246380" h="121919">
                  <a:moveTo>
                    <a:pt x="0" y="0"/>
                  </a:moveTo>
                  <a:lnTo>
                    <a:pt x="0" y="121539"/>
                  </a:lnTo>
                  <a:lnTo>
                    <a:pt x="246261" y="121539"/>
                  </a:lnTo>
                  <a:lnTo>
                    <a:pt x="246261" y="0"/>
                  </a:lnTo>
                  <a:lnTo>
                    <a:pt x="0" y="0"/>
                  </a:lnTo>
                  <a:close/>
                </a:path>
              </a:pathLst>
            </a:custGeom>
            <a:ln w="675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197001" y="2242620"/>
              <a:ext cx="246379" cy="13970"/>
            </a:xfrm>
            <a:custGeom>
              <a:avLst/>
              <a:gdLst/>
              <a:ahLst/>
              <a:cxnLst/>
              <a:rect l="l" t="t" r="r" b="b"/>
              <a:pathLst>
                <a:path w="246380" h="13969">
                  <a:moveTo>
                    <a:pt x="0" y="13518"/>
                  </a:moveTo>
                  <a:lnTo>
                    <a:pt x="246261" y="13518"/>
                  </a:lnTo>
                  <a:lnTo>
                    <a:pt x="246261" y="0"/>
                  </a:lnTo>
                  <a:lnTo>
                    <a:pt x="0" y="0"/>
                  </a:lnTo>
                  <a:lnTo>
                    <a:pt x="0" y="13518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28875" y="2422944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25118" y="0"/>
                  </a:moveTo>
                  <a:lnTo>
                    <a:pt x="7282" y="0"/>
                  </a:lnTo>
                  <a:lnTo>
                    <a:pt x="0" y="7282"/>
                  </a:lnTo>
                  <a:lnTo>
                    <a:pt x="0" y="16179"/>
                  </a:lnTo>
                  <a:lnTo>
                    <a:pt x="0" y="25118"/>
                  </a:lnTo>
                  <a:lnTo>
                    <a:pt x="7282" y="32401"/>
                  </a:lnTo>
                  <a:lnTo>
                    <a:pt x="25118" y="32401"/>
                  </a:lnTo>
                  <a:lnTo>
                    <a:pt x="32401" y="25118"/>
                  </a:lnTo>
                  <a:lnTo>
                    <a:pt x="32401" y="7282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328875" y="2422944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0" y="16179"/>
                  </a:moveTo>
                  <a:lnTo>
                    <a:pt x="0" y="7282"/>
                  </a:lnTo>
                  <a:lnTo>
                    <a:pt x="7282" y="0"/>
                  </a:lnTo>
                  <a:lnTo>
                    <a:pt x="16222" y="0"/>
                  </a:lnTo>
                  <a:lnTo>
                    <a:pt x="25118" y="0"/>
                  </a:lnTo>
                  <a:lnTo>
                    <a:pt x="32401" y="7282"/>
                  </a:lnTo>
                  <a:lnTo>
                    <a:pt x="32401" y="16179"/>
                  </a:lnTo>
                  <a:lnTo>
                    <a:pt x="32401" y="25118"/>
                  </a:lnTo>
                  <a:lnTo>
                    <a:pt x="25118" y="32401"/>
                  </a:lnTo>
                  <a:lnTo>
                    <a:pt x="16222" y="32401"/>
                  </a:lnTo>
                  <a:lnTo>
                    <a:pt x="7282" y="32401"/>
                  </a:lnTo>
                  <a:lnTo>
                    <a:pt x="0" y="25118"/>
                  </a:lnTo>
                  <a:lnTo>
                    <a:pt x="0" y="16179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820435" y="2134164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25118" y="0"/>
                  </a:moveTo>
                  <a:lnTo>
                    <a:pt x="7282" y="0"/>
                  </a:lnTo>
                  <a:lnTo>
                    <a:pt x="0" y="7282"/>
                  </a:lnTo>
                  <a:lnTo>
                    <a:pt x="0" y="16179"/>
                  </a:lnTo>
                  <a:lnTo>
                    <a:pt x="0" y="25118"/>
                  </a:lnTo>
                  <a:lnTo>
                    <a:pt x="7282" y="32401"/>
                  </a:lnTo>
                  <a:lnTo>
                    <a:pt x="25118" y="32401"/>
                  </a:lnTo>
                  <a:lnTo>
                    <a:pt x="32401" y="25118"/>
                  </a:lnTo>
                  <a:lnTo>
                    <a:pt x="32401" y="7282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820435" y="2134164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0" y="16179"/>
                  </a:moveTo>
                  <a:lnTo>
                    <a:pt x="0" y="7282"/>
                  </a:lnTo>
                  <a:lnTo>
                    <a:pt x="7282" y="0"/>
                  </a:lnTo>
                  <a:lnTo>
                    <a:pt x="16222" y="0"/>
                  </a:lnTo>
                  <a:lnTo>
                    <a:pt x="25118" y="0"/>
                  </a:lnTo>
                  <a:lnTo>
                    <a:pt x="32401" y="7282"/>
                  </a:lnTo>
                  <a:lnTo>
                    <a:pt x="32401" y="16179"/>
                  </a:lnTo>
                  <a:lnTo>
                    <a:pt x="32401" y="25118"/>
                  </a:lnTo>
                  <a:lnTo>
                    <a:pt x="25118" y="32401"/>
                  </a:lnTo>
                  <a:lnTo>
                    <a:pt x="16222" y="32401"/>
                  </a:lnTo>
                  <a:lnTo>
                    <a:pt x="7282" y="32401"/>
                  </a:lnTo>
                  <a:lnTo>
                    <a:pt x="0" y="25118"/>
                  </a:lnTo>
                  <a:lnTo>
                    <a:pt x="0" y="16179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838969" y="2218155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25118" y="0"/>
                  </a:moveTo>
                  <a:lnTo>
                    <a:pt x="7282" y="0"/>
                  </a:lnTo>
                  <a:lnTo>
                    <a:pt x="0" y="7326"/>
                  </a:lnTo>
                  <a:lnTo>
                    <a:pt x="0" y="16222"/>
                  </a:lnTo>
                  <a:lnTo>
                    <a:pt x="0" y="25162"/>
                  </a:lnTo>
                  <a:lnTo>
                    <a:pt x="7282" y="32445"/>
                  </a:lnTo>
                  <a:lnTo>
                    <a:pt x="25118" y="32445"/>
                  </a:lnTo>
                  <a:lnTo>
                    <a:pt x="32401" y="25162"/>
                  </a:lnTo>
                  <a:lnTo>
                    <a:pt x="32401" y="7326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38969" y="2218155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0" y="16222"/>
                  </a:moveTo>
                  <a:lnTo>
                    <a:pt x="0" y="7326"/>
                  </a:lnTo>
                  <a:lnTo>
                    <a:pt x="7282" y="0"/>
                  </a:lnTo>
                  <a:lnTo>
                    <a:pt x="16222" y="0"/>
                  </a:lnTo>
                  <a:lnTo>
                    <a:pt x="25118" y="0"/>
                  </a:lnTo>
                  <a:lnTo>
                    <a:pt x="32401" y="7326"/>
                  </a:lnTo>
                  <a:lnTo>
                    <a:pt x="32401" y="16222"/>
                  </a:lnTo>
                  <a:lnTo>
                    <a:pt x="32401" y="25162"/>
                  </a:lnTo>
                  <a:lnTo>
                    <a:pt x="25118" y="32445"/>
                  </a:lnTo>
                  <a:lnTo>
                    <a:pt x="16222" y="32445"/>
                  </a:lnTo>
                  <a:lnTo>
                    <a:pt x="7282" y="32445"/>
                  </a:lnTo>
                  <a:lnTo>
                    <a:pt x="0" y="25162"/>
                  </a:lnTo>
                  <a:lnTo>
                    <a:pt x="0" y="16222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315400" y="2205203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25118" y="0"/>
                  </a:moveTo>
                  <a:lnTo>
                    <a:pt x="7282" y="0"/>
                  </a:lnTo>
                  <a:lnTo>
                    <a:pt x="0" y="7282"/>
                  </a:lnTo>
                  <a:lnTo>
                    <a:pt x="0" y="16179"/>
                  </a:lnTo>
                  <a:lnTo>
                    <a:pt x="0" y="25118"/>
                  </a:lnTo>
                  <a:lnTo>
                    <a:pt x="7282" y="32401"/>
                  </a:lnTo>
                  <a:lnTo>
                    <a:pt x="25118" y="32401"/>
                  </a:lnTo>
                  <a:lnTo>
                    <a:pt x="32401" y="25118"/>
                  </a:lnTo>
                  <a:lnTo>
                    <a:pt x="32401" y="7282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315400" y="2205203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0" y="16179"/>
                  </a:moveTo>
                  <a:lnTo>
                    <a:pt x="0" y="7282"/>
                  </a:lnTo>
                  <a:lnTo>
                    <a:pt x="7282" y="0"/>
                  </a:lnTo>
                  <a:lnTo>
                    <a:pt x="16179" y="0"/>
                  </a:lnTo>
                  <a:lnTo>
                    <a:pt x="25118" y="0"/>
                  </a:lnTo>
                  <a:lnTo>
                    <a:pt x="32401" y="7282"/>
                  </a:lnTo>
                  <a:lnTo>
                    <a:pt x="32401" y="16179"/>
                  </a:lnTo>
                  <a:lnTo>
                    <a:pt x="32401" y="25118"/>
                  </a:lnTo>
                  <a:lnTo>
                    <a:pt x="25118" y="32401"/>
                  </a:lnTo>
                  <a:lnTo>
                    <a:pt x="16179" y="32401"/>
                  </a:lnTo>
                  <a:lnTo>
                    <a:pt x="7282" y="32401"/>
                  </a:lnTo>
                  <a:lnTo>
                    <a:pt x="0" y="25118"/>
                  </a:lnTo>
                  <a:lnTo>
                    <a:pt x="0" y="16179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827325" y="2217763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25118" y="0"/>
                  </a:moveTo>
                  <a:lnTo>
                    <a:pt x="7326" y="0"/>
                  </a:lnTo>
                  <a:lnTo>
                    <a:pt x="0" y="7326"/>
                  </a:lnTo>
                  <a:lnTo>
                    <a:pt x="0" y="16222"/>
                  </a:lnTo>
                  <a:lnTo>
                    <a:pt x="0" y="25162"/>
                  </a:lnTo>
                  <a:lnTo>
                    <a:pt x="7326" y="32445"/>
                  </a:lnTo>
                  <a:lnTo>
                    <a:pt x="25118" y="32445"/>
                  </a:lnTo>
                  <a:lnTo>
                    <a:pt x="32445" y="25162"/>
                  </a:lnTo>
                  <a:lnTo>
                    <a:pt x="32445" y="7326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827325" y="2217763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0" y="16222"/>
                  </a:moveTo>
                  <a:lnTo>
                    <a:pt x="0" y="7326"/>
                  </a:lnTo>
                  <a:lnTo>
                    <a:pt x="7326" y="0"/>
                  </a:lnTo>
                  <a:lnTo>
                    <a:pt x="16222" y="0"/>
                  </a:lnTo>
                  <a:lnTo>
                    <a:pt x="25118" y="0"/>
                  </a:lnTo>
                  <a:lnTo>
                    <a:pt x="32445" y="7326"/>
                  </a:lnTo>
                  <a:lnTo>
                    <a:pt x="32445" y="16222"/>
                  </a:lnTo>
                  <a:lnTo>
                    <a:pt x="32445" y="25162"/>
                  </a:lnTo>
                  <a:lnTo>
                    <a:pt x="25118" y="32445"/>
                  </a:lnTo>
                  <a:lnTo>
                    <a:pt x="16222" y="32445"/>
                  </a:lnTo>
                  <a:lnTo>
                    <a:pt x="7326" y="32445"/>
                  </a:lnTo>
                  <a:lnTo>
                    <a:pt x="0" y="25162"/>
                  </a:lnTo>
                  <a:lnTo>
                    <a:pt x="0" y="16222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292898" y="2101544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25118" y="0"/>
                  </a:moveTo>
                  <a:lnTo>
                    <a:pt x="7326" y="0"/>
                  </a:lnTo>
                  <a:lnTo>
                    <a:pt x="0" y="7282"/>
                  </a:lnTo>
                  <a:lnTo>
                    <a:pt x="0" y="16222"/>
                  </a:lnTo>
                  <a:lnTo>
                    <a:pt x="0" y="25118"/>
                  </a:lnTo>
                  <a:lnTo>
                    <a:pt x="7326" y="32401"/>
                  </a:lnTo>
                  <a:lnTo>
                    <a:pt x="25118" y="32401"/>
                  </a:lnTo>
                  <a:lnTo>
                    <a:pt x="32445" y="25118"/>
                  </a:lnTo>
                  <a:lnTo>
                    <a:pt x="32445" y="7282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292898" y="2101544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0" y="16222"/>
                  </a:moveTo>
                  <a:lnTo>
                    <a:pt x="0" y="7282"/>
                  </a:lnTo>
                  <a:lnTo>
                    <a:pt x="7326" y="0"/>
                  </a:lnTo>
                  <a:lnTo>
                    <a:pt x="16222" y="0"/>
                  </a:lnTo>
                  <a:lnTo>
                    <a:pt x="25118" y="0"/>
                  </a:lnTo>
                  <a:lnTo>
                    <a:pt x="32445" y="7282"/>
                  </a:lnTo>
                  <a:lnTo>
                    <a:pt x="32445" y="16222"/>
                  </a:lnTo>
                  <a:lnTo>
                    <a:pt x="32445" y="25118"/>
                  </a:lnTo>
                  <a:lnTo>
                    <a:pt x="25118" y="32401"/>
                  </a:lnTo>
                  <a:lnTo>
                    <a:pt x="16222" y="32401"/>
                  </a:lnTo>
                  <a:lnTo>
                    <a:pt x="7326" y="32401"/>
                  </a:lnTo>
                  <a:lnTo>
                    <a:pt x="0" y="25118"/>
                  </a:lnTo>
                  <a:lnTo>
                    <a:pt x="0" y="16222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266427" y="2260325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25118" y="0"/>
                  </a:moveTo>
                  <a:lnTo>
                    <a:pt x="7282" y="0"/>
                  </a:lnTo>
                  <a:lnTo>
                    <a:pt x="0" y="7326"/>
                  </a:lnTo>
                  <a:lnTo>
                    <a:pt x="0" y="16222"/>
                  </a:lnTo>
                  <a:lnTo>
                    <a:pt x="0" y="25118"/>
                  </a:lnTo>
                  <a:lnTo>
                    <a:pt x="7282" y="32445"/>
                  </a:lnTo>
                  <a:lnTo>
                    <a:pt x="25118" y="32445"/>
                  </a:lnTo>
                  <a:lnTo>
                    <a:pt x="32445" y="25118"/>
                  </a:lnTo>
                  <a:lnTo>
                    <a:pt x="32445" y="7326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266427" y="2260325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0" y="16222"/>
                  </a:moveTo>
                  <a:lnTo>
                    <a:pt x="0" y="7326"/>
                  </a:lnTo>
                  <a:lnTo>
                    <a:pt x="7282" y="0"/>
                  </a:lnTo>
                  <a:lnTo>
                    <a:pt x="16222" y="0"/>
                  </a:lnTo>
                  <a:lnTo>
                    <a:pt x="25118" y="0"/>
                  </a:lnTo>
                  <a:lnTo>
                    <a:pt x="32445" y="7326"/>
                  </a:lnTo>
                  <a:lnTo>
                    <a:pt x="32445" y="16222"/>
                  </a:lnTo>
                  <a:lnTo>
                    <a:pt x="32445" y="25118"/>
                  </a:lnTo>
                  <a:lnTo>
                    <a:pt x="25118" y="32445"/>
                  </a:lnTo>
                  <a:lnTo>
                    <a:pt x="16222" y="32445"/>
                  </a:lnTo>
                  <a:lnTo>
                    <a:pt x="7282" y="32445"/>
                  </a:lnTo>
                  <a:lnTo>
                    <a:pt x="0" y="25118"/>
                  </a:lnTo>
                  <a:lnTo>
                    <a:pt x="0" y="16222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790126" y="243807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25118" y="0"/>
                  </a:moveTo>
                  <a:lnTo>
                    <a:pt x="7282" y="0"/>
                  </a:lnTo>
                  <a:lnTo>
                    <a:pt x="0" y="7282"/>
                  </a:lnTo>
                  <a:lnTo>
                    <a:pt x="0" y="16179"/>
                  </a:lnTo>
                  <a:lnTo>
                    <a:pt x="0" y="25118"/>
                  </a:lnTo>
                  <a:lnTo>
                    <a:pt x="7282" y="32401"/>
                  </a:lnTo>
                  <a:lnTo>
                    <a:pt x="25118" y="32401"/>
                  </a:lnTo>
                  <a:lnTo>
                    <a:pt x="32401" y="25118"/>
                  </a:lnTo>
                  <a:lnTo>
                    <a:pt x="32401" y="7282"/>
                  </a:lnTo>
                  <a:lnTo>
                    <a:pt x="251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790126" y="243807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19">
                  <a:moveTo>
                    <a:pt x="0" y="16179"/>
                  </a:moveTo>
                  <a:lnTo>
                    <a:pt x="0" y="7282"/>
                  </a:lnTo>
                  <a:lnTo>
                    <a:pt x="7282" y="0"/>
                  </a:lnTo>
                  <a:lnTo>
                    <a:pt x="16179" y="0"/>
                  </a:lnTo>
                  <a:lnTo>
                    <a:pt x="25118" y="0"/>
                  </a:lnTo>
                  <a:lnTo>
                    <a:pt x="32401" y="7282"/>
                  </a:lnTo>
                  <a:lnTo>
                    <a:pt x="32401" y="16179"/>
                  </a:lnTo>
                  <a:lnTo>
                    <a:pt x="32401" y="25118"/>
                  </a:lnTo>
                  <a:lnTo>
                    <a:pt x="25118" y="32401"/>
                  </a:lnTo>
                  <a:lnTo>
                    <a:pt x="16179" y="32401"/>
                  </a:lnTo>
                  <a:lnTo>
                    <a:pt x="7282" y="32401"/>
                  </a:lnTo>
                  <a:lnTo>
                    <a:pt x="0" y="25118"/>
                  </a:lnTo>
                  <a:lnTo>
                    <a:pt x="0" y="16179"/>
                  </a:lnTo>
                </a:path>
              </a:pathLst>
            </a:custGeom>
            <a:ln w="4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706121" y="1250107"/>
            <a:ext cx="498475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dirty="0">
                <a:solidFill>
                  <a:srgbClr val="1A1A1A"/>
                </a:solidFill>
                <a:latin typeface="Arial"/>
                <a:cs typeface="Arial"/>
              </a:rPr>
              <a:t>Mullica</a:t>
            </a:r>
            <a:r>
              <a:rPr sz="550" b="1" spc="-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550" b="1" spc="-10" dirty="0">
                <a:solidFill>
                  <a:srgbClr val="1A1A1A"/>
                </a:solidFill>
                <a:latin typeface="Arial"/>
                <a:cs typeface="Arial"/>
              </a:rPr>
              <a:t>Queen</a:t>
            </a:r>
            <a:endParaRPr sz="55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346460" y="3332810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Trebuchet MS"/>
                <a:cs typeface="Trebuchet MS"/>
              </a:rPr>
              <a:t>2</a:t>
            </a:r>
            <a:r>
              <a:rPr sz="600" spc="30" dirty="0">
                <a:latin typeface="Trebuchet MS"/>
                <a:cs typeface="Trebuchet MS"/>
              </a:rPr>
              <a:t> </a:t>
            </a:r>
            <a:r>
              <a:rPr sz="600" dirty="0">
                <a:latin typeface="Trebuchet MS"/>
                <a:cs typeface="Trebuchet MS"/>
              </a:rPr>
              <a:t>/</a:t>
            </a:r>
            <a:r>
              <a:rPr sz="600" spc="35" dirty="0">
                <a:latin typeface="Trebuchet MS"/>
                <a:cs typeface="Trebuchet MS"/>
              </a:rPr>
              <a:t> </a:t>
            </a:r>
            <a:r>
              <a:rPr sz="600" spc="-25" dirty="0">
                <a:latin typeface="Trebuchet MS"/>
                <a:cs typeface="Trebuchet MS"/>
              </a:rPr>
              <a:t>10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927878" y="1250107"/>
            <a:ext cx="292100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spc="-10" dirty="0">
                <a:solidFill>
                  <a:srgbClr val="1A1A1A"/>
                </a:solidFill>
                <a:latin typeface="Arial"/>
                <a:cs typeface="Arial"/>
              </a:rPr>
              <a:t>Stevens</a:t>
            </a:r>
            <a:endParaRPr sz="5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04991" y="2508583"/>
            <a:ext cx="208279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10" dirty="0">
                <a:solidFill>
                  <a:srgbClr val="4D4D4D"/>
                </a:solidFill>
                <a:latin typeface="Microsoft Sans Serif"/>
                <a:cs typeface="Microsoft Sans Serif"/>
              </a:rPr>
              <a:t>Control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30265" y="2508583"/>
            <a:ext cx="142875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25" dirty="0">
                <a:solidFill>
                  <a:srgbClr val="4D4D4D"/>
                </a:solidFill>
                <a:latin typeface="Microsoft Sans Serif"/>
                <a:cs typeface="Microsoft Sans Serif"/>
              </a:rPr>
              <a:t>OTC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723482" y="2508583"/>
            <a:ext cx="208279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10" dirty="0">
                <a:solidFill>
                  <a:srgbClr val="4D4D4D"/>
                </a:solidFill>
                <a:latin typeface="Microsoft Sans Serif"/>
                <a:cs typeface="Microsoft Sans Serif"/>
              </a:rPr>
              <a:t>Control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248712" y="2508583"/>
            <a:ext cx="142875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25" dirty="0">
                <a:solidFill>
                  <a:srgbClr val="4D4D4D"/>
                </a:solidFill>
                <a:latin typeface="Microsoft Sans Serif"/>
                <a:cs typeface="Microsoft Sans Serif"/>
              </a:rPr>
              <a:t>OTC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74957" y="2362972"/>
            <a:ext cx="120014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25" dirty="0">
                <a:solidFill>
                  <a:srgbClr val="4D4D4D"/>
                </a:solidFill>
                <a:latin typeface="Microsoft Sans Serif"/>
                <a:cs typeface="Microsoft Sans Serif"/>
              </a:rPr>
              <a:t>600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74957" y="2009519"/>
            <a:ext cx="120014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25" dirty="0">
                <a:solidFill>
                  <a:srgbClr val="4D4D4D"/>
                </a:solidFill>
                <a:latin typeface="Microsoft Sans Serif"/>
                <a:cs typeface="Microsoft Sans Serif"/>
              </a:rPr>
              <a:t>800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43427" y="1656065"/>
            <a:ext cx="151765" cy="93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-20" dirty="0">
                <a:solidFill>
                  <a:srgbClr val="4D4D4D"/>
                </a:solidFill>
                <a:latin typeface="Microsoft Sans Serif"/>
                <a:cs typeface="Microsoft Sans Serif"/>
              </a:rPr>
              <a:t>1000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47555" y="1557520"/>
            <a:ext cx="103505" cy="759460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550" dirty="0">
                <a:latin typeface="Microsoft Sans Serif"/>
                <a:cs typeface="Microsoft Sans Serif"/>
              </a:rPr>
              <a:t>Healthy</a:t>
            </a:r>
            <a:r>
              <a:rPr sz="550" spc="-10" dirty="0">
                <a:latin typeface="Microsoft Sans Serif"/>
                <a:cs typeface="Microsoft Sans Serif"/>
              </a:rPr>
              <a:t> </a:t>
            </a:r>
            <a:r>
              <a:rPr sz="550" dirty="0">
                <a:latin typeface="Microsoft Sans Serif"/>
                <a:cs typeface="Microsoft Sans Serif"/>
              </a:rPr>
              <a:t>Fruit</a:t>
            </a:r>
            <a:r>
              <a:rPr sz="550" spc="-10" dirty="0">
                <a:latin typeface="Microsoft Sans Serif"/>
                <a:cs typeface="Microsoft Sans Serif"/>
              </a:rPr>
              <a:t> </a:t>
            </a:r>
            <a:r>
              <a:rPr sz="550" dirty="0">
                <a:latin typeface="Microsoft Sans Serif"/>
                <a:cs typeface="Microsoft Sans Serif"/>
              </a:rPr>
              <a:t>Weight</a:t>
            </a:r>
            <a:r>
              <a:rPr sz="550" spc="-5" dirty="0">
                <a:latin typeface="Microsoft Sans Serif"/>
                <a:cs typeface="Microsoft Sans Serif"/>
              </a:rPr>
              <a:t> </a:t>
            </a:r>
            <a:r>
              <a:rPr sz="550" spc="-25" dirty="0">
                <a:latin typeface="Microsoft Sans Serif"/>
                <a:cs typeface="Microsoft Sans Serif"/>
              </a:rPr>
              <a:t>(g)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930144" y="1066703"/>
            <a:ext cx="1577975" cy="1696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8910" marR="30480" indent="-131445" algn="just">
              <a:lnSpc>
                <a:spcPct val="100000"/>
              </a:lnSpc>
              <a:spcBef>
                <a:spcPts val="95"/>
              </a:spcBef>
              <a:buClr>
                <a:srgbClr val="990000"/>
              </a:buClr>
              <a:buFont typeface="Verdana"/>
              <a:buChar char="•"/>
              <a:tabLst>
                <a:tab pos="170180" algn="l"/>
              </a:tabLst>
            </a:pPr>
            <a:r>
              <a:rPr sz="1000" dirty="0">
                <a:latin typeface="Tahoma"/>
                <a:cs typeface="Tahoma"/>
              </a:rPr>
              <a:t>Mullica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Queen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produces 	</a:t>
            </a:r>
            <a:r>
              <a:rPr sz="1000" b="1" dirty="0">
                <a:latin typeface="Arial"/>
                <a:cs typeface="Arial"/>
              </a:rPr>
              <a:t>280g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more </a:t>
            </a:r>
            <a:r>
              <a:rPr sz="1000" spc="-30" dirty="0">
                <a:latin typeface="Tahoma"/>
                <a:cs typeface="Tahoma"/>
              </a:rPr>
              <a:t>healthy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fruit 	</a:t>
            </a:r>
            <a:r>
              <a:rPr sz="1000" spc="-25" dirty="0">
                <a:latin typeface="Tahoma"/>
                <a:cs typeface="Tahoma"/>
              </a:rPr>
              <a:t>than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Stevens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(</a:t>
            </a:r>
            <a:r>
              <a:rPr sz="1000" i="1" spc="-65" dirty="0">
                <a:latin typeface="Verdana"/>
                <a:cs typeface="Verdana"/>
              </a:rPr>
              <a:t>p</a:t>
            </a:r>
            <a:r>
              <a:rPr sz="1000" i="1" spc="-75" dirty="0">
                <a:latin typeface="Verdana"/>
                <a:cs typeface="Verdana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45" dirty="0">
                <a:latin typeface="Calibri"/>
                <a:cs typeface="Calibri"/>
              </a:rPr>
              <a:t> </a:t>
            </a:r>
            <a:r>
              <a:rPr sz="1000" spc="-30" dirty="0">
                <a:latin typeface="Calibri"/>
                <a:cs typeface="Calibri"/>
              </a:rPr>
              <a:t>0</a:t>
            </a:r>
            <a:r>
              <a:rPr sz="1000" i="1" spc="-30" dirty="0">
                <a:latin typeface="Verdana"/>
                <a:cs typeface="Verdana"/>
              </a:rPr>
              <a:t>.</a:t>
            </a:r>
            <a:r>
              <a:rPr sz="1000" spc="-30" dirty="0">
                <a:latin typeface="Calibri"/>
                <a:cs typeface="Calibri"/>
              </a:rPr>
              <a:t>002</a:t>
            </a:r>
            <a:r>
              <a:rPr sz="1000" spc="-30" dirty="0">
                <a:latin typeface="Tahoma"/>
                <a:cs typeface="Tahoma"/>
              </a:rPr>
              <a:t>).</a:t>
            </a:r>
            <a:endParaRPr sz="1000">
              <a:latin typeface="Tahoma"/>
              <a:cs typeface="Tahoma"/>
            </a:endParaRPr>
          </a:p>
          <a:p>
            <a:pPr marL="168910" marR="278130" indent="-131445" algn="just">
              <a:lnSpc>
                <a:spcPct val="100000"/>
              </a:lnSpc>
              <a:spcBef>
                <a:spcPts val="585"/>
              </a:spcBef>
              <a:buClr>
                <a:srgbClr val="990000"/>
              </a:buClr>
              <a:buFont typeface="Verdana"/>
              <a:buChar char="•"/>
              <a:tabLst>
                <a:tab pos="170180" algn="l"/>
              </a:tabLst>
            </a:pPr>
            <a:r>
              <a:rPr sz="1000" dirty="0">
                <a:latin typeface="Tahoma"/>
                <a:cs typeface="Tahoma"/>
              </a:rPr>
              <a:t>OTC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heat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treatment 	</a:t>
            </a:r>
            <a:r>
              <a:rPr sz="1000" spc="-65" dirty="0">
                <a:latin typeface="Tahoma"/>
                <a:cs typeface="Tahoma"/>
              </a:rPr>
              <a:t>shows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b="1" dirty="0">
                <a:latin typeface="Arial"/>
                <a:cs typeface="Arial"/>
              </a:rPr>
              <a:t>no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significant 	</a:t>
            </a:r>
            <a:r>
              <a:rPr sz="1000" b="1" spc="-10" dirty="0">
                <a:latin typeface="Arial"/>
                <a:cs typeface="Arial"/>
              </a:rPr>
              <a:t>effect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yield</a:t>
            </a:r>
            <a:endParaRPr sz="1000">
              <a:latin typeface="Tahoma"/>
              <a:cs typeface="Tahoma"/>
            </a:endParaRPr>
          </a:p>
          <a:p>
            <a:pPr marL="170180">
              <a:lnSpc>
                <a:spcPts val="1185"/>
              </a:lnSpc>
            </a:pPr>
            <a:r>
              <a:rPr sz="1000" spc="-65" dirty="0">
                <a:latin typeface="Tahoma"/>
                <a:cs typeface="Tahoma"/>
              </a:rPr>
              <a:t>(</a:t>
            </a:r>
            <a:r>
              <a:rPr sz="1000" i="1" spc="-65" dirty="0">
                <a:latin typeface="Verdana"/>
                <a:cs typeface="Verdana"/>
              </a:rPr>
              <a:t>p</a:t>
            </a:r>
            <a:r>
              <a:rPr sz="1000" i="1" spc="-75" dirty="0">
                <a:latin typeface="Verdana"/>
                <a:cs typeface="Verdana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5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0</a:t>
            </a:r>
            <a:r>
              <a:rPr sz="1000" i="1" spc="-10" dirty="0">
                <a:latin typeface="Verdana"/>
                <a:cs typeface="Verdana"/>
              </a:rPr>
              <a:t>.</a:t>
            </a:r>
            <a:r>
              <a:rPr sz="1000" spc="-10" dirty="0">
                <a:latin typeface="Calibri"/>
                <a:cs typeface="Calibri"/>
              </a:rPr>
              <a:t>19</a:t>
            </a:r>
            <a:r>
              <a:rPr sz="1000" spc="-10" dirty="0">
                <a:latin typeface="Tahoma"/>
                <a:cs typeface="Tahoma"/>
              </a:rPr>
              <a:t>).</a:t>
            </a:r>
            <a:endParaRPr sz="1000">
              <a:latin typeface="Tahoma"/>
              <a:cs typeface="Tahoma"/>
            </a:endParaRPr>
          </a:p>
          <a:p>
            <a:pPr marL="168910" marR="106680" indent="-131445">
              <a:lnSpc>
                <a:spcPct val="100000"/>
              </a:lnSpc>
              <a:spcBef>
                <a:spcPts val="590"/>
              </a:spcBef>
              <a:buClr>
                <a:srgbClr val="990000"/>
              </a:buClr>
              <a:buFont typeface="Verdana"/>
              <a:buChar char="•"/>
              <a:tabLst>
                <a:tab pos="170180" algn="l"/>
              </a:tabLst>
            </a:pPr>
            <a:r>
              <a:rPr sz="1000" dirty="0">
                <a:latin typeface="Tahoma"/>
                <a:cs typeface="Tahoma"/>
              </a:rPr>
              <a:t>Only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biological 	</a:t>
            </a:r>
            <a:r>
              <a:rPr sz="1000" spc="-30" dirty="0">
                <a:latin typeface="Tahoma"/>
                <a:cs typeface="Tahoma"/>
              </a:rPr>
              <a:t>replicates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per</a:t>
            </a:r>
            <a:r>
              <a:rPr sz="1000" spc="-30" dirty="0">
                <a:latin typeface="Tahoma"/>
                <a:cs typeface="Tahoma"/>
              </a:rPr>
              <a:t> group </a:t>
            </a:r>
            <a:r>
              <a:rPr sz="1000" spc="30" dirty="0">
                <a:latin typeface="Tahoma"/>
                <a:cs typeface="Tahoma"/>
              </a:rPr>
              <a:t>— 	</a:t>
            </a:r>
            <a:r>
              <a:rPr sz="1000" spc="-10" dirty="0">
                <a:latin typeface="Tahoma"/>
                <a:cs typeface="Tahoma"/>
              </a:rPr>
              <a:t>limited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statistical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power.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25844" y="2785994"/>
            <a:ext cx="43567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latin typeface="Arial"/>
                <a:cs typeface="Arial"/>
              </a:rPr>
              <a:t>Model</a:t>
            </a:r>
            <a:r>
              <a:rPr sz="900" dirty="0">
                <a:latin typeface="Tahoma"/>
                <a:cs typeface="Tahoma"/>
              </a:rPr>
              <a:t>:</a:t>
            </a:r>
            <a:r>
              <a:rPr sz="900" spc="9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Blocking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ANOVA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with</a:t>
            </a:r>
            <a:r>
              <a:rPr sz="900" spc="-10" dirty="0">
                <a:latin typeface="Tahoma"/>
                <a:cs typeface="Tahoma"/>
              </a:rPr>
              <a:t> set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pair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as</a:t>
            </a:r>
            <a:r>
              <a:rPr sz="900" spc="-10" dirty="0">
                <a:latin typeface="Tahoma"/>
                <a:cs typeface="Tahoma"/>
              </a:rPr>
              <a:t> fixed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block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permutation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test</a:t>
            </a:r>
            <a:r>
              <a:rPr sz="900" spc="-10" dirty="0">
                <a:latin typeface="Tahoma"/>
                <a:cs typeface="Tahoma"/>
              </a:rPr>
              <a:t> for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robustness.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221" y="88160"/>
            <a:ext cx="43256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Yield</a:t>
            </a:r>
            <a:r>
              <a:rPr spc="-50" dirty="0"/>
              <a:t> </a:t>
            </a:r>
            <a:r>
              <a:rPr spc="-30" dirty="0"/>
              <a:t>Analysis:</a:t>
            </a:r>
            <a:r>
              <a:rPr spc="80" dirty="0"/>
              <a:t> </a:t>
            </a:r>
            <a:r>
              <a:rPr dirty="0"/>
              <a:t>Acute</a:t>
            </a:r>
            <a:r>
              <a:rPr spc="-45" dirty="0"/>
              <a:t> </a:t>
            </a:r>
            <a:r>
              <a:rPr dirty="0"/>
              <a:t>Heat</a:t>
            </a:r>
            <a:r>
              <a:rPr spc="-50" dirty="0"/>
              <a:t> </a:t>
            </a:r>
            <a:r>
              <a:rPr spc="-55" dirty="0"/>
              <a:t>Reduces</a:t>
            </a:r>
            <a:r>
              <a:rPr spc="-45" dirty="0"/>
              <a:t> </a:t>
            </a:r>
            <a:r>
              <a:rPr spc="-20" dirty="0"/>
              <a:t>Healthy</a:t>
            </a:r>
            <a:r>
              <a:rPr spc="-50" dirty="0"/>
              <a:t> </a:t>
            </a:r>
            <a:r>
              <a:rPr dirty="0"/>
              <a:t>Fruit</a:t>
            </a:r>
            <a:r>
              <a:rPr spc="-50" dirty="0"/>
              <a:t> </a:t>
            </a:r>
            <a:r>
              <a:rPr spc="-10" dirty="0"/>
              <a:t>Weight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23186"/>
            <a:ext cx="27127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OTC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60" dirty="0">
                <a:latin typeface="Arial"/>
                <a:cs typeface="Arial"/>
              </a:rPr>
              <a:t>reduces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30" dirty="0">
                <a:latin typeface="Arial"/>
                <a:cs typeface="Arial"/>
              </a:rPr>
              <a:t>yield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by</a:t>
            </a:r>
            <a:r>
              <a:rPr sz="1200" b="1" spc="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155g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30" dirty="0">
                <a:latin typeface="Arial"/>
                <a:cs typeface="Arial"/>
              </a:rPr>
              <a:t>(</a:t>
            </a:r>
            <a:r>
              <a:rPr sz="1200" i="1" spc="-30" dirty="0">
                <a:latin typeface="Verdana"/>
                <a:cs typeface="Verdana"/>
              </a:rPr>
              <a:t>p</a:t>
            </a:r>
            <a:r>
              <a:rPr sz="1200" i="1" spc="-90" dirty="0">
                <a:latin typeface="Verdana"/>
                <a:cs typeface="Verdana"/>
              </a:rPr>
              <a:t> </a:t>
            </a:r>
            <a:r>
              <a:rPr sz="1200" spc="305" dirty="0">
                <a:latin typeface="Calibri"/>
                <a:cs typeface="Calibri"/>
              </a:rPr>
              <a:t>=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0</a:t>
            </a:r>
            <a:r>
              <a:rPr sz="1200" i="1" spc="-10" dirty="0">
                <a:latin typeface="Verdana"/>
                <a:cs typeface="Verdana"/>
              </a:rPr>
              <a:t>.</a:t>
            </a:r>
            <a:r>
              <a:rPr sz="1200" spc="-10" dirty="0">
                <a:latin typeface="Calibri"/>
                <a:cs typeface="Calibri"/>
              </a:rPr>
              <a:t>001</a:t>
            </a:r>
            <a:r>
              <a:rPr sz="1200" b="1" spc="-1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2995" y="1399925"/>
            <a:ext cx="2237105" cy="887094"/>
            <a:chOff x="382995" y="1399925"/>
            <a:chExt cx="2237105" cy="887094"/>
          </a:xfrm>
        </p:grpSpPr>
        <p:sp>
          <p:nvSpPr>
            <p:cNvPr id="5" name="object 5"/>
            <p:cNvSpPr/>
            <p:nvPr/>
          </p:nvSpPr>
          <p:spPr>
            <a:xfrm>
              <a:off x="382995" y="1525090"/>
              <a:ext cx="1102995" cy="625475"/>
            </a:xfrm>
            <a:custGeom>
              <a:avLst/>
              <a:gdLst/>
              <a:ahLst/>
              <a:cxnLst/>
              <a:rect l="l" t="t" r="r" b="b"/>
              <a:pathLst>
                <a:path w="1102995" h="625475">
                  <a:moveTo>
                    <a:pt x="0" y="625091"/>
                  </a:moveTo>
                  <a:lnTo>
                    <a:pt x="1102805" y="625091"/>
                  </a:lnTo>
                </a:path>
                <a:path w="1102995" h="625475">
                  <a:moveTo>
                    <a:pt x="0" y="416740"/>
                  </a:moveTo>
                  <a:lnTo>
                    <a:pt x="1102805" y="416740"/>
                  </a:lnTo>
                </a:path>
                <a:path w="1102995" h="625475">
                  <a:moveTo>
                    <a:pt x="0" y="208350"/>
                  </a:moveTo>
                  <a:lnTo>
                    <a:pt x="1102805" y="208350"/>
                  </a:lnTo>
                </a:path>
                <a:path w="1102995" h="625475">
                  <a:moveTo>
                    <a:pt x="0" y="0"/>
                  </a:moveTo>
                  <a:lnTo>
                    <a:pt x="1102805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2995" y="1399925"/>
              <a:ext cx="1102995" cy="887094"/>
            </a:xfrm>
            <a:custGeom>
              <a:avLst/>
              <a:gdLst/>
              <a:ahLst/>
              <a:cxnLst/>
              <a:rect l="l" t="t" r="r" b="b"/>
              <a:pathLst>
                <a:path w="1102995" h="887094">
                  <a:moveTo>
                    <a:pt x="0" y="854451"/>
                  </a:moveTo>
                  <a:lnTo>
                    <a:pt x="1102805" y="854451"/>
                  </a:lnTo>
                </a:path>
                <a:path w="1102995" h="887094">
                  <a:moveTo>
                    <a:pt x="0" y="646061"/>
                  </a:moveTo>
                  <a:lnTo>
                    <a:pt x="1102805" y="646061"/>
                  </a:lnTo>
                </a:path>
                <a:path w="1102995" h="887094">
                  <a:moveTo>
                    <a:pt x="0" y="437711"/>
                  </a:moveTo>
                  <a:lnTo>
                    <a:pt x="1102805" y="437711"/>
                  </a:lnTo>
                </a:path>
                <a:path w="1102995" h="887094">
                  <a:moveTo>
                    <a:pt x="0" y="229360"/>
                  </a:moveTo>
                  <a:lnTo>
                    <a:pt x="1102805" y="229360"/>
                  </a:lnTo>
                </a:path>
                <a:path w="1102995" h="887094">
                  <a:moveTo>
                    <a:pt x="0" y="20970"/>
                  </a:moveTo>
                  <a:lnTo>
                    <a:pt x="1102805" y="20970"/>
                  </a:lnTo>
                </a:path>
                <a:path w="1102995" h="887094">
                  <a:moveTo>
                    <a:pt x="157532" y="886818"/>
                  </a:moveTo>
                  <a:lnTo>
                    <a:pt x="157532" y="0"/>
                  </a:lnTo>
                </a:path>
                <a:path w="1102995" h="887094">
                  <a:moveTo>
                    <a:pt x="420112" y="886818"/>
                  </a:moveTo>
                  <a:lnTo>
                    <a:pt x="420112" y="0"/>
                  </a:lnTo>
                </a:path>
                <a:path w="1102995" h="887094">
                  <a:moveTo>
                    <a:pt x="682692" y="886818"/>
                  </a:moveTo>
                  <a:lnTo>
                    <a:pt x="682692" y="0"/>
                  </a:lnTo>
                </a:path>
                <a:path w="1102995" h="887094">
                  <a:moveTo>
                    <a:pt x="945273" y="886818"/>
                  </a:moveTo>
                  <a:lnTo>
                    <a:pt x="945273" y="0"/>
                  </a:lnTo>
                </a:path>
              </a:pathLst>
            </a:custGeom>
            <a:ln w="60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1299" y="1610717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80">
                  <a:moveTo>
                    <a:pt x="0" y="7442"/>
                  </a:moveTo>
                  <a:lnTo>
                    <a:pt x="0" y="0"/>
                  </a:lnTo>
                </a:path>
                <a:path h="182880">
                  <a:moveTo>
                    <a:pt x="0" y="98767"/>
                  </a:moveTo>
                  <a:lnTo>
                    <a:pt x="0" y="182650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6993" y="1618160"/>
              <a:ext cx="88900" cy="91440"/>
            </a:xfrm>
            <a:custGeom>
              <a:avLst/>
              <a:gdLst/>
              <a:ahLst/>
              <a:cxnLst/>
              <a:rect l="l" t="t" r="r" b="b"/>
              <a:pathLst>
                <a:path w="88900" h="91439">
                  <a:moveTo>
                    <a:pt x="88612" y="0"/>
                  </a:moveTo>
                  <a:lnTo>
                    <a:pt x="0" y="0"/>
                  </a:lnTo>
                  <a:lnTo>
                    <a:pt x="0" y="91325"/>
                  </a:lnTo>
                  <a:lnTo>
                    <a:pt x="88612" y="91325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6993" y="1618160"/>
              <a:ext cx="88900" cy="91440"/>
            </a:xfrm>
            <a:custGeom>
              <a:avLst/>
              <a:gdLst/>
              <a:ahLst/>
              <a:cxnLst/>
              <a:rect l="l" t="t" r="r" b="b"/>
              <a:pathLst>
                <a:path w="88900" h="91439">
                  <a:moveTo>
                    <a:pt x="0" y="0"/>
                  </a:moveTo>
                  <a:lnTo>
                    <a:pt x="0" y="91325"/>
                  </a:lnTo>
                  <a:lnTo>
                    <a:pt x="88612" y="91325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6993" y="1619594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9756" y="1653279"/>
              <a:ext cx="0" cy="393700"/>
            </a:xfrm>
            <a:custGeom>
              <a:avLst/>
              <a:gdLst/>
              <a:ahLst/>
              <a:cxnLst/>
              <a:rect l="l" t="t" r="r" b="b"/>
              <a:pathLst>
                <a:path h="393700">
                  <a:moveTo>
                    <a:pt x="0" y="190829"/>
                  </a:moveTo>
                  <a:lnTo>
                    <a:pt x="0" y="0"/>
                  </a:lnTo>
                </a:path>
                <a:path h="393700">
                  <a:moveTo>
                    <a:pt x="0" y="387629"/>
                  </a:moveTo>
                  <a:lnTo>
                    <a:pt x="0" y="393637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5450" y="1844109"/>
              <a:ext cx="88900" cy="196850"/>
            </a:xfrm>
            <a:custGeom>
              <a:avLst/>
              <a:gdLst/>
              <a:ahLst/>
              <a:cxnLst/>
              <a:rect l="l" t="t" r="r" b="b"/>
              <a:pathLst>
                <a:path w="88900" h="196850">
                  <a:moveTo>
                    <a:pt x="88612" y="0"/>
                  </a:moveTo>
                  <a:lnTo>
                    <a:pt x="0" y="0"/>
                  </a:lnTo>
                  <a:lnTo>
                    <a:pt x="0" y="196799"/>
                  </a:lnTo>
                  <a:lnTo>
                    <a:pt x="88612" y="196799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5450" y="1844109"/>
              <a:ext cx="88900" cy="196850"/>
            </a:xfrm>
            <a:custGeom>
              <a:avLst/>
              <a:gdLst/>
              <a:ahLst/>
              <a:cxnLst/>
              <a:rect l="l" t="t" r="r" b="b"/>
              <a:pathLst>
                <a:path w="88900" h="196850">
                  <a:moveTo>
                    <a:pt x="0" y="0"/>
                  </a:moveTo>
                  <a:lnTo>
                    <a:pt x="0" y="196799"/>
                  </a:lnTo>
                  <a:lnTo>
                    <a:pt x="88612" y="196799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5450" y="2028892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3879" y="1518966"/>
              <a:ext cx="0" cy="255270"/>
            </a:xfrm>
            <a:custGeom>
              <a:avLst/>
              <a:gdLst/>
              <a:ahLst/>
              <a:cxnLst/>
              <a:rect l="l" t="t" r="r" b="b"/>
              <a:pathLst>
                <a:path h="255269">
                  <a:moveTo>
                    <a:pt x="0" y="103729"/>
                  </a:moveTo>
                  <a:lnTo>
                    <a:pt x="0" y="0"/>
                  </a:lnTo>
                </a:path>
                <a:path h="255269">
                  <a:moveTo>
                    <a:pt x="0" y="231143"/>
                  </a:moveTo>
                  <a:lnTo>
                    <a:pt x="0" y="254827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9573" y="1622695"/>
              <a:ext cx="88900" cy="127635"/>
            </a:xfrm>
            <a:custGeom>
              <a:avLst/>
              <a:gdLst/>
              <a:ahLst/>
              <a:cxnLst/>
              <a:rect l="l" t="t" r="r" b="b"/>
              <a:pathLst>
                <a:path w="88900" h="127635">
                  <a:moveTo>
                    <a:pt x="88612" y="0"/>
                  </a:moveTo>
                  <a:lnTo>
                    <a:pt x="0" y="0"/>
                  </a:lnTo>
                  <a:lnTo>
                    <a:pt x="0" y="127413"/>
                  </a:lnTo>
                  <a:lnTo>
                    <a:pt x="88612" y="127413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9573" y="1622695"/>
              <a:ext cx="88900" cy="127635"/>
            </a:xfrm>
            <a:custGeom>
              <a:avLst/>
              <a:gdLst/>
              <a:ahLst/>
              <a:cxnLst/>
              <a:rect l="l" t="t" r="r" b="b"/>
              <a:pathLst>
                <a:path w="88900" h="127635">
                  <a:moveTo>
                    <a:pt x="0" y="0"/>
                  </a:moveTo>
                  <a:lnTo>
                    <a:pt x="0" y="127413"/>
                  </a:lnTo>
                  <a:lnTo>
                    <a:pt x="88612" y="127413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9573" y="1720417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2337" y="1761622"/>
              <a:ext cx="0" cy="275590"/>
            </a:xfrm>
            <a:custGeom>
              <a:avLst/>
              <a:gdLst/>
              <a:ahLst/>
              <a:cxnLst/>
              <a:rect l="l" t="t" r="r" b="b"/>
              <a:pathLst>
                <a:path h="275589">
                  <a:moveTo>
                    <a:pt x="0" y="42949"/>
                  </a:moveTo>
                  <a:lnTo>
                    <a:pt x="0" y="0"/>
                  </a:lnTo>
                </a:path>
                <a:path h="275589">
                  <a:moveTo>
                    <a:pt x="0" y="180596"/>
                  </a:moveTo>
                  <a:lnTo>
                    <a:pt x="0" y="275294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8031" y="1804571"/>
              <a:ext cx="88900" cy="137795"/>
            </a:xfrm>
            <a:custGeom>
              <a:avLst/>
              <a:gdLst/>
              <a:ahLst/>
              <a:cxnLst/>
              <a:rect l="l" t="t" r="r" b="b"/>
              <a:pathLst>
                <a:path w="88900" h="137794">
                  <a:moveTo>
                    <a:pt x="88612" y="0"/>
                  </a:moveTo>
                  <a:lnTo>
                    <a:pt x="0" y="0"/>
                  </a:lnTo>
                  <a:lnTo>
                    <a:pt x="0" y="137647"/>
                  </a:lnTo>
                  <a:lnTo>
                    <a:pt x="88612" y="137647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8031" y="1804571"/>
              <a:ext cx="88900" cy="137795"/>
            </a:xfrm>
            <a:custGeom>
              <a:avLst/>
              <a:gdLst/>
              <a:ahLst/>
              <a:cxnLst/>
              <a:rect l="l" t="t" r="r" b="b"/>
              <a:pathLst>
                <a:path w="88900" h="137794">
                  <a:moveTo>
                    <a:pt x="0" y="0"/>
                  </a:moveTo>
                  <a:lnTo>
                    <a:pt x="0" y="137647"/>
                  </a:lnTo>
                  <a:lnTo>
                    <a:pt x="88612" y="137647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8031" y="1841473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16459" y="1672583"/>
              <a:ext cx="0" cy="55244"/>
            </a:xfrm>
            <a:custGeom>
              <a:avLst/>
              <a:gdLst/>
              <a:ahLst/>
              <a:cxnLst/>
              <a:rect l="l" t="t" r="r" b="b"/>
              <a:pathLst>
                <a:path h="55244">
                  <a:moveTo>
                    <a:pt x="0" y="12908"/>
                  </a:moveTo>
                  <a:lnTo>
                    <a:pt x="0" y="0"/>
                  </a:lnTo>
                </a:path>
                <a:path h="55244">
                  <a:moveTo>
                    <a:pt x="0" y="40235"/>
                  </a:moveTo>
                  <a:lnTo>
                    <a:pt x="0" y="54655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72153" y="1685491"/>
              <a:ext cx="88900" cy="27940"/>
            </a:xfrm>
            <a:custGeom>
              <a:avLst/>
              <a:gdLst/>
              <a:ahLst/>
              <a:cxnLst/>
              <a:rect l="l" t="t" r="r" b="b"/>
              <a:pathLst>
                <a:path w="88900" h="27939">
                  <a:moveTo>
                    <a:pt x="88612" y="0"/>
                  </a:moveTo>
                  <a:lnTo>
                    <a:pt x="0" y="0"/>
                  </a:lnTo>
                  <a:lnTo>
                    <a:pt x="0" y="27327"/>
                  </a:lnTo>
                  <a:lnTo>
                    <a:pt x="88612" y="27327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72153" y="1685491"/>
              <a:ext cx="88900" cy="27940"/>
            </a:xfrm>
            <a:custGeom>
              <a:avLst/>
              <a:gdLst/>
              <a:ahLst/>
              <a:cxnLst/>
              <a:rect l="l" t="t" r="r" b="b"/>
              <a:pathLst>
                <a:path w="88900" h="27939">
                  <a:moveTo>
                    <a:pt x="0" y="0"/>
                  </a:moveTo>
                  <a:lnTo>
                    <a:pt x="0" y="27327"/>
                  </a:lnTo>
                  <a:lnTo>
                    <a:pt x="88612" y="27327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2153" y="1692430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14917" y="1908262"/>
              <a:ext cx="0" cy="78105"/>
            </a:xfrm>
            <a:custGeom>
              <a:avLst/>
              <a:gdLst/>
              <a:ahLst/>
              <a:cxnLst/>
              <a:rect l="l" t="t" r="r" b="b"/>
              <a:pathLst>
                <a:path h="78105">
                  <a:moveTo>
                    <a:pt x="0" y="38259"/>
                  </a:moveTo>
                  <a:lnTo>
                    <a:pt x="0" y="0"/>
                  </a:lnTo>
                </a:path>
                <a:path h="78105">
                  <a:moveTo>
                    <a:pt x="0" y="77215"/>
                  </a:moveTo>
                  <a:lnTo>
                    <a:pt x="0" y="77913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70611" y="1946521"/>
              <a:ext cx="88900" cy="39370"/>
            </a:xfrm>
            <a:custGeom>
              <a:avLst/>
              <a:gdLst/>
              <a:ahLst/>
              <a:cxnLst/>
              <a:rect l="l" t="t" r="r" b="b"/>
              <a:pathLst>
                <a:path w="88900" h="39369">
                  <a:moveTo>
                    <a:pt x="88612" y="0"/>
                  </a:moveTo>
                  <a:lnTo>
                    <a:pt x="0" y="0"/>
                  </a:lnTo>
                  <a:lnTo>
                    <a:pt x="0" y="38956"/>
                  </a:lnTo>
                  <a:lnTo>
                    <a:pt x="88612" y="38956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70611" y="1946521"/>
              <a:ext cx="88900" cy="39370"/>
            </a:xfrm>
            <a:custGeom>
              <a:avLst/>
              <a:gdLst/>
              <a:ahLst/>
              <a:cxnLst/>
              <a:rect l="l" t="t" r="r" b="b"/>
              <a:pathLst>
                <a:path w="88900" h="39369">
                  <a:moveTo>
                    <a:pt x="0" y="0"/>
                  </a:moveTo>
                  <a:lnTo>
                    <a:pt x="0" y="38956"/>
                  </a:lnTo>
                  <a:lnTo>
                    <a:pt x="88612" y="38956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70611" y="1978772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79039" y="1496716"/>
              <a:ext cx="0" cy="243204"/>
            </a:xfrm>
            <a:custGeom>
              <a:avLst/>
              <a:gdLst/>
              <a:ahLst/>
              <a:cxnLst/>
              <a:rect l="l" t="t" r="r" b="b"/>
              <a:pathLst>
                <a:path h="243205">
                  <a:moveTo>
                    <a:pt x="0" y="87216"/>
                  </a:moveTo>
                  <a:lnTo>
                    <a:pt x="0" y="0"/>
                  </a:lnTo>
                </a:path>
                <a:path h="243205">
                  <a:moveTo>
                    <a:pt x="0" y="208660"/>
                  </a:moveTo>
                  <a:lnTo>
                    <a:pt x="0" y="242849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34733" y="1583932"/>
              <a:ext cx="88900" cy="121920"/>
            </a:xfrm>
            <a:custGeom>
              <a:avLst/>
              <a:gdLst/>
              <a:ahLst/>
              <a:cxnLst/>
              <a:rect l="l" t="t" r="r" b="b"/>
              <a:pathLst>
                <a:path w="88900" h="121919">
                  <a:moveTo>
                    <a:pt x="88612" y="0"/>
                  </a:moveTo>
                  <a:lnTo>
                    <a:pt x="0" y="0"/>
                  </a:lnTo>
                  <a:lnTo>
                    <a:pt x="0" y="121444"/>
                  </a:lnTo>
                  <a:lnTo>
                    <a:pt x="88612" y="121444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34733" y="1583932"/>
              <a:ext cx="88900" cy="121920"/>
            </a:xfrm>
            <a:custGeom>
              <a:avLst/>
              <a:gdLst/>
              <a:ahLst/>
              <a:cxnLst/>
              <a:rect l="l" t="t" r="r" b="b"/>
              <a:pathLst>
                <a:path w="88900" h="121919">
                  <a:moveTo>
                    <a:pt x="0" y="0"/>
                  </a:moveTo>
                  <a:lnTo>
                    <a:pt x="0" y="121444"/>
                  </a:lnTo>
                  <a:lnTo>
                    <a:pt x="88612" y="121444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34733" y="1665179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77497" y="1440238"/>
              <a:ext cx="0" cy="538480"/>
            </a:xfrm>
            <a:custGeom>
              <a:avLst/>
              <a:gdLst/>
              <a:ahLst/>
              <a:cxnLst/>
              <a:rect l="l" t="t" r="r" b="b"/>
              <a:pathLst>
                <a:path h="538480">
                  <a:moveTo>
                    <a:pt x="0" y="221452"/>
                  </a:moveTo>
                  <a:lnTo>
                    <a:pt x="0" y="0"/>
                  </a:lnTo>
                </a:path>
                <a:path h="538480">
                  <a:moveTo>
                    <a:pt x="0" y="490428"/>
                  </a:moveTo>
                  <a:lnTo>
                    <a:pt x="0" y="537990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33191" y="1661691"/>
              <a:ext cx="88900" cy="269240"/>
            </a:xfrm>
            <a:custGeom>
              <a:avLst/>
              <a:gdLst/>
              <a:ahLst/>
              <a:cxnLst/>
              <a:rect l="l" t="t" r="r" b="b"/>
              <a:pathLst>
                <a:path w="88900" h="269239">
                  <a:moveTo>
                    <a:pt x="88612" y="0"/>
                  </a:moveTo>
                  <a:lnTo>
                    <a:pt x="0" y="0"/>
                  </a:lnTo>
                  <a:lnTo>
                    <a:pt x="0" y="268976"/>
                  </a:lnTo>
                  <a:lnTo>
                    <a:pt x="88612" y="268976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33191" y="1661691"/>
              <a:ext cx="88900" cy="269240"/>
            </a:xfrm>
            <a:custGeom>
              <a:avLst/>
              <a:gdLst/>
              <a:ahLst/>
              <a:cxnLst/>
              <a:rect l="l" t="t" r="r" b="b"/>
              <a:pathLst>
                <a:path w="88900" h="269239">
                  <a:moveTo>
                    <a:pt x="0" y="0"/>
                  </a:moveTo>
                  <a:lnTo>
                    <a:pt x="0" y="268976"/>
                  </a:lnTo>
                  <a:lnTo>
                    <a:pt x="88612" y="268976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33191" y="1877096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16695" y="1525090"/>
              <a:ext cx="1102995" cy="625475"/>
            </a:xfrm>
            <a:custGeom>
              <a:avLst/>
              <a:gdLst/>
              <a:ahLst/>
              <a:cxnLst/>
              <a:rect l="l" t="t" r="r" b="b"/>
              <a:pathLst>
                <a:path w="1102995" h="625475">
                  <a:moveTo>
                    <a:pt x="0" y="625091"/>
                  </a:moveTo>
                  <a:lnTo>
                    <a:pt x="1102844" y="625091"/>
                  </a:lnTo>
                </a:path>
                <a:path w="1102995" h="625475">
                  <a:moveTo>
                    <a:pt x="0" y="416740"/>
                  </a:moveTo>
                  <a:lnTo>
                    <a:pt x="1102844" y="416740"/>
                  </a:lnTo>
                </a:path>
                <a:path w="1102995" h="625475">
                  <a:moveTo>
                    <a:pt x="0" y="208350"/>
                  </a:moveTo>
                  <a:lnTo>
                    <a:pt x="1102844" y="208350"/>
                  </a:lnTo>
                </a:path>
                <a:path w="1102995" h="625475">
                  <a:moveTo>
                    <a:pt x="0" y="0"/>
                  </a:moveTo>
                  <a:lnTo>
                    <a:pt x="1102844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16695" y="1399925"/>
              <a:ext cx="1102995" cy="887094"/>
            </a:xfrm>
            <a:custGeom>
              <a:avLst/>
              <a:gdLst/>
              <a:ahLst/>
              <a:cxnLst/>
              <a:rect l="l" t="t" r="r" b="b"/>
              <a:pathLst>
                <a:path w="1102995" h="887094">
                  <a:moveTo>
                    <a:pt x="0" y="854451"/>
                  </a:moveTo>
                  <a:lnTo>
                    <a:pt x="1102844" y="854451"/>
                  </a:lnTo>
                </a:path>
                <a:path w="1102995" h="887094">
                  <a:moveTo>
                    <a:pt x="0" y="646061"/>
                  </a:moveTo>
                  <a:lnTo>
                    <a:pt x="1102844" y="646061"/>
                  </a:lnTo>
                </a:path>
                <a:path w="1102995" h="887094">
                  <a:moveTo>
                    <a:pt x="0" y="437711"/>
                  </a:moveTo>
                  <a:lnTo>
                    <a:pt x="1102844" y="437711"/>
                  </a:lnTo>
                </a:path>
                <a:path w="1102995" h="887094">
                  <a:moveTo>
                    <a:pt x="0" y="229360"/>
                  </a:moveTo>
                  <a:lnTo>
                    <a:pt x="1102844" y="229360"/>
                  </a:lnTo>
                </a:path>
                <a:path w="1102995" h="887094">
                  <a:moveTo>
                    <a:pt x="0" y="20970"/>
                  </a:moveTo>
                  <a:lnTo>
                    <a:pt x="1102844" y="20970"/>
                  </a:lnTo>
                </a:path>
                <a:path w="1102995" h="887094">
                  <a:moveTo>
                    <a:pt x="157571" y="886818"/>
                  </a:moveTo>
                  <a:lnTo>
                    <a:pt x="157571" y="0"/>
                  </a:lnTo>
                </a:path>
                <a:path w="1102995" h="887094">
                  <a:moveTo>
                    <a:pt x="420151" y="886818"/>
                  </a:moveTo>
                  <a:lnTo>
                    <a:pt x="420151" y="0"/>
                  </a:lnTo>
                </a:path>
                <a:path w="1102995" h="887094">
                  <a:moveTo>
                    <a:pt x="682731" y="886818"/>
                  </a:moveTo>
                  <a:lnTo>
                    <a:pt x="682731" y="0"/>
                  </a:lnTo>
                </a:path>
                <a:path w="1102995" h="887094">
                  <a:moveTo>
                    <a:pt x="945311" y="886818"/>
                  </a:moveTo>
                  <a:lnTo>
                    <a:pt x="945311" y="0"/>
                  </a:lnTo>
                </a:path>
              </a:pathLst>
            </a:custGeom>
            <a:ln w="60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625037" y="1752435"/>
              <a:ext cx="0" cy="121285"/>
            </a:xfrm>
            <a:custGeom>
              <a:avLst/>
              <a:gdLst/>
              <a:ahLst/>
              <a:cxnLst/>
              <a:rect l="l" t="t" r="r" b="b"/>
              <a:pathLst>
                <a:path h="121285">
                  <a:moveTo>
                    <a:pt x="0" y="37445"/>
                  </a:moveTo>
                  <a:lnTo>
                    <a:pt x="0" y="0"/>
                  </a:lnTo>
                </a:path>
                <a:path h="121285">
                  <a:moveTo>
                    <a:pt x="0" y="97953"/>
                  </a:moveTo>
                  <a:lnTo>
                    <a:pt x="0" y="121095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80731" y="1789880"/>
              <a:ext cx="88900" cy="60960"/>
            </a:xfrm>
            <a:custGeom>
              <a:avLst/>
              <a:gdLst/>
              <a:ahLst/>
              <a:cxnLst/>
              <a:rect l="l" t="t" r="r" b="b"/>
              <a:pathLst>
                <a:path w="88900" h="60960">
                  <a:moveTo>
                    <a:pt x="88612" y="0"/>
                  </a:moveTo>
                  <a:lnTo>
                    <a:pt x="0" y="0"/>
                  </a:lnTo>
                  <a:lnTo>
                    <a:pt x="0" y="60508"/>
                  </a:lnTo>
                  <a:lnTo>
                    <a:pt x="88612" y="60508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80731" y="1789880"/>
              <a:ext cx="88900" cy="60960"/>
            </a:xfrm>
            <a:custGeom>
              <a:avLst/>
              <a:gdLst/>
              <a:ahLst/>
              <a:cxnLst/>
              <a:rect l="l" t="t" r="r" b="b"/>
              <a:pathLst>
                <a:path w="88900" h="60960">
                  <a:moveTo>
                    <a:pt x="0" y="0"/>
                  </a:moveTo>
                  <a:lnTo>
                    <a:pt x="0" y="60508"/>
                  </a:lnTo>
                  <a:lnTo>
                    <a:pt x="88612" y="60508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80731" y="1821278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723495" y="1724952"/>
              <a:ext cx="0" cy="477520"/>
            </a:xfrm>
            <a:custGeom>
              <a:avLst/>
              <a:gdLst/>
              <a:ahLst/>
              <a:cxnLst/>
              <a:rect l="l" t="t" r="r" b="b"/>
              <a:pathLst>
                <a:path h="477519">
                  <a:moveTo>
                    <a:pt x="0" y="97023"/>
                  </a:moveTo>
                  <a:lnTo>
                    <a:pt x="0" y="0"/>
                  </a:lnTo>
                </a:path>
                <a:path h="477519">
                  <a:moveTo>
                    <a:pt x="0" y="335687"/>
                  </a:moveTo>
                  <a:lnTo>
                    <a:pt x="0" y="477288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679189" y="1821975"/>
              <a:ext cx="88900" cy="238760"/>
            </a:xfrm>
            <a:custGeom>
              <a:avLst/>
              <a:gdLst/>
              <a:ahLst/>
              <a:cxnLst/>
              <a:rect l="l" t="t" r="r" b="b"/>
              <a:pathLst>
                <a:path w="88900" h="238760">
                  <a:moveTo>
                    <a:pt x="88612" y="0"/>
                  </a:moveTo>
                  <a:lnTo>
                    <a:pt x="0" y="0"/>
                  </a:lnTo>
                  <a:lnTo>
                    <a:pt x="0" y="238663"/>
                  </a:lnTo>
                  <a:lnTo>
                    <a:pt x="88612" y="238663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679189" y="1821975"/>
              <a:ext cx="88900" cy="238760"/>
            </a:xfrm>
            <a:custGeom>
              <a:avLst/>
              <a:gdLst/>
              <a:ahLst/>
              <a:cxnLst/>
              <a:rect l="l" t="t" r="r" b="b"/>
              <a:pathLst>
                <a:path w="88900" h="238760">
                  <a:moveTo>
                    <a:pt x="0" y="0"/>
                  </a:moveTo>
                  <a:lnTo>
                    <a:pt x="0" y="238663"/>
                  </a:lnTo>
                  <a:lnTo>
                    <a:pt x="88612" y="238663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679189" y="1912991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887617" y="1866630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3333"/>
                  </a:moveTo>
                  <a:lnTo>
                    <a:pt x="0" y="0"/>
                  </a:lnTo>
                </a:path>
                <a:path h="120014">
                  <a:moveTo>
                    <a:pt x="0" y="63028"/>
                  </a:moveTo>
                  <a:lnTo>
                    <a:pt x="0" y="119389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843311" y="1869964"/>
              <a:ext cx="88900" cy="59690"/>
            </a:xfrm>
            <a:custGeom>
              <a:avLst/>
              <a:gdLst/>
              <a:ahLst/>
              <a:cxnLst/>
              <a:rect l="l" t="t" r="r" b="b"/>
              <a:pathLst>
                <a:path w="88900" h="59689">
                  <a:moveTo>
                    <a:pt x="88612" y="0"/>
                  </a:moveTo>
                  <a:lnTo>
                    <a:pt x="0" y="0"/>
                  </a:lnTo>
                  <a:lnTo>
                    <a:pt x="0" y="59694"/>
                  </a:lnTo>
                  <a:lnTo>
                    <a:pt x="88612" y="59694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843311" y="1869964"/>
              <a:ext cx="88900" cy="59690"/>
            </a:xfrm>
            <a:custGeom>
              <a:avLst/>
              <a:gdLst/>
              <a:ahLst/>
              <a:cxnLst/>
              <a:rect l="l" t="t" r="r" b="b"/>
              <a:pathLst>
                <a:path w="88900" h="59689">
                  <a:moveTo>
                    <a:pt x="0" y="0"/>
                  </a:moveTo>
                  <a:lnTo>
                    <a:pt x="0" y="59694"/>
                  </a:lnTo>
                  <a:lnTo>
                    <a:pt x="88612" y="59694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843311" y="1867328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986075" y="1801664"/>
              <a:ext cx="0" cy="75565"/>
            </a:xfrm>
            <a:custGeom>
              <a:avLst/>
              <a:gdLst/>
              <a:ahLst/>
              <a:cxnLst/>
              <a:rect l="l" t="t" r="r" b="b"/>
              <a:pathLst>
                <a:path h="75564">
                  <a:moveTo>
                    <a:pt x="0" y="9458"/>
                  </a:moveTo>
                  <a:lnTo>
                    <a:pt x="0" y="0"/>
                  </a:lnTo>
                </a:path>
                <a:path h="75564">
                  <a:moveTo>
                    <a:pt x="0" y="47096"/>
                  </a:moveTo>
                  <a:lnTo>
                    <a:pt x="0" y="75238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941769" y="1811122"/>
              <a:ext cx="88900" cy="38100"/>
            </a:xfrm>
            <a:custGeom>
              <a:avLst/>
              <a:gdLst/>
              <a:ahLst/>
              <a:cxnLst/>
              <a:rect l="l" t="t" r="r" b="b"/>
              <a:pathLst>
                <a:path w="88900" h="38100">
                  <a:moveTo>
                    <a:pt x="88612" y="0"/>
                  </a:moveTo>
                  <a:lnTo>
                    <a:pt x="0" y="0"/>
                  </a:lnTo>
                  <a:lnTo>
                    <a:pt x="0" y="37638"/>
                  </a:lnTo>
                  <a:lnTo>
                    <a:pt x="88612" y="37638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941769" y="1811122"/>
              <a:ext cx="88900" cy="38100"/>
            </a:xfrm>
            <a:custGeom>
              <a:avLst/>
              <a:gdLst/>
              <a:ahLst/>
              <a:cxnLst/>
              <a:rect l="l" t="t" r="r" b="b"/>
              <a:pathLst>
                <a:path w="88900" h="38100">
                  <a:moveTo>
                    <a:pt x="0" y="0"/>
                  </a:moveTo>
                  <a:lnTo>
                    <a:pt x="0" y="37638"/>
                  </a:lnTo>
                  <a:lnTo>
                    <a:pt x="88612" y="37638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941769" y="1814610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150197" y="1605484"/>
              <a:ext cx="0" cy="179070"/>
            </a:xfrm>
            <a:custGeom>
              <a:avLst/>
              <a:gdLst/>
              <a:ahLst/>
              <a:cxnLst/>
              <a:rect l="l" t="t" r="r" b="b"/>
              <a:pathLst>
                <a:path h="179069">
                  <a:moveTo>
                    <a:pt x="0" y="78378"/>
                  </a:moveTo>
                  <a:lnTo>
                    <a:pt x="0" y="0"/>
                  </a:lnTo>
                </a:path>
                <a:path h="179069">
                  <a:moveTo>
                    <a:pt x="0" y="167804"/>
                  </a:moveTo>
                  <a:lnTo>
                    <a:pt x="0" y="178852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105853" y="1683863"/>
              <a:ext cx="88900" cy="89535"/>
            </a:xfrm>
            <a:custGeom>
              <a:avLst/>
              <a:gdLst/>
              <a:ahLst/>
              <a:cxnLst/>
              <a:rect l="l" t="t" r="r" b="b"/>
              <a:pathLst>
                <a:path w="88900" h="89535">
                  <a:moveTo>
                    <a:pt x="88650" y="0"/>
                  </a:moveTo>
                  <a:lnTo>
                    <a:pt x="0" y="0"/>
                  </a:lnTo>
                  <a:lnTo>
                    <a:pt x="0" y="89426"/>
                  </a:lnTo>
                  <a:lnTo>
                    <a:pt x="88650" y="89426"/>
                  </a:lnTo>
                  <a:lnTo>
                    <a:pt x="88650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105853" y="1683863"/>
              <a:ext cx="88900" cy="89535"/>
            </a:xfrm>
            <a:custGeom>
              <a:avLst/>
              <a:gdLst/>
              <a:ahLst/>
              <a:cxnLst/>
              <a:rect l="l" t="t" r="r" b="b"/>
              <a:pathLst>
                <a:path w="88900" h="89535">
                  <a:moveTo>
                    <a:pt x="0" y="0"/>
                  </a:moveTo>
                  <a:lnTo>
                    <a:pt x="0" y="89426"/>
                  </a:lnTo>
                  <a:lnTo>
                    <a:pt x="88650" y="89426"/>
                  </a:lnTo>
                  <a:lnTo>
                    <a:pt x="88650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105853" y="1756233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50" y="12016"/>
                  </a:lnTo>
                  <a:lnTo>
                    <a:pt x="88650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248655" y="1811354"/>
              <a:ext cx="0" cy="194945"/>
            </a:xfrm>
            <a:custGeom>
              <a:avLst/>
              <a:gdLst/>
              <a:ahLst/>
              <a:cxnLst/>
              <a:rect l="l" t="t" r="r" b="b"/>
              <a:pathLst>
                <a:path h="194944">
                  <a:moveTo>
                    <a:pt x="0" y="48104"/>
                  </a:moveTo>
                  <a:lnTo>
                    <a:pt x="0" y="0"/>
                  </a:lnTo>
                </a:path>
                <a:path h="194944">
                  <a:moveTo>
                    <a:pt x="0" y="145322"/>
                  </a:moveTo>
                  <a:lnTo>
                    <a:pt x="0" y="194434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204349" y="1859459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89">
                  <a:moveTo>
                    <a:pt x="88612" y="0"/>
                  </a:moveTo>
                  <a:lnTo>
                    <a:pt x="0" y="0"/>
                  </a:lnTo>
                  <a:lnTo>
                    <a:pt x="0" y="97217"/>
                  </a:lnTo>
                  <a:lnTo>
                    <a:pt x="88612" y="97217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204349" y="1859459"/>
              <a:ext cx="88900" cy="97790"/>
            </a:xfrm>
            <a:custGeom>
              <a:avLst/>
              <a:gdLst/>
              <a:ahLst/>
              <a:cxnLst/>
              <a:rect l="l" t="t" r="r" b="b"/>
              <a:pathLst>
                <a:path w="88900" h="97789">
                  <a:moveTo>
                    <a:pt x="0" y="0"/>
                  </a:moveTo>
                  <a:lnTo>
                    <a:pt x="0" y="97217"/>
                  </a:lnTo>
                  <a:lnTo>
                    <a:pt x="88612" y="97217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204349" y="1901556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412778" y="1554395"/>
              <a:ext cx="0" cy="299085"/>
            </a:xfrm>
            <a:custGeom>
              <a:avLst/>
              <a:gdLst/>
              <a:ahLst/>
              <a:cxnLst/>
              <a:rect l="l" t="t" r="r" b="b"/>
              <a:pathLst>
                <a:path h="299085">
                  <a:moveTo>
                    <a:pt x="0" y="97139"/>
                  </a:moveTo>
                  <a:lnTo>
                    <a:pt x="0" y="0"/>
                  </a:lnTo>
                </a:path>
                <a:path h="299085">
                  <a:moveTo>
                    <a:pt x="0" y="246648"/>
                  </a:moveTo>
                  <a:lnTo>
                    <a:pt x="0" y="299017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368433" y="1651535"/>
              <a:ext cx="88900" cy="149860"/>
            </a:xfrm>
            <a:custGeom>
              <a:avLst/>
              <a:gdLst/>
              <a:ahLst/>
              <a:cxnLst/>
              <a:rect l="l" t="t" r="r" b="b"/>
              <a:pathLst>
                <a:path w="88900" h="149860">
                  <a:moveTo>
                    <a:pt x="88650" y="0"/>
                  </a:moveTo>
                  <a:lnTo>
                    <a:pt x="0" y="0"/>
                  </a:lnTo>
                  <a:lnTo>
                    <a:pt x="0" y="149508"/>
                  </a:lnTo>
                  <a:lnTo>
                    <a:pt x="88650" y="149508"/>
                  </a:lnTo>
                  <a:lnTo>
                    <a:pt x="88650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368433" y="1651535"/>
              <a:ext cx="88900" cy="149860"/>
            </a:xfrm>
            <a:custGeom>
              <a:avLst/>
              <a:gdLst/>
              <a:ahLst/>
              <a:cxnLst/>
              <a:rect l="l" t="t" r="r" b="b"/>
              <a:pathLst>
                <a:path w="88900" h="149860">
                  <a:moveTo>
                    <a:pt x="0" y="0"/>
                  </a:moveTo>
                  <a:lnTo>
                    <a:pt x="0" y="149508"/>
                  </a:lnTo>
                  <a:lnTo>
                    <a:pt x="88650" y="149508"/>
                  </a:lnTo>
                  <a:lnTo>
                    <a:pt x="88650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368433" y="1742705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50" y="12016"/>
                  </a:lnTo>
                  <a:lnTo>
                    <a:pt x="88650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511235" y="1522067"/>
              <a:ext cx="0" cy="724535"/>
            </a:xfrm>
            <a:custGeom>
              <a:avLst/>
              <a:gdLst/>
              <a:ahLst/>
              <a:cxnLst/>
              <a:rect l="l" t="t" r="r" b="b"/>
              <a:pathLst>
                <a:path h="724535">
                  <a:moveTo>
                    <a:pt x="0" y="251842"/>
                  </a:moveTo>
                  <a:lnTo>
                    <a:pt x="0" y="0"/>
                  </a:lnTo>
                </a:path>
                <a:path h="724535">
                  <a:moveTo>
                    <a:pt x="0" y="614043"/>
                  </a:moveTo>
                  <a:lnTo>
                    <a:pt x="0" y="724363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466929" y="1773909"/>
              <a:ext cx="88900" cy="362585"/>
            </a:xfrm>
            <a:custGeom>
              <a:avLst/>
              <a:gdLst/>
              <a:ahLst/>
              <a:cxnLst/>
              <a:rect l="l" t="t" r="r" b="b"/>
              <a:pathLst>
                <a:path w="88900" h="362585">
                  <a:moveTo>
                    <a:pt x="88612" y="0"/>
                  </a:moveTo>
                  <a:lnTo>
                    <a:pt x="0" y="0"/>
                  </a:lnTo>
                  <a:lnTo>
                    <a:pt x="0" y="362200"/>
                  </a:lnTo>
                  <a:lnTo>
                    <a:pt x="88612" y="362200"/>
                  </a:lnTo>
                  <a:lnTo>
                    <a:pt x="88612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466929" y="1773909"/>
              <a:ext cx="88900" cy="362585"/>
            </a:xfrm>
            <a:custGeom>
              <a:avLst/>
              <a:gdLst/>
              <a:ahLst/>
              <a:cxnLst/>
              <a:rect l="l" t="t" r="r" b="b"/>
              <a:pathLst>
                <a:path w="88900" h="362585">
                  <a:moveTo>
                    <a:pt x="0" y="0"/>
                  </a:moveTo>
                  <a:lnTo>
                    <a:pt x="0" y="362200"/>
                  </a:lnTo>
                  <a:lnTo>
                    <a:pt x="88612" y="362200"/>
                  </a:lnTo>
                  <a:lnTo>
                    <a:pt x="88612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466929" y="2019783"/>
              <a:ext cx="88900" cy="12065"/>
            </a:xfrm>
            <a:custGeom>
              <a:avLst/>
              <a:gdLst/>
              <a:ahLst/>
              <a:cxnLst/>
              <a:rect l="l" t="t" r="r" b="b"/>
              <a:pathLst>
                <a:path w="88900" h="12064">
                  <a:moveTo>
                    <a:pt x="0" y="12016"/>
                  </a:moveTo>
                  <a:lnTo>
                    <a:pt x="88612" y="12016"/>
                  </a:lnTo>
                  <a:lnTo>
                    <a:pt x="88612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711448" y="1293651"/>
            <a:ext cx="446405" cy="100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" b="1" dirty="0">
                <a:solidFill>
                  <a:srgbClr val="1A1A1A"/>
                </a:solidFill>
                <a:latin typeface="Arial"/>
                <a:cs typeface="Arial"/>
              </a:rPr>
              <a:t>Mullica</a:t>
            </a:r>
            <a:r>
              <a:rPr sz="450" b="1" spc="13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450" b="1" spc="-10" dirty="0">
                <a:solidFill>
                  <a:srgbClr val="1A1A1A"/>
                </a:solidFill>
                <a:latin typeface="Arial"/>
                <a:cs typeface="Arial"/>
              </a:rPr>
              <a:t>Queen</a:t>
            </a:r>
            <a:endParaRPr sz="4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936977" y="1293651"/>
            <a:ext cx="262890" cy="100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" b="1" spc="-10" dirty="0">
                <a:solidFill>
                  <a:srgbClr val="1A1A1A"/>
                </a:solidFill>
                <a:latin typeface="Arial"/>
                <a:cs typeface="Arial"/>
              </a:rPr>
              <a:t>Stevens</a:t>
            </a:r>
            <a:endParaRPr sz="4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11043" y="2287649"/>
            <a:ext cx="5905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A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73623" y="2287649"/>
            <a:ext cx="32321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3685" algn="l"/>
              </a:tabLst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B</a:t>
            </a:r>
            <a:r>
              <a:rPr sz="400" dirty="0">
                <a:solidFill>
                  <a:srgbClr val="4D4D4D"/>
                </a:solidFill>
                <a:latin typeface="Microsoft Sans Serif"/>
                <a:cs typeface="Microsoft Sans Serif"/>
              </a:rPr>
              <a:t>	</a:t>
            </a: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C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297388" y="2287649"/>
            <a:ext cx="9334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9410" algn="l"/>
                <a:tab pos="622300" algn="l"/>
                <a:tab pos="883285" algn="l"/>
              </a:tabLst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D</a:t>
            </a:r>
            <a:r>
              <a:rPr sz="400" dirty="0">
                <a:solidFill>
                  <a:srgbClr val="4D4D4D"/>
                </a:solidFill>
                <a:latin typeface="Microsoft Sans Serif"/>
                <a:cs typeface="Microsoft Sans Serif"/>
              </a:rPr>
              <a:t>	</a:t>
            </a: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A</a:t>
            </a:r>
            <a:r>
              <a:rPr sz="400" dirty="0">
                <a:solidFill>
                  <a:srgbClr val="4D4D4D"/>
                </a:solidFill>
                <a:latin typeface="Microsoft Sans Serif"/>
                <a:cs typeface="Microsoft Sans Serif"/>
              </a:rPr>
              <a:t>	</a:t>
            </a: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B</a:t>
            </a:r>
            <a:r>
              <a:rPr sz="400" dirty="0">
                <a:solidFill>
                  <a:srgbClr val="4D4D4D"/>
                </a:solidFill>
                <a:latin typeface="Microsoft Sans Serif"/>
                <a:cs typeface="Microsoft Sans Serif"/>
              </a:rPr>
              <a:t>	</a:t>
            </a: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C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431088" y="2287649"/>
            <a:ext cx="6223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D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58425" y="2209387"/>
            <a:ext cx="10985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solidFill>
                  <a:srgbClr val="4D4D4D"/>
                </a:solidFill>
                <a:latin typeface="Microsoft Sans Serif"/>
                <a:cs typeface="Microsoft Sans Serif"/>
              </a:rPr>
              <a:t>500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58425" y="2000997"/>
            <a:ext cx="10985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solidFill>
                  <a:srgbClr val="4D4D4D"/>
                </a:solidFill>
                <a:latin typeface="Microsoft Sans Serif"/>
                <a:cs typeface="Microsoft Sans Serif"/>
              </a:rPr>
              <a:t>700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58425" y="1792646"/>
            <a:ext cx="10985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solidFill>
                  <a:srgbClr val="4D4D4D"/>
                </a:solidFill>
                <a:latin typeface="Microsoft Sans Serif"/>
                <a:cs typeface="Microsoft Sans Serif"/>
              </a:rPr>
              <a:t>900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30399" y="1584257"/>
            <a:ext cx="13779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0" dirty="0">
                <a:solidFill>
                  <a:srgbClr val="4D4D4D"/>
                </a:solidFill>
                <a:latin typeface="Microsoft Sans Serif"/>
                <a:cs typeface="Microsoft Sans Serif"/>
              </a:rPr>
              <a:t>1100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30399" y="1375906"/>
            <a:ext cx="13779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0" dirty="0">
                <a:solidFill>
                  <a:srgbClr val="4D4D4D"/>
                </a:solidFill>
                <a:latin typeface="Microsoft Sans Serif"/>
                <a:cs typeface="Microsoft Sans Serif"/>
              </a:rPr>
              <a:t>1300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75686" y="2347073"/>
            <a:ext cx="1251585" cy="100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" dirty="0">
                <a:latin typeface="Microsoft Sans Serif"/>
                <a:cs typeface="Microsoft Sans Serif"/>
              </a:rPr>
              <a:t>Treatment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(A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=</a:t>
            </a:r>
            <a:r>
              <a:rPr sz="450" spc="55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4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pulses,</a:t>
            </a:r>
            <a:r>
              <a:rPr sz="450" spc="55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B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=</a:t>
            </a:r>
            <a:r>
              <a:rPr sz="450" spc="55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3,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C</a:t>
            </a:r>
            <a:r>
              <a:rPr sz="450" spc="55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=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2,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D</a:t>
            </a:r>
            <a:r>
              <a:rPr sz="450" spc="55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=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spc="-25" dirty="0">
                <a:latin typeface="Microsoft Sans Serif"/>
                <a:cs typeface="Microsoft Sans Serif"/>
              </a:rPr>
              <a:t>1)</a:t>
            </a:r>
            <a:endParaRPr sz="45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45182" y="1504570"/>
            <a:ext cx="95250" cy="677545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dirty="0">
                <a:latin typeface="Microsoft Sans Serif"/>
                <a:cs typeface="Microsoft Sans Serif"/>
              </a:rPr>
              <a:t>Healthy</a:t>
            </a:r>
            <a:r>
              <a:rPr sz="450" spc="105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Fruit</a:t>
            </a:r>
            <a:r>
              <a:rPr sz="450" spc="11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Weight</a:t>
            </a:r>
            <a:r>
              <a:rPr sz="450" spc="110" dirty="0">
                <a:latin typeface="Microsoft Sans Serif"/>
                <a:cs typeface="Microsoft Sans Serif"/>
              </a:rPr>
              <a:t> </a:t>
            </a:r>
            <a:r>
              <a:rPr sz="450" spc="-25" dirty="0">
                <a:latin typeface="Microsoft Sans Serif"/>
                <a:cs typeface="Microsoft Sans Serif"/>
              </a:rPr>
              <a:t>(g)</a:t>
            </a:r>
            <a:endParaRPr sz="450">
              <a:latin typeface="Microsoft Sans Serif"/>
              <a:cs typeface="Microsoft Sans Serif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064118" y="2531822"/>
            <a:ext cx="56515" cy="59690"/>
            <a:chOff x="1064118" y="2531822"/>
            <a:chExt cx="56515" cy="59690"/>
          </a:xfrm>
        </p:grpSpPr>
        <p:sp>
          <p:nvSpPr>
            <p:cNvPr id="87" name="object 87"/>
            <p:cNvSpPr/>
            <p:nvPr/>
          </p:nvSpPr>
          <p:spPr>
            <a:xfrm>
              <a:off x="1092240" y="2534826"/>
              <a:ext cx="0" cy="53975"/>
            </a:xfrm>
            <a:custGeom>
              <a:avLst/>
              <a:gdLst/>
              <a:ahLst/>
              <a:cxnLst/>
              <a:rect l="l" t="t" r="r" b="b"/>
              <a:pathLst>
                <a:path h="53975">
                  <a:moveTo>
                    <a:pt x="0" y="53570"/>
                  </a:moveTo>
                  <a:lnTo>
                    <a:pt x="0" y="43530"/>
                  </a:lnTo>
                </a:path>
                <a:path h="53975">
                  <a:moveTo>
                    <a:pt x="0" y="10039"/>
                  </a:moveTo>
                  <a:lnTo>
                    <a:pt x="0" y="0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067122" y="2544865"/>
              <a:ext cx="50800" cy="33655"/>
            </a:xfrm>
            <a:custGeom>
              <a:avLst/>
              <a:gdLst/>
              <a:ahLst/>
              <a:cxnLst/>
              <a:rect l="l" t="t" r="r" b="b"/>
              <a:pathLst>
                <a:path w="50800" h="33655">
                  <a:moveTo>
                    <a:pt x="50236" y="0"/>
                  </a:moveTo>
                  <a:lnTo>
                    <a:pt x="0" y="0"/>
                  </a:lnTo>
                  <a:lnTo>
                    <a:pt x="0" y="33491"/>
                  </a:lnTo>
                  <a:lnTo>
                    <a:pt x="50236" y="33491"/>
                  </a:lnTo>
                  <a:lnTo>
                    <a:pt x="50236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067122" y="2544865"/>
              <a:ext cx="50800" cy="33655"/>
            </a:xfrm>
            <a:custGeom>
              <a:avLst/>
              <a:gdLst/>
              <a:ahLst/>
              <a:cxnLst/>
              <a:rect l="l" t="t" r="r" b="b"/>
              <a:pathLst>
                <a:path w="50800" h="33655">
                  <a:moveTo>
                    <a:pt x="0" y="33491"/>
                  </a:moveTo>
                  <a:lnTo>
                    <a:pt x="50236" y="33491"/>
                  </a:lnTo>
                  <a:lnTo>
                    <a:pt x="50236" y="0"/>
                  </a:lnTo>
                  <a:lnTo>
                    <a:pt x="0" y="0"/>
                  </a:lnTo>
                  <a:lnTo>
                    <a:pt x="0" y="33491"/>
                  </a:lnTo>
                  <a:close/>
                </a:path>
                <a:path w="50800" h="33655">
                  <a:moveTo>
                    <a:pt x="0" y="16745"/>
                  </a:moveTo>
                  <a:lnTo>
                    <a:pt x="50236" y="16745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089228" y="2531833"/>
              <a:ext cx="6350" cy="59690"/>
            </a:xfrm>
            <a:custGeom>
              <a:avLst/>
              <a:gdLst/>
              <a:ahLst/>
              <a:cxnLst/>
              <a:rect l="l" t="t" r="r" b="b"/>
              <a:pathLst>
                <a:path w="6350" h="59689">
                  <a:moveTo>
                    <a:pt x="6007" y="56565"/>
                  </a:moveTo>
                  <a:lnTo>
                    <a:pt x="5130" y="54444"/>
                  </a:lnTo>
                  <a:lnTo>
                    <a:pt x="3009" y="53568"/>
                  </a:lnTo>
                  <a:lnTo>
                    <a:pt x="876" y="54444"/>
                  </a:lnTo>
                  <a:lnTo>
                    <a:pt x="0" y="56565"/>
                  </a:lnTo>
                  <a:lnTo>
                    <a:pt x="876" y="58699"/>
                  </a:lnTo>
                  <a:lnTo>
                    <a:pt x="3009" y="59575"/>
                  </a:lnTo>
                  <a:lnTo>
                    <a:pt x="5130" y="58699"/>
                  </a:lnTo>
                  <a:lnTo>
                    <a:pt x="6007" y="56565"/>
                  </a:lnTo>
                  <a:close/>
                </a:path>
                <a:path w="6350" h="59689">
                  <a:moveTo>
                    <a:pt x="6007" y="2997"/>
                  </a:moveTo>
                  <a:lnTo>
                    <a:pt x="5130" y="876"/>
                  </a:lnTo>
                  <a:lnTo>
                    <a:pt x="3009" y="0"/>
                  </a:lnTo>
                  <a:lnTo>
                    <a:pt x="876" y="876"/>
                  </a:lnTo>
                  <a:lnTo>
                    <a:pt x="0" y="2997"/>
                  </a:lnTo>
                  <a:lnTo>
                    <a:pt x="876" y="5118"/>
                  </a:lnTo>
                  <a:lnTo>
                    <a:pt x="3009" y="6007"/>
                  </a:lnTo>
                  <a:lnTo>
                    <a:pt x="5130" y="5118"/>
                  </a:lnTo>
                  <a:lnTo>
                    <a:pt x="6007" y="2997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" name="object 91"/>
          <p:cNvGrpSpPr/>
          <p:nvPr/>
        </p:nvGrpSpPr>
        <p:grpSpPr>
          <a:xfrm>
            <a:off x="1355305" y="2531822"/>
            <a:ext cx="56515" cy="59690"/>
            <a:chOff x="1355305" y="2531822"/>
            <a:chExt cx="56515" cy="59690"/>
          </a:xfrm>
        </p:grpSpPr>
        <p:sp>
          <p:nvSpPr>
            <p:cNvPr id="92" name="object 92"/>
            <p:cNvSpPr/>
            <p:nvPr/>
          </p:nvSpPr>
          <p:spPr>
            <a:xfrm>
              <a:off x="1383428" y="2534826"/>
              <a:ext cx="0" cy="53975"/>
            </a:xfrm>
            <a:custGeom>
              <a:avLst/>
              <a:gdLst/>
              <a:ahLst/>
              <a:cxnLst/>
              <a:rect l="l" t="t" r="r" b="b"/>
              <a:pathLst>
                <a:path h="53975">
                  <a:moveTo>
                    <a:pt x="0" y="53570"/>
                  </a:moveTo>
                  <a:lnTo>
                    <a:pt x="0" y="43530"/>
                  </a:lnTo>
                </a:path>
                <a:path h="53975">
                  <a:moveTo>
                    <a:pt x="0" y="10039"/>
                  </a:moveTo>
                  <a:lnTo>
                    <a:pt x="0" y="0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358309" y="2544865"/>
              <a:ext cx="50800" cy="33655"/>
            </a:xfrm>
            <a:custGeom>
              <a:avLst/>
              <a:gdLst/>
              <a:ahLst/>
              <a:cxnLst/>
              <a:rect l="l" t="t" r="r" b="b"/>
              <a:pathLst>
                <a:path w="50800" h="33655">
                  <a:moveTo>
                    <a:pt x="50236" y="0"/>
                  </a:moveTo>
                  <a:lnTo>
                    <a:pt x="0" y="0"/>
                  </a:lnTo>
                  <a:lnTo>
                    <a:pt x="0" y="33491"/>
                  </a:lnTo>
                  <a:lnTo>
                    <a:pt x="50236" y="33491"/>
                  </a:lnTo>
                  <a:lnTo>
                    <a:pt x="50236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358309" y="2544865"/>
              <a:ext cx="50800" cy="33655"/>
            </a:xfrm>
            <a:custGeom>
              <a:avLst/>
              <a:gdLst/>
              <a:ahLst/>
              <a:cxnLst/>
              <a:rect l="l" t="t" r="r" b="b"/>
              <a:pathLst>
                <a:path w="50800" h="33655">
                  <a:moveTo>
                    <a:pt x="0" y="33491"/>
                  </a:moveTo>
                  <a:lnTo>
                    <a:pt x="50236" y="33491"/>
                  </a:lnTo>
                  <a:lnTo>
                    <a:pt x="50236" y="0"/>
                  </a:lnTo>
                  <a:lnTo>
                    <a:pt x="0" y="0"/>
                  </a:lnTo>
                  <a:lnTo>
                    <a:pt x="0" y="33491"/>
                  </a:lnTo>
                  <a:close/>
                </a:path>
                <a:path w="50800" h="33655">
                  <a:moveTo>
                    <a:pt x="0" y="16745"/>
                  </a:moveTo>
                  <a:lnTo>
                    <a:pt x="50236" y="16745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380413" y="2531833"/>
              <a:ext cx="6350" cy="59690"/>
            </a:xfrm>
            <a:custGeom>
              <a:avLst/>
              <a:gdLst/>
              <a:ahLst/>
              <a:cxnLst/>
              <a:rect l="l" t="t" r="r" b="b"/>
              <a:pathLst>
                <a:path w="6350" h="59689">
                  <a:moveTo>
                    <a:pt x="6007" y="56565"/>
                  </a:moveTo>
                  <a:lnTo>
                    <a:pt x="5130" y="54444"/>
                  </a:lnTo>
                  <a:lnTo>
                    <a:pt x="3009" y="53568"/>
                  </a:lnTo>
                  <a:lnTo>
                    <a:pt x="889" y="54444"/>
                  </a:lnTo>
                  <a:lnTo>
                    <a:pt x="0" y="56565"/>
                  </a:lnTo>
                  <a:lnTo>
                    <a:pt x="889" y="58699"/>
                  </a:lnTo>
                  <a:lnTo>
                    <a:pt x="3009" y="59575"/>
                  </a:lnTo>
                  <a:lnTo>
                    <a:pt x="5130" y="58699"/>
                  </a:lnTo>
                  <a:lnTo>
                    <a:pt x="6007" y="56565"/>
                  </a:lnTo>
                  <a:close/>
                </a:path>
                <a:path w="6350" h="59689">
                  <a:moveTo>
                    <a:pt x="6007" y="2997"/>
                  </a:moveTo>
                  <a:lnTo>
                    <a:pt x="5130" y="876"/>
                  </a:lnTo>
                  <a:lnTo>
                    <a:pt x="3009" y="0"/>
                  </a:lnTo>
                  <a:lnTo>
                    <a:pt x="889" y="876"/>
                  </a:lnTo>
                  <a:lnTo>
                    <a:pt x="0" y="2997"/>
                  </a:lnTo>
                  <a:lnTo>
                    <a:pt x="889" y="5118"/>
                  </a:lnTo>
                  <a:lnTo>
                    <a:pt x="3009" y="6007"/>
                  </a:lnTo>
                  <a:lnTo>
                    <a:pt x="5130" y="5118"/>
                  </a:lnTo>
                  <a:lnTo>
                    <a:pt x="6007" y="2997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1143926" y="2516621"/>
            <a:ext cx="81280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3530" algn="l"/>
              </a:tabLst>
            </a:pPr>
            <a:r>
              <a:rPr sz="400" spc="-10" dirty="0">
                <a:latin typeface="Microsoft Sans Serif"/>
                <a:cs typeface="Microsoft Sans Serif"/>
              </a:rPr>
              <a:t>Control</a:t>
            </a:r>
            <a:r>
              <a:rPr sz="400" dirty="0">
                <a:latin typeface="Microsoft Sans Serif"/>
                <a:cs typeface="Microsoft Sans Serif"/>
              </a:rPr>
              <a:t>	Heat</a:t>
            </a:r>
            <a:r>
              <a:rPr sz="400" spc="-30" dirty="0">
                <a:latin typeface="Microsoft Sans Serif"/>
                <a:cs typeface="Microsoft Sans Serif"/>
              </a:rPr>
              <a:t> </a:t>
            </a:r>
            <a:r>
              <a:rPr sz="400" spc="-10" dirty="0">
                <a:latin typeface="Microsoft Sans Serif"/>
                <a:cs typeface="Microsoft Sans Serif"/>
              </a:rPr>
              <a:t>Treatment</a:t>
            </a:r>
            <a:r>
              <a:rPr sz="400" spc="-15" dirty="0">
                <a:latin typeface="Microsoft Sans Serif"/>
                <a:cs typeface="Microsoft Sans Serif"/>
              </a:rPr>
              <a:t> </a:t>
            </a:r>
            <a:r>
              <a:rPr sz="400" spc="-10" dirty="0">
                <a:latin typeface="Microsoft Sans Serif"/>
                <a:cs typeface="Microsoft Sans Serif"/>
              </a:rPr>
              <a:t>(OTC)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346460" y="3332810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Trebuchet MS"/>
                <a:cs typeface="Trebuchet MS"/>
              </a:rPr>
              <a:t>3</a:t>
            </a:r>
            <a:r>
              <a:rPr sz="600" spc="30" dirty="0">
                <a:latin typeface="Trebuchet MS"/>
                <a:cs typeface="Trebuchet MS"/>
              </a:rPr>
              <a:t> </a:t>
            </a:r>
            <a:r>
              <a:rPr sz="600" dirty="0">
                <a:latin typeface="Trebuchet MS"/>
                <a:cs typeface="Trebuchet MS"/>
              </a:rPr>
              <a:t>/</a:t>
            </a:r>
            <a:r>
              <a:rPr sz="600" spc="35" dirty="0">
                <a:latin typeface="Trebuchet MS"/>
                <a:cs typeface="Trebuchet MS"/>
              </a:rPr>
              <a:t> </a:t>
            </a:r>
            <a:r>
              <a:rPr sz="600" spc="-25" dirty="0">
                <a:latin typeface="Trebuchet MS"/>
                <a:cs typeface="Trebuchet MS"/>
              </a:rPr>
              <a:t>10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930144" y="1122888"/>
            <a:ext cx="1405255" cy="1391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8910" marR="36830" indent="-131445">
              <a:lnSpc>
                <a:spcPct val="100000"/>
              </a:lnSpc>
              <a:spcBef>
                <a:spcPts val="95"/>
              </a:spcBef>
              <a:buClr>
                <a:srgbClr val="990000"/>
              </a:buClr>
              <a:buFont typeface="Verdana"/>
              <a:buChar char="•"/>
              <a:tabLst>
                <a:tab pos="170180" algn="l"/>
              </a:tabLst>
            </a:pPr>
            <a:r>
              <a:rPr sz="1000" dirty="0">
                <a:latin typeface="Tahoma"/>
                <a:cs typeface="Tahoma"/>
              </a:rPr>
              <a:t>OTC</a:t>
            </a:r>
            <a:r>
              <a:rPr sz="1000" spc="1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(orange) 	</a:t>
            </a:r>
            <a:r>
              <a:rPr sz="1000" spc="-30" dirty="0">
                <a:latin typeface="Tahoma"/>
                <a:cs typeface="Tahoma"/>
              </a:rPr>
              <a:t>consistently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yields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b="1" spc="-85" dirty="0">
                <a:latin typeface="Arial"/>
                <a:cs typeface="Arial"/>
              </a:rPr>
              <a:t>less</a:t>
            </a:r>
            <a:r>
              <a:rPr sz="1000" b="1" spc="-20" dirty="0">
                <a:latin typeface="Arial"/>
                <a:cs typeface="Arial"/>
              </a:rPr>
              <a:t> 	</a:t>
            </a:r>
            <a:r>
              <a:rPr sz="1000" spc="-20" dirty="0">
                <a:latin typeface="Tahoma"/>
                <a:cs typeface="Tahoma"/>
              </a:rPr>
              <a:t>than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Control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(blue).</a:t>
            </a:r>
            <a:endParaRPr sz="1000">
              <a:latin typeface="Tahoma"/>
              <a:cs typeface="Tahoma"/>
            </a:endParaRPr>
          </a:p>
          <a:p>
            <a:pPr marL="169545" indent="-131445">
              <a:lnSpc>
                <a:spcPts val="1200"/>
              </a:lnSpc>
              <a:spcBef>
                <a:spcPts val="585"/>
              </a:spcBef>
              <a:buClr>
                <a:srgbClr val="990000"/>
              </a:buClr>
              <a:buFont typeface="Verdana"/>
              <a:buChar char="•"/>
              <a:tabLst>
                <a:tab pos="169545" algn="l"/>
              </a:tabLst>
            </a:pPr>
            <a:r>
              <a:rPr sz="1000" dirty="0">
                <a:latin typeface="Tahoma"/>
                <a:cs typeface="Tahoma"/>
              </a:rPr>
              <a:t>Mean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reduction: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Arial"/>
                <a:cs typeface="Arial"/>
              </a:rPr>
              <a:t>155g</a:t>
            </a:r>
            <a:endParaRPr sz="1000">
              <a:latin typeface="Arial"/>
              <a:cs typeface="Arial"/>
            </a:endParaRPr>
          </a:p>
          <a:p>
            <a:pPr marL="170180">
              <a:lnSpc>
                <a:spcPts val="1200"/>
              </a:lnSpc>
            </a:pPr>
            <a:r>
              <a:rPr sz="1000" spc="-20" dirty="0">
                <a:latin typeface="Tahoma"/>
                <a:cs typeface="Tahoma"/>
              </a:rPr>
              <a:t>per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plot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(</a:t>
            </a:r>
            <a:r>
              <a:rPr sz="1000" i="1" spc="-65" dirty="0">
                <a:latin typeface="Verdana"/>
                <a:cs typeface="Verdana"/>
              </a:rPr>
              <a:t>p</a:t>
            </a:r>
            <a:r>
              <a:rPr sz="1000" i="1" spc="-75" dirty="0">
                <a:latin typeface="Verdana"/>
                <a:cs typeface="Verdana"/>
              </a:rPr>
              <a:t> </a:t>
            </a:r>
            <a:r>
              <a:rPr sz="1000" spc="270" dirty="0">
                <a:latin typeface="Calibri"/>
                <a:cs typeface="Calibri"/>
              </a:rPr>
              <a:t>=</a:t>
            </a:r>
            <a:r>
              <a:rPr sz="1000" spc="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0</a:t>
            </a:r>
            <a:r>
              <a:rPr sz="1000" i="1" spc="-10" dirty="0">
                <a:latin typeface="Verdana"/>
                <a:cs typeface="Verdana"/>
              </a:rPr>
              <a:t>.</a:t>
            </a:r>
            <a:r>
              <a:rPr sz="1000" spc="-10" dirty="0">
                <a:latin typeface="Calibri"/>
                <a:cs typeface="Calibri"/>
              </a:rPr>
              <a:t>001</a:t>
            </a:r>
            <a:r>
              <a:rPr sz="1000" spc="-10" dirty="0">
                <a:latin typeface="Tahoma"/>
                <a:cs typeface="Tahoma"/>
              </a:rPr>
              <a:t>).</a:t>
            </a:r>
            <a:endParaRPr sz="1000">
              <a:latin typeface="Tahoma"/>
              <a:cs typeface="Tahoma"/>
            </a:endParaRPr>
          </a:p>
          <a:p>
            <a:pPr marL="168910" marR="38100" indent="-131445">
              <a:lnSpc>
                <a:spcPct val="100000"/>
              </a:lnSpc>
              <a:spcBef>
                <a:spcPts val="590"/>
              </a:spcBef>
              <a:buClr>
                <a:srgbClr val="990000"/>
              </a:buClr>
              <a:buFont typeface="Verdana"/>
              <a:buChar char="•"/>
              <a:tabLst>
                <a:tab pos="170180" algn="l"/>
              </a:tabLst>
            </a:pPr>
            <a:r>
              <a:rPr sz="1000" dirty="0">
                <a:latin typeface="Tahoma"/>
                <a:cs typeface="Tahoma"/>
              </a:rPr>
              <a:t>No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dose–response:</a:t>
            </a:r>
            <a:r>
              <a:rPr sz="1000" spc="1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1 	</a:t>
            </a:r>
            <a:r>
              <a:rPr sz="1000" spc="-35" dirty="0">
                <a:latin typeface="Tahoma"/>
                <a:cs typeface="Tahoma"/>
              </a:rPr>
              <a:t>pulse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causes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 </a:t>
            </a:r>
            <a:r>
              <a:rPr sz="1000" b="1" spc="-60" dirty="0">
                <a:latin typeface="Arial"/>
                <a:cs typeface="Arial"/>
              </a:rPr>
              <a:t>same 	</a:t>
            </a:r>
            <a:r>
              <a:rPr sz="1000" b="1" spc="-30" dirty="0">
                <a:latin typeface="Arial"/>
                <a:cs typeface="Arial"/>
              </a:rPr>
              <a:t>damage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Tahoma"/>
                <a:cs typeface="Tahoma"/>
              </a:rPr>
              <a:t>as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4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pulses.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00444" y="2712257"/>
            <a:ext cx="39795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434079" algn="l"/>
              </a:tabLst>
            </a:pPr>
            <a:r>
              <a:rPr sz="900" b="1" dirty="0">
                <a:latin typeface="Arial"/>
                <a:cs typeface="Arial"/>
              </a:rPr>
              <a:t>Model</a:t>
            </a:r>
            <a:r>
              <a:rPr sz="900" dirty="0">
                <a:latin typeface="Tahoma"/>
                <a:cs typeface="Tahoma"/>
              </a:rPr>
              <a:t>:</a:t>
            </a:r>
            <a:r>
              <a:rPr sz="900" spc="10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Healthy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weight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265" dirty="0">
                <a:latin typeface="Calibri"/>
                <a:cs typeface="Calibri"/>
              </a:rPr>
              <a:t>=</a:t>
            </a:r>
            <a:r>
              <a:rPr sz="900" spc="4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1011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i="1" spc="-30" dirty="0">
                <a:latin typeface="Verdana"/>
                <a:cs typeface="Verdana"/>
              </a:rPr>
              <a:t>−</a:t>
            </a:r>
            <a:r>
              <a:rPr sz="900" i="1" spc="-114" dirty="0">
                <a:latin typeface="Verdana"/>
                <a:cs typeface="Verdana"/>
              </a:rPr>
              <a:t> </a:t>
            </a:r>
            <a:r>
              <a:rPr sz="900" dirty="0">
                <a:latin typeface="Calibri"/>
                <a:cs typeface="Calibri"/>
              </a:rPr>
              <a:t>155 </a:t>
            </a:r>
            <a:r>
              <a:rPr sz="900" i="1" spc="-30" dirty="0">
                <a:latin typeface="Verdana"/>
                <a:cs typeface="Verdana"/>
              </a:rPr>
              <a:t>×</a:t>
            </a:r>
            <a:r>
              <a:rPr sz="900" i="1" spc="-114" dirty="0">
                <a:latin typeface="Verdana"/>
                <a:cs typeface="Verdana"/>
              </a:rPr>
              <a:t> </a:t>
            </a:r>
            <a:r>
              <a:rPr sz="900" spc="-10" dirty="0">
                <a:latin typeface="Tahoma"/>
                <a:cs typeface="Tahoma"/>
              </a:rPr>
              <a:t>Heat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spc="-30" dirty="0">
                <a:latin typeface="Verdana"/>
                <a:cs typeface="Verdana"/>
              </a:rPr>
              <a:t>−</a:t>
            </a:r>
            <a:r>
              <a:rPr sz="900" i="1" spc="-114" dirty="0">
                <a:latin typeface="Verdana"/>
                <a:cs typeface="Verdana"/>
              </a:rPr>
              <a:t> </a:t>
            </a:r>
            <a:r>
              <a:rPr sz="900" dirty="0">
                <a:latin typeface="Calibri"/>
                <a:cs typeface="Calibri"/>
              </a:rPr>
              <a:t>69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i="1" spc="-30" dirty="0">
                <a:latin typeface="Verdana"/>
                <a:cs typeface="Verdana"/>
              </a:rPr>
              <a:t>×</a:t>
            </a:r>
            <a:r>
              <a:rPr sz="900" i="1" spc="-114" dirty="0">
                <a:latin typeface="Verdana"/>
                <a:cs typeface="Verdana"/>
              </a:rPr>
              <a:t> </a:t>
            </a:r>
            <a:r>
              <a:rPr sz="900" spc="-40" dirty="0">
                <a:latin typeface="Tahoma"/>
                <a:cs typeface="Tahoma"/>
              </a:rPr>
              <a:t>Stevens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spc="265" dirty="0">
                <a:latin typeface="Calibri"/>
                <a:cs typeface="Calibri"/>
              </a:rPr>
              <a:t>+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i="1" spc="-25" dirty="0">
                <a:latin typeface="Arial"/>
                <a:cs typeface="Arial"/>
              </a:rPr>
              <a:t>ε</a:t>
            </a:r>
            <a:r>
              <a:rPr sz="900" spc="-25" dirty="0">
                <a:latin typeface="Tahoma"/>
                <a:cs typeface="Tahoma"/>
              </a:rPr>
              <a:t>,</a:t>
            </a:r>
            <a:r>
              <a:rPr sz="900" dirty="0">
                <a:latin typeface="Tahoma"/>
                <a:cs typeface="Tahoma"/>
              </a:rPr>
              <a:t>	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baseline="37037" dirty="0">
                <a:latin typeface="Comic Sans MS"/>
                <a:cs typeface="Comic Sans MS"/>
              </a:rPr>
              <a:t>2</a:t>
            </a:r>
            <a:r>
              <a:rPr sz="900" spc="217" baseline="37037" dirty="0">
                <a:latin typeface="Comic Sans MS"/>
                <a:cs typeface="Comic Sans MS"/>
              </a:rPr>
              <a:t> </a:t>
            </a:r>
            <a:r>
              <a:rPr sz="900" spc="265" dirty="0">
                <a:latin typeface="Calibri"/>
                <a:cs typeface="Calibri"/>
              </a:rPr>
              <a:t>=</a:t>
            </a:r>
            <a:r>
              <a:rPr sz="900" spc="75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0</a:t>
            </a:r>
            <a:r>
              <a:rPr sz="900" i="1" spc="-20" dirty="0">
                <a:latin typeface="Arial"/>
                <a:cs typeface="Arial"/>
              </a:rPr>
              <a:t>.</a:t>
            </a:r>
            <a:r>
              <a:rPr sz="900" spc="-20" dirty="0">
                <a:latin typeface="Calibri"/>
                <a:cs typeface="Calibri"/>
              </a:rPr>
              <a:t>29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221" y="88160"/>
            <a:ext cx="34925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Yield</a:t>
            </a:r>
            <a:r>
              <a:rPr spc="-45" dirty="0"/>
              <a:t> </a:t>
            </a:r>
            <a:r>
              <a:rPr spc="-30" dirty="0"/>
              <a:t>Analysis:</a:t>
            </a:r>
            <a:r>
              <a:rPr spc="100" dirty="0"/>
              <a:t> </a:t>
            </a:r>
            <a:r>
              <a:rPr dirty="0"/>
              <a:t>Acute</a:t>
            </a:r>
            <a:r>
              <a:rPr spc="-30" dirty="0"/>
              <a:t> </a:t>
            </a:r>
            <a:r>
              <a:rPr dirty="0"/>
              <a:t>Heat</a:t>
            </a:r>
            <a:r>
              <a:rPr spc="-35" dirty="0"/>
              <a:t> </a:t>
            </a:r>
            <a:r>
              <a:rPr spc="-85" dirty="0"/>
              <a:t>Increases</a:t>
            </a:r>
            <a:r>
              <a:rPr spc="-25" dirty="0"/>
              <a:t> </a:t>
            </a:r>
            <a:r>
              <a:rPr dirty="0"/>
              <a:t>Fruit</a:t>
            </a:r>
            <a:r>
              <a:rPr spc="-30" dirty="0"/>
              <a:t> </a:t>
            </a:r>
            <a:r>
              <a:rPr spc="-25" dirty="0"/>
              <a:t>Rot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75086" y="66886"/>
            <a:ext cx="133985" cy="216535"/>
            <a:chOff x="4275086" y="66886"/>
            <a:chExt cx="133985" cy="216535"/>
          </a:xfrm>
        </p:grpSpPr>
        <p:sp>
          <p:nvSpPr>
            <p:cNvPr id="4" name="object 4"/>
            <p:cNvSpPr/>
            <p:nvPr/>
          </p:nvSpPr>
          <p:spPr>
            <a:xfrm>
              <a:off x="4275086" y="66886"/>
              <a:ext cx="133985" cy="216535"/>
            </a:xfrm>
            <a:custGeom>
              <a:avLst/>
              <a:gdLst/>
              <a:ahLst/>
              <a:cxnLst/>
              <a:rect l="l" t="t" r="r" b="b"/>
              <a:pathLst>
                <a:path w="133985" h="216535">
                  <a:moveTo>
                    <a:pt x="75562" y="0"/>
                  </a:moveTo>
                  <a:lnTo>
                    <a:pt x="67666" y="472"/>
                  </a:lnTo>
                  <a:lnTo>
                    <a:pt x="66960" y="493"/>
                  </a:lnTo>
                  <a:lnTo>
                    <a:pt x="66258" y="472"/>
                  </a:lnTo>
                  <a:lnTo>
                    <a:pt x="58363" y="1"/>
                  </a:lnTo>
                  <a:lnTo>
                    <a:pt x="55719" y="9490"/>
                  </a:lnTo>
                  <a:lnTo>
                    <a:pt x="54589" y="9358"/>
                  </a:lnTo>
                  <a:lnTo>
                    <a:pt x="52122" y="9290"/>
                  </a:lnTo>
                  <a:lnTo>
                    <a:pt x="48327" y="12045"/>
                  </a:lnTo>
                  <a:lnTo>
                    <a:pt x="47311" y="14028"/>
                  </a:lnTo>
                  <a:lnTo>
                    <a:pt x="46920" y="16653"/>
                  </a:lnTo>
                  <a:lnTo>
                    <a:pt x="44422" y="16169"/>
                  </a:lnTo>
                  <a:lnTo>
                    <a:pt x="9548" y="40726"/>
                  </a:lnTo>
                  <a:lnTo>
                    <a:pt x="0" y="92324"/>
                  </a:lnTo>
                  <a:lnTo>
                    <a:pt x="105" y="98726"/>
                  </a:lnTo>
                  <a:lnTo>
                    <a:pt x="9308" y="152251"/>
                  </a:lnTo>
                  <a:lnTo>
                    <a:pt x="40505" y="199970"/>
                  </a:lnTo>
                  <a:lnTo>
                    <a:pt x="62432" y="211719"/>
                  </a:lnTo>
                  <a:lnTo>
                    <a:pt x="63840" y="214087"/>
                  </a:lnTo>
                  <a:lnTo>
                    <a:pt x="65591" y="215787"/>
                  </a:lnTo>
                  <a:lnTo>
                    <a:pt x="66961" y="216170"/>
                  </a:lnTo>
                  <a:lnTo>
                    <a:pt x="68330" y="215787"/>
                  </a:lnTo>
                  <a:lnTo>
                    <a:pt x="70078" y="214087"/>
                  </a:lnTo>
                  <a:lnTo>
                    <a:pt x="71485" y="211720"/>
                  </a:lnTo>
                  <a:lnTo>
                    <a:pt x="93417" y="199973"/>
                  </a:lnTo>
                  <a:lnTo>
                    <a:pt x="124622" y="152252"/>
                  </a:lnTo>
                  <a:lnTo>
                    <a:pt x="132975" y="111963"/>
                  </a:lnTo>
                  <a:lnTo>
                    <a:pt x="133933" y="92326"/>
                  </a:lnTo>
                  <a:lnTo>
                    <a:pt x="132846" y="72820"/>
                  </a:lnTo>
                  <a:lnTo>
                    <a:pt x="117161" y="29048"/>
                  </a:lnTo>
                  <a:lnTo>
                    <a:pt x="91934" y="16070"/>
                  </a:lnTo>
                  <a:lnTo>
                    <a:pt x="89151" y="16183"/>
                  </a:lnTo>
                  <a:lnTo>
                    <a:pt x="86501" y="16764"/>
                  </a:lnTo>
                  <a:lnTo>
                    <a:pt x="86102" y="14047"/>
                  </a:lnTo>
                  <a:lnTo>
                    <a:pt x="85078" y="12012"/>
                  </a:lnTo>
                  <a:lnTo>
                    <a:pt x="81438" y="9365"/>
                  </a:lnTo>
                  <a:lnTo>
                    <a:pt x="79249" y="9389"/>
                  </a:lnTo>
                  <a:lnTo>
                    <a:pt x="78205" y="9498"/>
                  </a:lnTo>
                  <a:lnTo>
                    <a:pt x="75562" y="0"/>
                  </a:lnTo>
                  <a:close/>
                </a:path>
              </a:pathLst>
            </a:custGeom>
            <a:solidFill>
              <a:srgbClr val="A98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01711" y="126161"/>
              <a:ext cx="81280" cy="127635"/>
            </a:xfrm>
            <a:custGeom>
              <a:avLst/>
              <a:gdLst/>
              <a:ahLst/>
              <a:cxnLst/>
              <a:rect l="l" t="t" r="r" b="b"/>
              <a:pathLst>
                <a:path w="81279" h="127635">
                  <a:moveTo>
                    <a:pt x="56730" y="0"/>
                  </a:moveTo>
                  <a:lnTo>
                    <a:pt x="47922" y="2286"/>
                  </a:lnTo>
                  <a:lnTo>
                    <a:pt x="43508" y="2990"/>
                  </a:lnTo>
                  <a:lnTo>
                    <a:pt x="40350" y="3075"/>
                  </a:lnTo>
                  <a:lnTo>
                    <a:pt x="36960" y="2984"/>
                  </a:lnTo>
                  <a:lnTo>
                    <a:pt x="32581" y="2243"/>
                  </a:lnTo>
                  <a:lnTo>
                    <a:pt x="23947" y="1"/>
                  </a:lnTo>
                  <a:lnTo>
                    <a:pt x="18883" y="1599"/>
                  </a:lnTo>
                  <a:lnTo>
                    <a:pt x="524" y="35285"/>
                  </a:lnTo>
                  <a:lnTo>
                    <a:pt x="0" y="44781"/>
                  </a:lnTo>
                  <a:lnTo>
                    <a:pt x="0" y="47065"/>
                  </a:lnTo>
                  <a:lnTo>
                    <a:pt x="7745" y="84974"/>
                  </a:lnTo>
                  <a:lnTo>
                    <a:pt x="33318" y="122090"/>
                  </a:lnTo>
                  <a:lnTo>
                    <a:pt x="40357" y="127353"/>
                  </a:lnTo>
                  <a:lnTo>
                    <a:pt x="47391" y="122089"/>
                  </a:lnTo>
                  <a:lnTo>
                    <a:pt x="72941" y="84976"/>
                  </a:lnTo>
                  <a:lnTo>
                    <a:pt x="80707" y="46307"/>
                  </a:lnTo>
                  <a:lnTo>
                    <a:pt x="80707" y="44260"/>
                  </a:lnTo>
                  <a:lnTo>
                    <a:pt x="66286" y="5320"/>
                  </a:lnTo>
                  <a:lnTo>
                    <a:pt x="56730" y="0"/>
                  </a:lnTo>
                  <a:close/>
                </a:path>
              </a:pathLst>
            </a:custGeom>
            <a:solidFill>
              <a:srgbClr val="CD15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1948" y="98740"/>
              <a:ext cx="6317" cy="162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0290" y="72987"/>
              <a:ext cx="103519" cy="448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5606" y="162832"/>
              <a:ext cx="20230" cy="567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8639" y="162832"/>
              <a:ext cx="20228" cy="567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6935" y="266463"/>
              <a:ext cx="10483" cy="149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75192" y="67095"/>
              <a:ext cx="133721" cy="2158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25844" y="669731"/>
            <a:ext cx="32956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OTC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65" dirty="0">
                <a:latin typeface="Arial"/>
                <a:cs typeface="Arial"/>
              </a:rPr>
              <a:t>increases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rotten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spc="-55" dirty="0">
                <a:latin typeface="Arial"/>
                <a:cs typeface="Arial"/>
              </a:rPr>
              <a:t>odds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by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3.8</a:t>
            </a:r>
            <a:r>
              <a:rPr sz="1200" i="1" dirty="0">
                <a:latin typeface="Verdana"/>
                <a:cs typeface="Verdana"/>
              </a:rPr>
              <a:t>×</a:t>
            </a:r>
            <a:r>
              <a:rPr sz="1200" i="1" spc="-30" dirty="0">
                <a:latin typeface="Verdana"/>
                <a:cs typeface="Verdana"/>
              </a:rPr>
              <a:t> </a:t>
            </a:r>
            <a:r>
              <a:rPr sz="1200" b="1" spc="-30" dirty="0">
                <a:latin typeface="Arial"/>
                <a:cs typeface="Arial"/>
              </a:rPr>
              <a:t>(</a:t>
            </a:r>
            <a:r>
              <a:rPr sz="1200" i="1" spc="-30" dirty="0">
                <a:latin typeface="Verdana"/>
                <a:cs typeface="Verdana"/>
              </a:rPr>
              <a:t>p</a:t>
            </a:r>
            <a:r>
              <a:rPr sz="1200" i="1" spc="-90" dirty="0">
                <a:latin typeface="Verdana"/>
                <a:cs typeface="Verdana"/>
              </a:rPr>
              <a:t> </a:t>
            </a:r>
            <a:r>
              <a:rPr sz="1200" i="1" spc="-85" dirty="0">
                <a:latin typeface="Verdana"/>
                <a:cs typeface="Verdana"/>
              </a:rPr>
              <a:t>&lt;</a:t>
            </a:r>
            <a:r>
              <a:rPr sz="1200" i="1" spc="-90" dirty="0">
                <a:latin typeface="Verdana"/>
                <a:cs typeface="Verdana"/>
              </a:rPr>
              <a:t> </a:t>
            </a:r>
            <a:r>
              <a:rPr sz="1200" spc="-10" dirty="0">
                <a:latin typeface="Calibri"/>
                <a:cs typeface="Calibri"/>
              </a:rPr>
              <a:t>0</a:t>
            </a:r>
            <a:r>
              <a:rPr sz="1200" i="1" spc="-10" dirty="0">
                <a:latin typeface="Verdana"/>
                <a:cs typeface="Verdana"/>
              </a:rPr>
              <a:t>.</a:t>
            </a:r>
            <a:r>
              <a:rPr sz="1200" spc="-10" dirty="0">
                <a:latin typeface="Calibri"/>
                <a:cs typeface="Calibri"/>
              </a:rPr>
              <a:t>001</a:t>
            </a:r>
            <a:r>
              <a:rPr sz="1200" b="1" spc="-10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6944" y="1346470"/>
            <a:ext cx="2292985" cy="887094"/>
            <a:chOff x="326944" y="1346470"/>
            <a:chExt cx="2292985" cy="887094"/>
          </a:xfrm>
        </p:grpSpPr>
        <p:sp>
          <p:nvSpPr>
            <p:cNvPr id="14" name="object 14"/>
            <p:cNvSpPr/>
            <p:nvPr/>
          </p:nvSpPr>
          <p:spPr>
            <a:xfrm>
              <a:off x="326944" y="1419655"/>
              <a:ext cx="1130935" cy="668020"/>
            </a:xfrm>
            <a:custGeom>
              <a:avLst/>
              <a:gdLst/>
              <a:ahLst/>
              <a:cxnLst/>
              <a:rect l="l" t="t" r="r" b="b"/>
              <a:pathLst>
                <a:path w="1130935" h="668019">
                  <a:moveTo>
                    <a:pt x="0" y="668001"/>
                  </a:moveTo>
                  <a:lnTo>
                    <a:pt x="1130870" y="668001"/>
                  </a:lnTo>
                </a:path>
                <a:path w="1130935" h="668019">
                  <a:moveTo>
                    <a:pt x="0" y="445347"/>
                  </a:moveTo>
                  <a:lnTo>
                    <a:pt x="1130870" y="445347"/>
                  </a:lnTo>
                </a:path>
                <a:path w="1130935" h="668019">
                  <a:moveTo>
                    <a:pt x="0" y="222693"/>
                  </a:moveTo>
                  <a:lnTo>
                    <a:pt x="1130870" y="222693"/>
                  </a:lnTo>
                </a:path>
                <a:path w="1130935" h="668019">
                  <a:moveTo>
                    <a:pt x="0" y="0"/>
                  </a:moveTo>
                  <a:lnTo>
                    <a:pt x="113087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6944" y="1346470"/>
              <a:ext cx="1130935" cy="887094"/>
            </a:xfrm>
            <a:custGeom>
              <a:avLst/>
              <a:gdLst/>
              <a:ahLst/>
              <a:cxnLst/>
              <a:rect l="l" t="t" r="r" b="b"/>
              <a:pathLst>
                <a:path w="1130935" h="887094">
                  <a:moveTo>
                    <a:pt x="0" y="852552"/>
                  </a:moveTo>
                  <a:lnTo>
                    <a:pt x="1130870" y="852552"/>
                  </a:lnTo>
                </a:path>
                <a:path w="1130935" h="887094">
                  <a:moveTo>
                    <a:pt x="0" y="629859"/>
                  </a:moveTo>
                  <a:lnTo>
                    <a:pt x="1130870" y="629859"/>
                  </a:lnTo>
                </a:path>
                <a:path w="1130935" h="887094">
                  <a:moveTo>
                    <a:pt x="0" y="407204"/>
                  </a:moveTo>
                  <a:lnTo>
                    <a:pt x="1130870" y="407204"/>
                  </a:lnTo>
                </a:path>
                <a:path w="1130935" h="887094">
                  <a:moveTo>
                    <a:pt x="0" y="184511"/>
                  </a:moveTo>
                  <a:lnTo>
                    <a:pt x="1130870" y="184511"/>
                  </a:lnTo>
                </a:path>
                <a:path w="1130935" h="887094">
                  <a:moveTo>
                    <a:pt x="161563" y="886818"/>
                  </a:moveTo>
                  <a:lnTo>
                    <a:pt x="161563" y="0"/>
                  </a:lnTo>
                </a:path>
                <a:path w="1130935" h="887094">
                  <a:moveTo>
                    <a:pt x="430811" y="886818"/>
                  </a:moveTo>
                  <a:lnTo>
                    <a:pt x="430811" y="0"/>
                  </a:lnTo>
                </a:path>
                <a:path w="1130935" h="887094">
                  <a:moveTo>
                    <a:pt x="700058" y="886818"/>
                  </a:moveTo>
                  <a:lnTo>
                    <a:pt x="700058" y="0"/>
                  </a:lnTo>
                </a:path>
                <a:path w="1130935" h="887094">
                  <a:moveTo>
                    <a:pt x="969306" y="886818"/>
                  </a:moveTo>
                  <a:lnTo>
                    <a:pt x="969306" y="0"/>
                  </a:lnTo>
                </a:path>
              </a:pathLst>
            </a:custGeom>
            <a:ln w="60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8000" y="2119016"/>
              <a:ext cx="0" cy="66675"/>
            </a:xfrm>
            <a:custGeom>
              <a:avLst/>
              <a:gdLst/>
              <a:ahLst/>
              <a:cxnLst/>
              <a:rect l="l" t="t" r="r" b="b"/>
              <a:pathLst>
                <a:path h="66675">
                  <a:moveTo>
                    <a:pt x="0" y="13760"/>
                  </a:moveTo>
                  <a:lnTo>
                    <a:pt x="0" y="0"/>
                  </a:lnTo>
                </a:path>
                <a:path h="66675">
                  <a:moveTo>
                    <a:pt x="0" y="47019"/>
                  </a:moveTo>
                  <a:lnTo>
                    <a:pt x="0" y="66517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2569" y="2132776"/>
              <a:ext cx="91440" cy="33655"/>
            </a:xfrm>
            <a:custGeom>
              <a:avLst/>
              <a:gdLst/>
              <a:ahLst/>
              <a:cxnLst/>
              <a:rect l="l" t="t" r="r" b="b"/>
              <a:pathLst>
                <a:path w="91440" h="33655">
                  <a:moveTo>
                    <a:pt x="90899" y="0"/>
                  </a:moveTo>
                  <a:lnTo>
                    <a:pt x="0" y="0"/>
                  </a:lnTo>
                  <a:lnTo>
                    <a:pt x="0" y="33258"/>
                  </a:lnTo>
                  <a:lnTo>
                    <a:pt x="90899" y="33258"/>
                  </a:lnTo>
                  <a:lnTo>
                    <a:pt x="90899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2569" y="2132776"/>
              <a:ext cx="91440" cy="33655"/>
            </a:xfrm>
            <a:custGeom>
              <a:avLst/>
              <a:gdLst/>
              <a:ahLst/>
              <a:cxnLst/>
              <a:rect l="l" t="t" r="r" b="b"/>
              <a:pathLst>
                <a:path w="91440" h="33655">
                  <a:moveTo>
                    <a:pt x="0" y="0"/>
                  </a:moveTo>
                  <a:lnTo>
                    <a:pt x="0" y="33258"/>
                  </a:lnTo>
                  <a:lnTo>
                    <a:pt x="90899" y="33258"/>
                  </a:lnTo>
                  <a:lnTo>
                    <a:pt x="90899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2569" y="2140490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40" h="12064">
                  <a:moveTo>
                    <a:pt x="0" y="12016"/>
                  </a:moveTo>
                  <a:lnTo>
                    <a:pt x="90899" y="12016"/>
                  </a:lnTo>
                  <a:lnTo>
                    <a:pt x="90899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8977" y="1868336"/>
              <a:ext cx="0" cy="189865"/>
            </a:xfrm>
            <a:custGeom>
              <a:avLst/>
              <a:gdLst/>
              <a:ahLst/>
              <a:cxnLst/>
              <a:rect l="l" t="t" r="r" b="b"/>
              <a:pathLst>
                <a:path h="189864">
                  <a:moveTo>
                    <a:pt x="0" y="58376"/>
                  </a:moveTo>
                  <a:lnTo>
                    <a:pt x="0" y="0"/>
                  </a:lnTo>
                </a:path>
                <a:path h="189864">
                  <a:moveTo>
                    <a:pt x="0" y="153036"/>
                  </a:moveTo>
                  <a:lnTo>
                    <a:pt x="0" y="189356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3547" y="1926713"/>
              <a:ext cx="91440" cy="95250"/>
            </a:xfrm>
            <a:custGeom>
              <a:avLst/>
              <a:gdLst/>
              <a:ahLst/>
              <a:cxnLst/>
              <a:rect l="l" t="t" r="r" b="b"/>
              <a:pathLst>
                <a:path w="91440" h="95250">
                  <a:moveTo>
                    <a:pt x="90860" y="0"/>
                  </a:moveTo>
                  <a:lnTo>
                    <a:pt x="0" y="0"/>
                  </a:lnTo>
                  <a:lnTo>
                    <a:pt x="0" y="94659"/>
                  </a:lnTo>
                  <a:lnTo>
                    <a:pt x="90860" y="94659"/>
                  </a:lnTo>
                  <a:lnTo>
                    <a:pt x="90860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3547" y="1926713"/>
              <a:ext cx="91440" cy="95250"/>
            </a:xfrm>
            <a:custGeom>
              <a:avLst/>
              <a:gdLst/>
              <a:ahLst/>
              <a:cxnLst/>
              <a:rect l="l" t="t" r="r" b="b"/>
              <a:pathLst>
                <a:path w="91440" h="95250">
                  <a:moveTo>
                    <a:pt x="0" y="0"/>
                  </a:moveTo>
                  <a:lnTo>
                    <a:pt x="0" y="94659"/>
                  </a:lnTo>
                  <a:lnTo>
                    <a:pt x="90860" y="94659"/>
                  </a:lnTo>
                  <a:lnTo>
                    <a:pt x="90860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3547" y="1979081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40" h="12064">
                  <a:moveTo>
                    <a:pt x="0" y="12016"/>
                  </a:moveTo>
                  <a:lnTo>
                    <a:pt x="90860" y="12016"/>
                  </a:lnTo>
                  <a:lnTo>
                    <a:pt x="90860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7286" y="2101572"/>
              <a:ext cx="0" cy="34290"/>
            </a:xfrm>
            <a:custGeom>
              <a:avLst/>
              <a:gdLst/>
              <a:ahLst/>
              <a:cxnLst/>
              <a:rect l="l" t="t" r="r" b="b"/>
              <a:pathLst>
                <a:path h="34289">
                  <a:moveTo>
                    <a:pt x="0" y="15078"/>
                  </a:moveTo>
                  <a:lnTo>
                    <a:pt x="0" y="0"/>
                  </a:lnTo>
                </a:path>
                <a:path h="34289">
                  <a:moveTo>
                    <a:pt x="0" y="32018"/>
                  </a:moveTo>
                  <a:lnTo>
                    <a:pt x="0" y="33878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1817" y="2116651"/>
              <a:ext cx="91440" cy="17145"/>
            </a:xfrm>
            <a:custGeom>
              <a:avLst/>
              <a:gdLst/>
              <a:ahLst/>
              <a:cxnLst/>
              <a:rect l="l" t="t" r="r" b="b"/>
              <a:pathLst>
                <a:path w="91440" h="17144">
                  <a:moveTo>
                    <a:pt x="90899" y="0"/>
                  </a:moveTo>
                  <a:lnTo>
                    <a:pt x="0" y="0"/>
                  </a:lnTo>
                  <a:lnTo>
                    <a:pt x="0" y="16939"/>
                  </a:lnTo>
                  <a:lnTo>
                    <a:pt x="90899" y="16939"/>
                  </a:lnTo>
                  <a:lnTo>
                    <a:pt x="90899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1817" y="2116651"/>
              <a:ext cx="91440" cy="17145"/>
            </a:xfrm>
            <a:custGeom>
              <a:avLst/>
              <a:gdLst/>
              <a:ahLst/>
              <a:cxnLst/>
              <a:rect l="l" t="t" r="r" b="b"/>
              <a:pathLst>
                <a:path w="91440" h="17144">
                  <a:moveTo>
                    <a:pt x="0" y="0"/>
                  </a:moveTo>
                  <a:lnTo>
                    <a:pt x="0" y="16939"/>
                  </a:lnTo>
                  <a:lnTo>
                    <a:pt x="90899" y="16939"/>
                  </a:lnTo>
                  <a:lnTo>
                    <a:pt x="90899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1817" y="2125722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40" h="12064">
                  <a:moveTo>
                    <a:pt x="0" y="12016"/>
                  </a:moveTo>
                  <a:lnTo>
                    <a:pt x="90899" y="12016"/>
                  </a:lnTo>
                  <a:lnTo>
                    <a:pt x="90899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8224" y="1846318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43763"/>
                  </a:moveTo>
                  <a:lnTo>
                    <a:pt x="0" y="0"/>
                  </a:lnTo>
                </a:path>
                <a:path h="174625">
                  <a:moveTo>
                    <a:pt x="0" y="131057"/>
                  </a:moveTo>
                  <a:lnTo>
                    <a:pt x="0" y="174588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2794" y="1890082"/>
              <a:ext cx="91440" cy="87630"/>
            </a:xfrm>
            <a:custGeom>
              <a:avLst/>
              <a:gdLst/>
              <a:ahLst/>
              <a:cxnLst/>
              <a:rect l="l" t="t" r="r" b="b"/>
              <a:pathLst>
                <a:path w="91440" h="87630">
                  <a:moveTo>
                    <a:pt x="90860" y="0"/>
                  </a:moveTo>
                  <a:lnTo>
                    <a:pt x="0" y="0"/>
                  </a:lnTo>
                  <a:lnTo>
                    <a:pt x="0" y="87294"/>
                  </a:lnTo>
                  <a:lnTo>
                    <a:pt x="90860" y="87294"/>
                  </a:lnTo>
                  <a:lnTo>
                    <a:pt x="90860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2794" y="1890082"/>
              <a:ext cx="91440" cy="87630"/>
            </a:xfrm>
            <a:custGeom>
              <a:avLst/>
              <a:gdLst/>
              <a:ahLst/>
              <a:cxnLst/>
              <a:rect l="l" t="t" r="r" b="b"/>
              <a:pathLst>
                <a:path w="91440" h="87630">
                  <a:moveTo>
                    <a:pt x="0" y="0"/>
                  </a:moveTo>
                  <a:lnTo>
                    <a:pt x="0" y="87294"/>
                  </a:lnTo>
                  <a:lnTo>
                    <a:pt x="90860" y="87294"/>
                  </a:lnTo>
                  <a:lnTo>
                    <a:pt x="90860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2794" y="1927837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40" h="12064">
                  <a:moveTo>
                    <a:pt x="0" y="12016"/>
                  </a:moveTo>
                  <a:lnTo>
                    <a:pt x="90860" y="12016"/>
                  </a:lnTo>
                  <a:lnTo>
                    <a:pt x="90860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76533" y="2120062"/>
              <a:ext cx="0" cy="34925"/>
            </a:xfrm>
            <a:custGeom>
              <a:avLst/>
              <a:gdLst/>
              <a:ahLst/>
              <a:cxnLst/>
              <a:rect l="l" t="t" r="r" b="b"/>
              <a:pathLst>
                <a:path h="34925">
                  <a:moveTo>
                    <a:pt x="0" y="3915"/>
                  </a:moveTo>
                  <a:lnTo>
                    <a:pt x="0" y="0"/>
                  </a:lnTo>
                </a:path>
                <a:path h="34925">
                  <a:moveTo>
                    <a:pt x="0" y="21319"/>
                  </a:moveTo>
                  <a:lnTo>
                    <a:pt x="0" y="34731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31064" y="2123977"/>
              <a:ext cx="91440" cy="17780"/>
            </a:xfrm>
            <a:custGeom>
              <a:avLst/>
              <a:gdLst/>
              <a:ahLst/>
              <a:cxnLst/>
              <a:rect l="l" t="t" r="r" b="b"/>
              <a:pathLst>
                <a:path w="91440" h="17780">
                  <a:moveTo>
                    <a:pt x="90899" y="0"/>
                  </a:moveTo>
                  <a:lnTo>
                    <a:pt x="0" y="0"/>
                  </a:lnTo>
                  <a:lnTo>
                    <a:pt x="0" y="17404"/>
                  </a:lnTo>
                  <a:lnTo>
                    <a:pt x="90899" y="17404"/>
                  </a:lnTo>
                  <a:lnTo>
                    <a:pt x="90899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31064" y="2123977"/>
              <a:ext cx="91440" cy="17780"/>
            </a:xfrm>
            <a:custGeom>
              <a:avLst/>
              <a:gdLst/>
              <a:ahLst/>
              <a:cxnLst/>
              <a:rect l="l" t="t" r="r" b="b"/>
              <a:pathLst>
                <a:path w="91440" h="17780">
                  <a:moveTo>
                    <a:pt x="0" y="0"/>
                  </a:moveTo>
                  <a:lnTo>
                    <a:pt x="0" y="17404"/>
                  </a:lnTo>
                  <a:lnTo>
                    <a:pt x="90899" y="17404"/>
                  </a:lnTo>
                  <a:lnTo>
                    <a:pt x="90899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31064" y="2121923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40" h="12064">
                  <a:moveTo>
                    <a:pt x="0" y="12016"/>
                  </a:moveTo>
                  <a:lnTo>
                    <a:pt x="90899" y="12016"/>
                  </a:lnTo>
                  <a:lnTo>
                    <a:pt x="90899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77472" y="1833139"/>
              <a:ext cx="0" cy="74930"/>
            </a:xfrm>
            <a:custGeom>
              <a:avLst/>
              <a:gdLst/>
              <a:ahLst/>
              <a:cxnLst/>
              <a:rect l="l" t="t" r="r" b="b"/>
              <a:pathLst>
                <a:path h="74930">
                  <a:moveTo>
                    <a:pt x="0" y="24420"/>
                  </a:moveTo>
                  <a:lnTo>
                    <a:pt x="0" y="0"/>
                  </a:lnTo>
                </a:path>
                <a:path h="74930">
                  <a:moveTo>
                    <a:pt x="0" y="61710"/>
                  </a:moveTo>
                  <a:lnTo>
                    <a:pt x="0" y="74618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32042" y="1857560"/>
              <a:ext cx="91440" cy="37465"/>
            </a:xfrm>
            <a:custGeom>
              <a:avLst/>
              <a:gdLst/>
              <a:ahLst/>
              <a:cxnLst/>
              <a:rect l="l" t="t" r="r" b="b"/>
              <a:pathLst>
                <a:path w="91440" h="37464">
                  <a:moveTo>
                    <a:pt x="90860" y="0"/>
                  </a:moveTo>
                  <a:lnTo>
                    <a:pt x="0" y="0"/>
                  </a:lnTo>
                  <a:lnTo>
                    <a:pt x="0" y="37289"/>
                  </a:lnTo>
                  <a:lnTo>
                    <a:pt x="90860" y="37289"/>
                  </a:lnTo>
                  <a:lnTo>
                    <a:pt x="90860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32042" y="1857560"/>
              <a:ext cx="91440" cy="37465"/>
            </a:xfrm>
            <a:custGeom>
              <a:avLst/>
              <a:gdLst/>
              <a:ahLst/>
              <a:cxnLst/>
              <a:rect l="l" t="t" r="r" b="b"/>
              <a:pathLst>
                <a:path w="91440" h="37464">
                  <a:moveTo>
                    <a:pt x="0" y="0"/>
                  </a:moveTo>
                  <a:lnTo>
                    <a:pt x="0" y="37289"/>
                  </a:lnTo>
                  <a:lnTo>
                    <a:pt x="90860" y="37289"/>
                  </a:lnTo>
                  <a:lnTo>
                    <a:pt x="90860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32042" y="1875972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40" h="12064">
                  <a:moveTo>
                    <a:pt x="0" y="12016"/>
                  </a:moveTo>
                  <a:lnTo>
                    <a:pt x="90860" y="12016"/>
                  </a:lnTo>
                  <a:lnTo>
                    <a:pt x="90860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45780" y="2123396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h="22225">
                  <a:moveTo>
                    <a:pt x="0" y="852"/>
                  </a:moveTo>
                  <a:lnTo>
                    <a:pt x="0" y="0"/>
                  </a:lnTo>
                </a:path>
                <a:path h="22225">
                  <a:moveTo>
                    <a:pt x="0" y="11900"/>
                  </a:moveTo>
                  <a:lnTo>
                    <a:pt x="0" y="22094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200312" y="2124249"/>
              <a:ext cx="91440" cy="11430"/>
            </a:xfrm>
            <a:custGeom>
              <a:avLst/>
              <a:gdLst/>
              <a:ahLst/>
              <a:cxnLst/>
              <a:rect l="l" t="t" r="r" b="b"/>
              <a:pathLst>
                <a:path w="91440" h="11430">
                  <a:moveTo>
                    <a:pt x="90899" y="0"/>
                  </a:moveTo>
                  <a:lnTo>
                    <a:pt x="0" y="0"/>
                  </a:lnTo>
                  <a:lnTo>
                    <a:pt x="0" y="11047"/>
                  </a:lnTo>
                  <a:lnTo>
                    <a:pt x="90899" y="11047"/>
                  </a:lnTo>
                  <a:lnTo>
                    <a:pt x="90899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200312" y="2124249"/>
              <a:ext cx="91440" cy="11430"/>
            </a:xfrm>
            <a:custGeom>
              <a:avLst/>
              <a:gdLst/>
              <a:ahLst/>
              <a:cxnLst/>
              <a:rect l="l" t="t" r="r" b="b"/>
              <a:pathLst>
                <a:path w="91440" h="11430">
                  <a:moveTo>
                    <a:pt x="0" y="0"/>
                  </a:moveTo>
                  <a:lnTo>
                    <a:pt x="0" y="11047"/>
                  </a:lnTo>
                  <a:lnTo>
                    <a:pt x="90899" y="11047"/>
                  </a:lnTo>
                  <a:lnTo>
                    <a:pt x="90899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200312" y="2119093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40" h="12064">
                  <a:moveTo>
                    <a:pt x="0" y="12016"/>
                  </a:moveTo>
                  <a:lnTo>
                    <a:pt x="90899" y="12016"/>
                  </a:lnTo>
                  <a:lnTo>
                    <a:pt x="90899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346719" y="1587227"/>
              <a:ext cx="0" cy="513080"/>
            </a:xfrm>
            <a:custGeom>
              <a:avLst/>
              <a:gdLst/>
              <a:ahLst/>
              <a:cxnLst/>
              <a:rect l="l" t="t" r="r" b="b"/>
              <a:pathLst>
                <a:path h="513080">
                  <a:moveTo>
                    <a:pt x="0" y="50973"/>
                  </a:moveTo>
                  <a:lnTo>
                    <a:pt x="0" y="0"/>
                  </a:lnTo>
                </a:path>
                <a:path h="513080">
                  <a:moveTo>
                    <a:pt x="0" y="307390"/>
                  </a:moveTo>
                  <a:lnTo>
                    <a:pt x="0" y="512833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01289" y="1638200"/>
              <a:ext cx="91440" cy="256540"/>
            </a:xfrm>
            <a:custGeom>
              <a:avLst/>
              <a:gdLst/>
              <a:ahLst/>
              <a:cxnLst/>
              <a:rect l="l" t="t" r="r" b="b"/>
              <a:pathLst>
                <a:path w="91440" h="256539">
                  <a:moveTo>
                    <a:pt x="90899" y="0"/>
                  </a:moveTo>
                  <a:lnTo>
                    <a:pt x="0" y="0"/>
                  </a:lnTo>
                  <a:lnTo>
                    <a:pt x="0" y="256416"/>
                  </a:lnTo>
                  <a:lnTo>
                    <a:pt x="90899" y="256416"/>
                  </a:lnTo>
                  <a:lnTo>
                    <a:pt x="90899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01289" y="1638200"/>
              <a:ext cx="91440" cy="256540"/>
            </a:xfrm>
            <a:custGeom>
              <a:avLst/>
              <a:gdLst/>
              <a:ahLst/>
              <a:cxnLst/>
              <a:rect l="l" t="t" r="r" b="b"/>
              <a:pathLst>
                <a:path w="91440" h="256539">
                  <a:moveTo>
                    <a:pt x="0" y="0"/>
                  </a:moveTo>
                  <a:lnTo>
                    <a:pt x="0" y="256416"/>
                  </a:lnTo>
                  <a:lnTo>
                    <a:pt x="90899" y="256416"/>
                  </a:lnTo>
                  <a:lnTo>
                    <a:pt x="90899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301289" y="1683126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40" h="12064">
                  <a:moveTo>
                    <a:pt x="0" y="12016"/>
                  </a:moveTo>
                  <a:lnTo>
                    <a:pt x="90899" y="12016"/>
                  </a:lnTo>
                  <a:lnTo>
                    <a:pt x="90899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488708" y="1419655"/>
              <a:ext cx="1130935" cy="668020"/>
            </a:xfrm>
            <a:custGeom>
              <a:avLst/>
              <a:gdLst/>
              <a:ahLst/>
              <a:cxnLst/>
              <a:rect l="l" t="t" r="r" b="b"/>
              <a:pathLst>
                <a:path w="1130935" h="668019">
                  <a:moveTo>
                    <a:pt x="0" y="668001"/>
                  </a:moveTo>
                  <a:lnTo>
                    <a:pt x="1130831" y="668001"/>
                  </a:lnTo>
                </a:path>
                <a:path w="1130935" h="668019">
                  <a:moveTo>
                    <a:pt x="0" y="445347"/>
                  </a:moveTo>
                  <a:lnTo>
                    <a:pt x="1130831" y="445347"/>
                  </a:lnTo>
                </a:path>
                <a:path w="1130935" h="668019">
                  <a:moveTo>
                    <a:pt x="0" y="222693"/>
                  </a:moveTo>
                  <a:lnTo>
                    <a:pt x="1130831" y="222693"/>
                  </a:lnTo>
                </a:path>
                <a:path w="1130935" h="668019">
                  <a:moveTo>
                    <a:pt x="0" y="0"/>
                  </a:moveTo>
                  <a:lnTo>
                    <a:pt x="1130831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488708" y="1346470"/>
              <a:ext cx="1130935" cy="887094"/>
            </a:xfrm>
            <a:custGeom>
              <a:avLst/>
              <a:gdLst/>
              <a:ahLst/>
              <a:cxnLst/>
              <a:rect l="l" t="t" r="r" b="b"/>
              <a:pathLst>
                <a:path w="1130935" h="887094">
                  <a:moveTo>
                    <a:pt x="0" y="852552"/>
                  </a:moveTo>
                  <a:lnTo>
                    <a:pt x="1130831" y="852552"/>
                  </a:lnTo>
                </a:path>
                <a:path w="1130935" h="887094">
                  <a:moveTo>
                    <a:pt x="0" y="629859"/>
                  </a:moveTo>
                  <a:lnTo>
                    <a:pt x="1130831" y="629859"/>
                  </a:lnTo>
                </a:path>
                <a:path w="1130935" h="887094">
                  <a:moveTo>
                    <a:pt x="0" y="407204"/>
                  </a:moveTo>
                  <a:lnTo>
                    <a:pt x="1130831" y="407204"/>
                  </a:lnTo>
                </a:path>
                <a:path w="1130935" h="887094">
                  <a:moveTo>
                    <a:pt x="0" y="184511"/>
                  </a:moveTo>
                  <a:lnTo>
                    <a:pt x="1130831" y="184511"/>
                  </a:lnTo>
                </a:path>
                <a:path w="1130935" h="887094">
                  <a:moveTo>
                    <a:pt x="161525" y="886818"/>
                  </a:moveTo>
                  <a:lnTo>
                    <a:pt x="161525" y="0"/>
                  </a:lnTo>
                </a:path>
                <a:path w="1130935" h="887094">
                  <a:moveTo>
                    <a:pt x="430772" y="886818"/>
                  </a:moveTo>
                  <a:lnTo>
                    <a:pt x="430772" y="0"/>
                  </a:lnTo>
                </a:path>
                <a:path w="1130935" h="887094">
                  <a:moveTo>
                    <a:pt x="700019" y="886818"/>
                  </a:moveTo>
                  <a:lnTo>
                    <a:pt x="700019" y="0"/>
                  </a:lnTo>
                </a:path>
                <a:path w="1130935" h="887094">
                  <a:moveTo>
                    <a:pt x="969267" y="886818"/>
                  </a:moveTo>
                  <a:lnTo>
                    <a:pt x="969267" y="0"/>
                  </a:lnTo>
                </a:path>
              </a:pathLst>
            </a:custGeom>
            <a:ln w="6008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599764" y="217452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7016"/>
                  </a:moveTo>
                  <a:lnTo>
                    <a:pt x="0" y="0"/>
                  </a:lnTo>
                </a:path>
                <a:path h="15875">
                  <a:moveTo>
                    <a:pt x="0" y="14652"/>
                  </a:moveTo>
                  <a:lnTo>
                    <a:pt x="0" y="15272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54334" y="2181540"/>
              <a:ext cx="91440" cy="8255"/>
            </a:xfrm>
            <a:custGeom>
              <a:avLst/>
              <a:gdLst/>
              <a:ahLst/>
              <a:cxnLst/>
              <a:rect l="l" t="t" r="r" b="b"/>
              <a:pathLst>
                <a:path w="91439" h="8255">
                  <a:moveTo>
                    <a:pt x="90860" y="0"/>
                  </a:moveTo>
                  <a:lnTo>
                    <a:pt x="0" y="0"/>
                  </a:lnTo>
                  <a:lnTo>
                    <a:pt x="0" y="7636"/>
                  </a:lnTo>
                  <a:lnTo>
                    <a:pt x="90860" y="7636"/>
                  </a:lnTo>
                  <a:lnTo>
                    <a:pt x="90860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54334" y="2181540"/>
              <a:ext cx="91440" cy="8255"/>
            </a:xfrm>
            <a:custGeom>
              <a:avLst/>
              <a:gdLst/>
              <a:ahLst/>
              <a:cxnLst/>
              <a:rect l="l" t="t" r="r" b="b"/>
              <a:pathLst>
                <a:path w="91439" h="8255">
                  <a:moveTo>
                    <a:pt x="0" y="0"/>
                  </a:moveTo>
                  <a:lnTo>
                    <a:pt x="0" y="7636"/>
                  </a:lnTo>
                  <a:lnTo>
                    <a:pt x="90860" y="7636"/>
                  </a:lnTo>
                  <a:lnTo>
                    <a:pt x="90860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54333" y="2182509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39" h="12064">
                  <a:moveTo>
                    <a:pt x="0" y="12016"/>
                  </a:moveTo>
                  <a:lnTo>
                    <a:pt x="90860" y="12016"/>
                  </a:lnTo>
                  <a:lnTo>
                    <a:pt x="90860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700741" y="1609516"/>
              <a:ext cx="0" cy="570230"/>
            </a:xfrm>
            <a:custGeom>
              <a:avLst/>
              <a:gdLst/>
              <a:ahLst/>
              <a:cxnLst/>
              <a:rect l="l" t="t" r="r" b="b"/>
              <a:pathLst>
                <a:path h="570230">
                  <a:moveTo>
                    <a:pt x="0" y="268006"/>
                  </a:moveTo>
                  <a:lnTo>
                    <a:pt x="0" y="0"/>
                  </a:lnTo>
                </a:path>
                <a:path h="570230">
                  <a:moveTo>
                    <a:pt x="0" y="553030"/>
                  </a:moveTo>
                  <a:lnTo>
                    <a:pt x="0" y="570047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655272" y="1877522"/>
              <a:ext cx="91440" cy="285115"/>
            </a:xfrm>
            <a:custGeom>
              <a:avLst/>
              <a:gdLst/>
              <a:ahLst/>
              <a:cxnLst/>
              <a:rect l="l" t="t" r="r" b="b"/>
              <a:pathLst>
                <a:path w="91439" h="285114">
                  <a:moveTo>
                    <a:pt x="90899" y="0"/>
                  </a:moveTo>
                  <a:lnTo>
                    <a:pt x="0" y="0"/>
                  </a:lnTo>
                  <a:lnTo>
                    <a:pt x="0" y="285023"/>
                  </a:lnTo>
                  <a:lnTo>
                    <a:pt x="90899" y="285023"/>
                  </a:lnTo>
                  <a:lnTo>
                    <a:pt x="90899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655272" y="1877522"/>
              <a:ext cx="91440" cy="285115"/>
            </a:xfrm>
            <a:custGeom>
              <a:avLst/>
              <a:gdLst/>
              <a:ahLst/>
              <a:cxnLst/>
              <a:rect l="l" t="t" r="r" b="b"/>
              <a:pathLst>
                <a:path w="91439" h="285114">
                  <a:moveTo>
                    <a:pt x="0" y="0"/>
                  </a:moveTo>
                  <a:lnTo>
                    <a:pt x="0" y="285023"/>
                  </a:lnTo>
                  <a:lnTo>
                    <a:pt x="90899" y="285023"/>
                  </a:lnTo>
                  <a:lnTo>
                    <a:pt x="90899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655272" y="2139482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39" h="12064">
                  <a:moveTo>
                    <a:pt x="0" y="12016"/>
                  </a:moveTo>
                  <a:lnTo>
                    <a:pt x="90899" y="12016"/>
                  </a:lnTo>
                  <a:lnTo>
                    <a:pt x="90899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869011" y="2090951"/>
              <a:ext cx="0" cy="102235"/>
            </a:xfrm>
            <a:custGeom>
              <a:avLst/>
              <a:gdLst/>
              <a:ahLst/>
              <a:cxnLst/>
              <a:rect l="l" t="t" r="r" b="b"/>
              <a:pathLst>
                <a:path h="102235">
                  <a:moveTo>
                    <a:pt x="0" y="41631"/>
                  </a:moveTo>
                  <a:lnTo>
                    <a:pt x="0" y="0"/>
                  </a:lnTo>
                </a:path>
                <a:path h="102235">
                  <a:moveTo>
                    <a:pt x="0" y="92643"/>
                  </a:moveTo>
                  <a:lnTo>
                    <a:pt x="0" y="102024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823581" y="2132583"/>
              <a:ext cx="91440" cy="51435"/>
            </a:xfrm>
            <a:custGeom>
              <a:avLst/>
              <a:gdLst/>
              <a:ahLst/>
              <a:cxnLst/>
              <a:rect l="l" t="t" r="r" b="b"/>
              <a:pathLst>
                <a:path w="91439" h="51435">
                  <a:moveTo>
                    <a:pt x="90860" y="0"/>
                  </a:moveTo>
                  <a:lnTo>
                    <a:pt x="0" y="0"/>
                  </a:lnTo>
                  <a:lnTo>
                    <a:pt x="0" y="51012"/>
                  </a:lnTo>
                  <a:lnTo>
                    <a:pt x="90860" y="51012"/>
                  </a:lnTo>
                  <a:lnTo>
                    <a:pt x="90860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823581" y="2132583"/>
              <a:ext cx="91440" cy="51435"/>
            </a:xfrm>
            <a:custGeom>
              <a:avLst/>
              <a:gdLst/>
              <a:ahLst/>
              <a:cxnLst/>
              <a:rect l="l" t="t" r="r" b="b"/>
              <a:pathLst>
                <a:path w="91439" h="51435">
                  <a:moveTo>
                    <a:pt x="0" y="0"/>
                  </a:moveTo>
                  <a:lnTo>
                    <a:pt x="0" y="51012"/>
                  </a:lnTo>
                  <a:lnTo>
                    <a:pt x="90860" y="51012"/>
                  </a:lnTo>
                  <a:lnTo>
                    <a:pt x="90860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23581" y="2168167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39" h="12064">
                  <a:moveTo>
                    <a:pt x="0" y="12016"/>
                  </a:moveTo>
                  <a:lnTo>
                    <a:pt x="90860" y="12016"/>
                  </a:lnTo>
                  <a:lnTo>
                    <a:pt x="90860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969989" y="2055948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h="111125">
                  <a:moveTo>
                    <a:pt x="0" y="13683"/>
                  </a:moveTo>
                  <a:lnTo>
                    <a:pt x="0" y="0"/>
                  </a:lnTo>
                </a:path>
                <a:path h="111125">
                  <a:moveTo>
                    <a:pt x="0" y="69075"/>
                  </a:moveTo>
                  <a:lnTo>
                    <a:pt x="0" y="110784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24558" y="2069632"/>
              <a:ext cx="91440" cy="55880"/>
            </a:xfrm>
            <a:custGeom>
              <a:avLst/>
              <a:gdLst/>
              <a:ahLst/>
              <a:cxnLst/>
              <a:rect l="l" t="t" r="r" b="b"/>
              <a:pathLst>
                <a:path w="91439" h="55880">
                  <a:moveTo>
                    <a:pt x="90860" y="0"/>
                  </a:moveTo>
                  <a:lnTo>
                    <a:pt x="0" y="0"/>
                  </a:lnTo>
                  <a:lnTo>
                    <a:pt x="0" y="55392"/>
                  </a:lnTo>
                  <a:lnTo>
                    <a:pt x="90860" y="55392"/>
                  </a:lnTo>
                  <a:lnTo>
                    <a:pt x="90860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924558" y="2069632"/>
              <a:ext cx="91440" cy="55880"/>
            </a:xfrm>
            <a:custGeom>
              <a:avLst/>
              <a:gdLst/>
              <a:ahLst/>
              <a:cxnLst/>
              <a:rect l="l" t="t" r="r" b="b"/>
              <a:pathLst>
                <a:path w="91439" h="55880">
                  <a:moveTo>
                    <a:pt x="0" y="0"/>
                  </a:moveTo>
                  <a:lnTo>
                    <a:pt x="0" y="55392"/>
                  </a:lnTo>
                  <a:lnTo>
                    <a:pt x="90860" y="55392"/>
                  </a:lnTo>
                  <a:lnTo>
                    <a:pt x="90860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924558" y="2077345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39" h="12064">
                  <a:moveTo>
                    <a:pt x="0" y="12016"/>
                  </a:moveTo>
                  <a:lnTo>
                    <a:pt x="90860" y="12016"/>
                  </a:lnTo>
                  <a:lnTo>
                    <a:pt x="90860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138258" y="2137467"/>
              <a:ext cx="0" cy="36830"/>
            </a:xfrm>
            <a:custGeom>
              <a:avLst/>
              <a:gdLst/>
              <a:ahLst/>
              <a:cxnLst/>
              <a:rect l="l" t="t" r="r" b="b"/>
              <a:pathLst>
                <a:path h="36830">
                  <a:moveTo>
                    <a:pt x="0" y="5388"/>
                  </a:moveTo>
                  <a:lnTo>
                    <a:pt x="0" y="0"/>
                  </a:lnTo>
                </a:path>
                <a:path h="36830">
                  <a:moveTo>
                    <a:pt x="0" y="23684"/>
                  </a:moveTo>
                  <a:lnTo>
                    <a:pt x="0" y="36630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092828" y="2142855"/>
              <a:ext cx="91440" cy="18415"/>
            </a:xfrm>
            <a:custGeom>
              <a:avLst/>
              <a:gdLst/>
              <a:ahLst/>
              <a:cxnLst/>
              <a:rect l="l" t="t" r="r" b="b"/>
              <a:pathLst>
                <a:path w="91439" h="18414">
                  <a:moveTo>
                    <a:pt x="90860" y="0"/>
                  </a:moveTo>
                  <a:lnTo>
                    <a:pt x="0" y="0"/>
                  </a:lnTo>
                  <a:lnTo>
                    <a:pt x="0" y="18296"/>
                  </a:lnTo>
                  <a:lnTo>
                    <a:pt x="90860" y="18296"/>
                  </a:lnTo>
                  <a:lnTo>
                    <a:pt x="90860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092828" y="2142855"/>
              <a:ext cx="91440" cy="18415"/>
            </a:xfrm>
            <a:custGeom>
              <a:avLst/>
              <a:gdLst/>
              <a:ahLst/>
              <a:cxnLst/>
              <a:rect l="l" t="t" r="r" b="b"/>
              <a:pathLst>
                <a:path w="91439" h="18414">
                  <a:moveTo>
                    <a:pt x="0" y="0"/>
                  </a:moveTo>
                  <a:lnTo>
                    <a:pt x="0" y="18296"/>
                  </a:lnTo>
                  <a:lnTo>
                    <a:pt x="90860" y="18296"/>
                  </a:lnTo>
                  <a:lnTo>
                    <a:pt x="90860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092828" y="2142235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39" h="12064">
                  <a:moveTo>
                    <a:pt x="0" y="12016"/>
                  </a:moveTo>
                  <a:lnTo>
                    <a:pt x="90860" y="12016"/>
                  </a:lnTo>
                  <a:lnTo>
                    <a:pt x="90860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239236" y="2045482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16590"/>
                  </a:moveTo>
                  <a:lnTo>
                    <a:pt x="0" y="0"/>
                  </a:lnTo>
                </a:path>
                <a:path h="76200">
                  <a:moveTo>
                    <a:pt x="0" y="54539"/>
                  </a:moveTo>
                  <a:lnTo>
                    <a:pt x="0" y="75936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93806" y="2062073"/>
              <a:ext cx="91440" cy="38100"/>
            </a:xfrm>
            <a:custGeom>
              <a:avLst/>
              <a:gdLst/>
              <a:ahLst/>
              <a:cxnLst/>
              <a:rect l="l" t="t" r="r" b="b"/>
              <a:pathLst>
                <a:path w="91439" h="38100">
                  <a:moveTo>
                    <a:pt x="90860" y="0"/>
                  </a:moveTo>
                  <a:lnTo>
                    <a:pt x="0" y="0"/>
                  </a:lnTo>
                  <a:lnTo>
                    <a:pt x="0" y="37948"/>
                  </a:lnTo>
                  <a:lnTo>
                    <a:pt x="90860" y="37948"/>
                  </a:lnTo>
                  <a:lnTo>
                    <a:pt x="90860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93806" y="2062073"/>
              <a:ext cx="91440" cy="38100"/>
            </a:xfrm>
            <a:custGeom>
              <a:avLst/>
              <a:gdLst/>
              <a:ahLst/>
              <a:cxnLst/>
              <a:rect l="l" t="t" r="r" b="b"/>
              <a:pathLst>
                <a:path w="91439" h="38100">
                  <a:moveTo>
                    <a:pt x="0" y="0"/>
                  </a:moveTo>
                  <a:lnTo>
                    <a:pt x="0" y="37948"/>
                  </a:lnTo>
                  <a:lnTo>
                    <a:pt x="90860" y="37948"/>
                  </a:lnTo>
                  <a:lnTo>
                    <a:pt x="90860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193806" y="2072616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39" h="12064">
                  <a:moveTo>
                    <a:pt x="0" y="12016"/>
                  </a:moveTo>
                  <a:lnTo>
                    <a:pt x="90860" y="12016"/>
                  </a:lnTo>
                  <a:lnTo>
                    <a:pt x="90860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407506" y="2138513"/>
              <a:ext cx="0" cy="47625"/>
            </a:xfrm>
            <a:custGeom>
              <a:avLst/>
              <a:gdLst/>
              <a:ahLst/>
              <a:cxnLst/>
              <a:rect l="l" t="t" r="r" b="b"/>
              <a:pathLst>
                <a:path h="47625">
                  <a:moveTo>
                    <a:pt x="0" y="9574"/>
                  </a:moveTo>
                  <a:lnTo>
                    <a:pt x="0" y="0"/>
                  </a:lnTo>
                </a:path>
                <a:path h="47625">
                  <a:moveTo>
                    <a:pt x="0" y="33219"/>
                  </a:moveTo>
                  <a:lnTo>
                    <a:pt x="0" y="47290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362076" y="2148088"/>
              <a:ext cx="91440" cy="24130"/>
            </a:xfrm>
            <a:custGeom>
              <a:avLst/>
              <a:gdLst/>
              <a:ahLst/>
              <a:cxnLst/>
              <a:rect l="l" t="t" r="r" b="b"/>
              <a:pathLst>
                <a:path w="91439" h="24130">
                  <a:moveTo>
                    <a:pt x="90860" y="0"/>
                  </a:moveTo>
                  <a:lnTo>
                    <a:pt x="0" y="0"/>
                  </a:lnTo>
                  <a:lnTo>
                    <a:pt x="0" y="23645"/>
                  </a:lnTo>
                  <a:lnTo>
                    <a:pt x="90860" y="23645"/>
                  </a:lnTo>
                  <a:lnTo>
                    <a:pt x="90860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362076" y="2148088"/>
              <a:ext cx="91440" cy="24130"/>
            </a:xfrm>
            <a:custGeom>
              <a:avLst/>
              <a:gdLst/>
              <a:ahLst/>
              <a:cxnLst/>
              <a:rect l="l" t="t" r="r" b="b"/>
              <a:pathLst>
                <a:path w="91439" h="24130">
                  <a:moveTo>
                    <a:pt x="0" y="0"/>
                  </a:moveTo>
                  <a:lnTo>
                    <a:pt x="0" y="23645"/>
                  </a:lnTo>
                  <a:lnTo>
                    <a:pt x="90860" y="23645"/>
                  </a:lnTo>
                  <a:lnTo>
                    <a:pt x="90860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362076" y="2151615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39" h="12064">
                  <a:moveTo>
                    <a:pt x="0" y="12016"/>
                  </a:moveTo>
                  <a:lnTo>
                    <a:pt x="90860" y="12016"/>
                  </a:lnTo>
                  <a:lnTo>
                    <a:pt x="90860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508483" y="1386784"/>
              <a:ext cx="0" cy="715010"/>
            </a:xfrm>
            <a:custGeom>
              <a:avLst/>
              <a:gdLst/>
              <a:ahLst/>
              <a:cxnLst/>
              <a:rect l="l" t="t" r="r" b="b"/>
              <a:pathLst>
                <a:path h="715010">
                  <a:moveTo>
                    <a:pt x="0" y="343284"/>
                  </a:moveTo>
                  <a:lnTo>
                    <a:pt x="0" y="0"/>
                  </a:lnTo>
                </a:path>
                <a:path h="715010">
                  <a:moveTo>
                    <a:pt x="0" y="700562"/>
                  </a:moveTo>
                  <a:lnTo>
                    <a:pt x="0" y="714594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463053" y="1730068"/>
              <a:ext cx="91440" cy="357505"/>
            </a:xfrm>
            <a:custGeom>
              <a:avLst/>
              <a:gdLst/>
              <a:ahLst/>
              <a:cxnLst/>
              <a:rect l="l" t="t" r="r" b="b"/>
              <a:pathLst>
                <a:path w="91439" h="357505">
                  <a:moveTo>
                    <a:pt x="90860" y="0"/>
                  </a:moveTo>
                  <a:lnTo>
                    <a:pt x="0" y="0"/>
                  </a:lnTo>
                  <a:lnTo>
                    <a:pt x="0" y="357278"/>
                  </a:lnTo>
                  <a:lnTo>
                    <a:pt x="90860" y="357278"/>
                  </a:lnTo>
                  <a:lnTo>
                    <a:pt x="90860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463053" y="1730068"/>
              <a:ext cx="91440" cy="357505"/>
            </a:xfrm>
            <a:custGeom>
              <a:avLst/>
              <a:gdLst/>
              <a:ahLst/>
              <a:cxnLst/>
              <a:rect l="l" t="t" r="r" b="b"/>
              <a:pathLst>
                <a:path w="91439" h="357505">
                  <a:moveTo>
                    <a:pt x="0" y="0"/>
                  </a:moveTo>
                  <a:lnTo>
                    <a:pt x="0" y="357278"/>
                  </a:lnTo>
                  <a:lnTo>
                    <a:pt x="90860" y="357278"/>
                  </a:lnTo>
                  <a:lnTo>
                    <a:pt x="90860" y="0"/>
                  </a:lnTo>
                  <a:lnTo>
                    <a:pt x="0" y="0"/>
                  </a:lnTo>
                  <a:close/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463053" y="2067345"/>
              <a:ext cx="91440" cy="12065"/>
            </a:xfrm>
            <a:custGeom>
              <a:avLst/>
              <a:gdLst/>
              <a:ahLst/>
              <a:cxnLst/>
              <a:rect l="l" t="t" r="r" b="b"/>
              <a:pathLst>
                <a:path w="91439" h="12064">
                  <a:moveTo>
                    <a:pt x="0" y="12016"/>
                  </a:moveTo>
                  <a:lnTo>
                    <a:pt x="90860" y="12016"/>
                  </a:lnTo>
                  <a:lnTo>
                    <a:pt x="90860" y="0"/>
                  </a:lnTo>
                  <a:lnTo>
                    <a:pt x="0" y="0"/>
                  </a:lnTo>
                  <a:lnTo>
                    <a:pt x="0" y="12016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669429" y="1240196"/>
            <a:ext cx="446405" cy="100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" b="1" dirty="0">
                <a:solidFill>
                  <a:srgbClr val="1A1A1A"/>
                </a:solidFill>
                <a:latin typeface="Arial"/>
                <a:cs typeface="Arial"/>
              </a:rPr>
              <a:t>Mullica</a:t>
            </a:r>
            <a:r>
              <a:rPr sz="450" b="1" spc="13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450" b="1" spc="-10" dirty="0">
                <a:solidFill>
                  <a:srgbClr val="1A1A1A"/>
                </a:solidFill>
                <a:latin typeface="Arial"/>
                <a:cs typeface="Arial"/>
              </a:rPr>
              <a:t>Queen</a:t>
            </a:r>
            <a:endParaRPr sz="45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922945" y="1240196"/>
            <a:ext cx="262890" cy="100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" b="1" spc="-10" dirty="0">
                <a:solidFill>
                  <a:srgbClr val="1A1A1A"/>
                </a:solidFill>
                <a:latin typeface="Arial"/>
                <a:cs typeface="Arial"/>
              </a:rPr>
              <a:t>Stevens</a:t>
            </a:r>
            <a:endParaRPr sz="45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58985" y="2234195"/>
            <a:ext cx="5905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A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28232" y="2234195"/>
            <a:ext cx="33020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0035" algn="l"/>
              </a:tabLst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B</a:t>
            </a:r>
            <a:r>
              <a:rPr sz="400" dirty="0">
                <a:solidFill>
                  <a:srgbClr val="4D4D4D"/>
                </a:solidFill>
                <a:latin typeface="Microsoft Sans Serif"/>
                <a:cs typeface="Microsoft Sans Serif"/>
              </a:rPr>
              <a:t>	</a:t>
            </a: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C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265370" y="2234195"/>
            <a:ext cx="95440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7665" algn="l"/>
                <a:tab pos="636905" algn="l"/>
                <a:tab pos="904875" algn="l"/>
              </a:tabLst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D</a:t>
            </a:r>
            <a:r>
              <a:rPr sz="400" dirty="0">
                <a:solidFill>
                  <a:srgbClr val="4D4D4D"/>
                </a:solidFill>
                <a:latin typeface="Microsoft Sans Serif"/>
                <a:cs typeface="Microsoft Sans Serif"/>
              </a:rPr>
              <a:t>	</a:t>
            </a: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A</a:t>
            </a:r>
            <a:r>
              <a:rPr sz="400" dirty="0">
                <a:solidFill>
                  <a:srgbClr val="4D4D4D"/>
                </a:solidFill>
                <a:latin typeface="Microsoft Sans Serif"/>
                <a:cs typeface="Microsoft Sans Serif"/>
              </a:rPr>
              <a:t>	</a:t>
            </a: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B</a:t>
            </a:r>
            <a:r>
              <a:rPr sz="400" dirty="0">
                <a:solidFill>
                  <a:srgbClr val="4D4D4D"/>
                </a:solidFill>
                <a:latin typeface="Microsoft Sans Serif"/>
                <a:cs typeface="Microsoft Sans Serif"/>
              </a:rPr>
              <a:t>	</a:t>
            </a: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C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427095" y="2234195"/>
            <a:ext cx="6223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D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58425" y="2153994"/>
            <a:ext cx="5397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0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30399" y="1931340"/>
            <a:ext cx="8191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solidFill>
                  <a:srgbClr val="4D4D4D"/>
                </a:solidFill>
                <a:latin typeface="Microsoft Sans Serif"/>
                <a:cs typeface="Microsoft Sans Serif"/>
              </a:rPr>
              <a:t>10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30399" y="1708685"/>
            <a:ext cx="8191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solidFill>
                  <a:srgbClr val="4D4D4D"/>
                </a:solidFill>
                <a:latin typeface="Microsoft Sans Serif"/>
                <a:cs typeface="Microsoft Sans Serif"/>
              </a:rPr>
              <a:t>20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30399" y="1485992"/>
            <a:ext cx="8191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solidFill>
                  <a:srgbClr val="4D4D4D"/>
                </a:solidFill>
                <a:latin typeface="Microsoft Sans Serif"/>
                <a:cs typeface="Microsoft Sans Serif"/>
              </a:rPr>
              <a:t>30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45182" y="1412924"/>
            <a:ext cx="95250" cy="754380"/>
          </a:xfrm>
          <a:prstGeom prst="rect">
            <a:avLst/>
          </a:prstGeom>
        </p:spPr>
        <p:txBody>
          <a:bodyPr vert="vert270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dirty="0">
                <a:latin typeface="Microsoft Sans Serif"/>
                <a:cs typeface="Microsoft Sans Serif"/>
              </a:rPr>
              <a:t>Rotten</a:t>
            </a:r>
            <a:r>
              <a:rPr sz="450" spc="65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Fruit</a:t>
            </a:r>
            <a:r>
              <a:rPr sz="450" spc="8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(%</a:t>
            </a:r>
            <a:r>
              <a:rPr sz="450" spc="8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by</a:t>
            </a:r>
            <a:r>
              <a:rPr sz="450" spc="80" dirty="0">
                <a:latin typeface="Microsoft Sans Serif"/>
                <a:cs typeface="Microsoft Sans Serif"/>
              </a:rPr>
              <a:t> </a:t>
            </a:r>
            <a:r>
              <a:rPr sz="450" spc="-10" dirty="0">
                <a:latin typeface="Microsoft Sans Serif"/>
                <a:cs typeface="Microsoft Sans Serif"/>
              </a:rPr>
              <a:t>Weight)</a:t>
            </a:r>
            <a:endParaRPr sz="450">
              <a:latin typeface="Microsoft Sans Serif"/>
              <a:cs typeface="Microsoft Sans Serif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1036092" y="2478367"/>
            <a:ext cx="56515" cy="59690"/>
            <a:chOff x="1036092" y="2478367"/>
            <a:chExt cx="56515" cy="59690"/>
          </a:xfrm>
        </p:grpSpPr>
        <p:sp>
          <p:nvSpPr>
            <p:cNvPr id="94" name="object 94"/>
            <p:cNvSpPr/>
            <p:nvPr/>
          </p:nvSpPr>
          <p:spPr>
            <a:xfrm>
              <a:off x="1064215" y="2481372"/>
              <a:ext cx="0" cy="53975"/>
            </a:xfrm>
            <a:custGeom>
              <a:avLst/>
              <a:gdLst/>
              <a:ahLst/>
              <a:cxnLst/>
              <a:rect l="l" t="t" r="r" b="b"/>
              <a:pathLst>
                <a:path h="53975">
                  <a:moveTo>
                    <a:pt x="0" y="53570"/>
                  </a:moveTo>
                  <a:lnTo>
                    <a:pt x="0" y="43530"/>
                  </a:lnTo>
                </a:path>
                <a:path h="53975">
                  <a:moveTo>
                    <a:pt x="0" y="10039"/>
                  </a:moveTo>
                  <a:lnTo>
                    <a:pt x="0" y="0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039096" y="2491411"/>
              <a:ext cx="50800" cy="33655"/>
            </a:xfrm>
            <a:custGeom>
              <a:avLst/>
              <a:gdLst/>
              <a:ahLst/>
              <a:cxnLst/>
              <a:rect l="l" t="t" r="r" b="b"/>
              <a:pathLst>
                <a:path w="50800" h="33655">
                  <a:moveTo>
                    <a:pt x="50236" y="0"/>
                  </a:moveTo>
                  <a:lnTo>
                    <a:pt x="0" y="0"/>
                  </a:lnTo>
                  <a:lnTo>
                    <a:pt x="0" y="33491"/>
                  </a:lnTo>
                  <a:lnTo>
                    <a:pt x="50236" y="33491"/>
                  </a:lnTo>
                  <a:lnTo>
                    <a:pt x="50236" y="0"/>
                  </a:lnTo>
                  <a:close/>
                </a:path>
              </a:pathLst>
            </a:custGeom>
            <a:solidFill>
              <a:srgbClr val="0072B2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039096" y="2491411"/>
              <a:ext cx="50800" cy="33655"/>
            </a:xfrm>
            <a:custGeom>
              <a:avLst/>
              <a:gdLst/>
              <a:ahLst/>
              <a:cxnLst/>
              <a:rect l="l" t="t" r="r" b="b"/>
              <a:pathLst>
                <a:path w="50800" h="33655">
                  <a:moveTo>
                    <a:pt x="0" y="33491"/>
                  </a:moveTo>
                  <a:lnTo>
                    <a:pt x="50236" y="33491"/>
                  </a:lnTo>
                  <a:lnTo>
                    <a:pt x="50236" y="0"/>
                  </a:lnTo>
                  <a:lnTo>
                    <a:pt x="0" y="0"/>
                  </a:lnTo>
                  <a:lnTo>
                    <a:pt x="0" y="33491"/>
                  </a:lnTo>
                  <a:close/>
                </a:path>
                <a:path w="50800" h="33655">
                  <a:moveTo>
                    <a:pt x="0" y="16745"/>
                  </a:moveTo>
                  <a:lnTo>
                    <a:pt x="50236" y="16745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061199" y="2478379"/>
              <a:ext cx="6350" cy="59690"/>
            </a:xfrm>
            <a:custGeom>
              <a:avLst/>
              <a:gdLst/>
              <a:ahLst/>
              <a:cxnLst/>
              <a:rect l="l" t="t" r="r" b="b"/>
              <a:pathLst>
                <a:path w="6350" h="59689">
                  <a:moveTo>
                    <a:pt x="6019" y="56565"/>
                  </a:moveTo>
                  <a:lnTo>
                    <a:pt x="5130" y="54444"/>
                  </a:lnTo>
                  <a:lnTo>
                    <a:pt x="3009" y="53568"/>
                  </a:lnTo>
                  <a:lnTo>
                    <a:pt x="889" y="54444"/>
                  </a:lnTo>
                  <a:lnTo>
                    <a:pt x="0" y="56565"/>
                  </a:lnTo>
                  <a:lnTo>
                    <a:pt x="889" y="58699"/>
                  </a:lnTo>
                  <a:lnTo>
                    <a:pt x="3009" y="59575"/>
                  </a:lnTo>
                  <a:lnTo>
                    <a:pt x="5130" y="58699"/>
                  </a:lnTo>
                  <a:lnTo>
                    <a:pt x="6019" y="56565"/>
                  </a:lnTo>
                  <a:close/>
                </a:path>
                <a:path w="6350" h="59689">
                  <a:moveTo>
                    <a:pt x="6019" y="2997"/>
                  </a:moveTo>
                  <a:lnTo>
                    <a:pt x="5130" y="876"/>
                  </a:lnTo>
                  <a:lnTo>
                    <a:pt x="3009" y="0"/>
                  </a:lnTo>
                  <a:lnTo>
                    <a:pt x="889" y="876"/>
                  </a:lnTo>
                  <a:lnTo>
                    <a:pt x="0" y="2997"/>
                  </a:lnTo>
                  <a:lnTo>
                    <a:pt x="889" y="5118"/>
                  </a:lnTo>
                  <a:lnTo>
                    <a:pt x="3009" y="6007"/>
                  </a:lnTo>
                  <a:lnTo>
                    <a:pt x="5130" y="5118"/>
                  </a:lnTo>
                  <a:lnTo>
                    <a:pt x="6019" y="2997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1327280" y="2478367"/>
            <a:ext cx="56515" cy="59690"/>
            <a:chOff x="1327280" y="2478367"/>
            <a:chExt cx="56515" cy="59690"/>
          </a:xfrm>
        </p:grpSpPr>
        <p:sp>
          <p:nvSpPr>
            <p:cNvPr id="99" name="object 99"/>
            <p:cNvSpPr/>
            <p:nvPr/>
          </p:nvSpPr>
          <p:spPr>
            <a:xfrm>
              <a:off x="1355402" y="2481372"/>
              <a:ext cx="0" cy="53975"/>
            </a:xfrm>
            <a:custGeom>
              <a:avLst/>
              <a:gdLst/>
              <a:ahLst/>
              <a:cxnLst/>
              <a:rect l="l" t="t" r="r" b="b"/>
              <a:pathLst>
                <a:path h="53975">
                  <a:moveTo>
                    <a:pt x="0" y="53570"/>
                  </a:moveTo>
                  <a:lnTo>
                    <a:pt x="0" y="43530"/>
                  </a:lnTo>
                </a:path>
                <a:path h="53975">
                  <a:moveTo>
                    <a:pt x="0" y="10039"/>
                  </a:moveTo>
                  <a:lnTo>
                    <a:pt x="0" y="0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330284" y="2491411"/>
              <a:ext cx="50800" cy="33655"/>
            </a:xfrm>
            <a:custGeom>
              <a:avLst/>
              <a:gdLst/>
              <a:ahLst/>
              <a:cxnLst/>
              <a:rect l="l" t="t" r="r" b="b"/>
              <a:pathLst>
                <a:path w="50800" h="33655">
                  <a:moveTo>
                    <a:pt x="50236" y="0"/>
                  </a:moveTo>
                  <a:lnTo>
                    <a:pt x="0" y="0"/>
                  </a:lnTo>
                  <a:lnTo>
                    <a:pt x="0" y="33491"/>
                  </a:lnTo>
                  <a:lnTo>
                    <a:pt x="50236" y="33491"/>
                  </a:lnTo>
                  <a:lnTo>
                    <a:pt x="50236" y="0"/>
                  </a:lnTo>
                  <a:close/>
                </a:path>
              </a:pathLst>
            </a:custGeom>
            <a:solidFill>
              <a:srgbClr val="D55E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330284" y="2491411"/>
              <a:ext cx="50800" cy="33655"/>
            </a:xfrm>
            <a:custGeom>
              <a:avLst/>
              <a:gdLst/>
              <a:ahLst/>
              <a:cxnLst/>
              <a:rect l="l" t="t" r="r" b="b"/>
              <a:pathLst>
                <a:path w="50800" h="33655">
                  <a:moveTo>
                    <a:pt x="0" y="33491"/>
                  </a:moveTo>
                  <a:lnTo>
                    <a:pt x="50236" y="33491"/>
                  </a:lnTo>
                  <a:lnTo>
                    <a:pt x="50236" y="0"/>
                  </a:lnTo>
                  <a:lnTo>
                    <a:pt x="0" y="0"/>
                  </a:lnTo>
                  <a:lnTo>
                    <a:pt x="0" y="33491"/>
                  </a:lnTo>
                  <a:close/>
                </a:path>
                <a:path w="50800" h="33655">
                  <a:moveTo>
                    <a:pt x="0" y="16745"/>
                  </a:moveTo>
                  <a:lnTo>
                    <a:pt x="50236" y="16745"/>
                  </a:lnTo>
                </a:path>
              </a:pathLst>
            </a:custGeom>
            <a:ln w="600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352397" y="2478379"/>
              <a:ext cx="6350" cy="59690"/>
            </a:xfrm>
            <a:custGeom>
              <a:avLst/>
              <a:gdLst/>
              <a:ahLst/>
              <a:cxnLst/>
              <a:rect l="l" t="t" r="r" b="b"/>
              <a:pathLst>
                <a:path w="6350" h="59689">
                  <a:moveTo>
                    <a:pt x="6007" y="56565"/>
                  </a:moveTo>
                  <a:lnTo>
                    <a:pt x="5118" y="54444"/>
                  </a:lnTo>
                  <a:lnTo>
                    <a:pt x="2997" y="53568"/>
                  </a:lnTo>
                  <a:lnTo>
                    <a:pt x="876" y="54444"/>
                  </a:lnTo>
                  <a:lnTo>
                    <a:pt x="0" y="56565"/>
                  </a:lnTo>
                  <a:lnTo>
                    <a:pt x="876" y="58699"/>
                  </a:lnTo>
                  <a:lnTo>
                    <a:pt x="2997" y="59575"/>
                  </a:lnTo>
                  <a:lnTo>
                    <a:pt x="5118" y="58699"/>
                  </a:lnTo>
                  <a:lnTo>
                    <a:pt x="6007" y="56565"/>
                  </a:lnTo>
                  <a:close/>
                </a:path>
                <a:path w="6350" h="59689">
                  <a:moveTo>
                    <a:pt x="6007" y="2997"/>
                  </a:moveTo>
                  <a:lnTo>
                    <a:pt x="5118" y="876"/>
                  </a:lnTo>
                  <a:lnTo>
                    <a:pt x="2997" y="0"/>
                  </a:lnTo>
                  <a:lnTo>
                    <a:pt x="876" y="876"/>
                  </a:lnTo>
                  <a:lnTo>
                    <a:pt x="0" y="2997"/>
                  </a:lnTo>
                  <a:lnTo>
                    <a:pt x="876" y="5118"/>
                  </a:lnTo>
                  <a:lnTo>
                    <a:pt x="2997" y="6007"/>
                  </a:lnTo>
                  <a:lnTo>
                    <a:pt x="5118" y="5118"/>
                  </a:lnTo>
                  <a:lnTo>
                    <a:pt x="6007" y="2997"/>
                  </a:lnTo>
                  <a:close/>
                </a:path>
              </a:pathLst>
            </a:custGeom>
            <a:solidFill>
              <a:srgbClr val="333333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847661" y="2293618"/>
            <a:ext cx="1251585" cy="2559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" dirty="0">
                <a:latin typeface="Microsoft Sans Serif"/>
                <a:cs typeface="Microsoft Sans Serif"/>
              </a:rPr>
              <a:t>Treatment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(A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=</a:t>
            </a:r>
            <a:r>
              <a:rPr sz="450" spc="55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4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pulses,</a:t>
            </a:r>
            <a:r>
              <a:rPr sz="450" spc="55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B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=</a:t>
            </a:r>
            <a:r>
              <a:rPr sz="450" spc="55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3,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C</a:t>
            </a:r>
            <a:r>
              <a:rPr sz="450" spc="55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=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2,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D</a:t>
            </a:r>
            <a:r>
              <a:rPr sz="450" spc="55" dirty="0">
                <a:latin typeface="Microsoft Sans Serif"/>
                <a:cs typeface="Microsoft Sans Serif"/>
              </a:rPr>
              <a:t> </a:t>
            </a:r>
            <a:r>
              <a:rPr sz="450" dirty="0">
                <a:latin typeface="Microsoft Sans Serif"/>
                <a:cs typeface="Microsoft Sans Serif"/>
              </a:rPr>
              <a:t>=</a:t>
            </a:r>
            <a:r>
              <a:rPr sz="450" spc="50" dirty="0">
                <a:latin typeface="Microsoft Sans Serif"/>
                <a:cs typeface="Microsoft Sans Serif"/>
              </a:rPr>
              <a:t> </a:t>
            </a:r>
            <a:r>
              <a:rPr sz="450" spc="-25" dirty="0">
                <a:latin typeface="Microsoft Sans Serif"/>
                <a:cs typeface="Microsoft Sans Serif"/>
              </a:rPr>
              <a:t>1)</a:t>
            </a:r>
            <a:endParaRPr sz="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450">
              <a:latin typeface="Microsoft Sans Serif"/>
              <a:cs typeface="Microsoft Sans Serif"/>
            </a:endParaRPr>
          </a:p>
          <a:p>
            <a:pPr marL="280670">
              <a:lnSpc>
                <a:spcPct val="100000"/>
              </a:lnSpc>
              <a:tabLst>
                <a:tab pos="571500" algn="l"/>
              </a:tabLst>
            </a:pPr>
            <a:r>
              <a:rPr sz="400" spc="-10" dirty="0">
                <a:latin typeface="Microsoft Sans Serif"/>
                <a:cs typeface="Microsoft Sans Serif"/>
              </a:rPr>
              <a:t>Control</a:t>
            </a:r>
            <a:r>
              <a:rPr sz="400" dirty="0">
                <a:latin typeface="Microsoft Sans Serif"/>
                <a:cs typeface="Microsoft Sans Serif"/>
              </a:rPr>
              <a:t>	Heat</a:t>
            </a:r>
            <a:r>
              <a:rPr sz="400" spc="-30" dirty="0">
                <a:latin typeface="Microsoft Sans Serif"/>
                <a:cs typeface="Microsoft Sans Serif"/>
              </a:rPr>
              <a:t> </a:t>
            </a:r>
            <a:r>
              <a:rPr sz="400" spc="-10" dirty="0">
                <a:latin typeface="Microsoft Sans Serif"/>
                <a:cs typeface="Microsoft Sans Serif"/>
              </a:rPr>
              <a:t>Treatment</a:t>
            </a:r>
            <a:r>
              <a:rPr sz="400" spc="-15" dirty="0">
                <a:latin typeface="Microsoft Sans Serif"/>
                <a:cs typeface="Microsoft Sans Serif"/>
              </a:rPr>
              <a:t> </a:t>
            </a:r>
            <a:r>
              <a:rPr sz="400" spc="-10" dirty="0">
                <a:latin typeface="Microsoft Sans Serif"/>
                <a:cs typeface="Microsoft Sans Serif"/>
              </a:rPr>
              <a:t>(OTC)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4346460" y="3332810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latin typeface="Trebuchet MS"/>
                <a:cs typeface="Trebuchet MS"/>
              </a:rPr>
              <a:t>4</a:t>
            </a:r>
            <a:r>
              <a:rPr sz="600" spc="30" dirty="0">
                <a:latin typeface="Trebuchet MS"/>
                <a:cs typeface="Trebuchet MS"/>
              </a:rPr>
              <a:t> </a:t>
            </a:r>
            <a:r>
              <a:rPr sz="600" dirty="0">
                <a:latin typeface="Trebuchet MS"/>
                <a:cs typeface="Trebuchet MS"/>
              </a:rPr>
              <a:t>/</a:t>
            </a:r>
            <a:r>
              <a:rPr sz="600" spc="35" dirty="0">
                <a:latin typeface="Trebuchet MS"/>
                <a:cs typeface="Trebuchet MS"/>
              </a:rPr>
              <a:t> </a:t>
            </a:r>
            <a:r>
              <a:rPr sz="600" spc="-25" dirty="0">
                <a:latin typeface="Trebuchet MS"/>
                <a:cs typeface="Trebuchet MS"/>
              </a:rPr>
              <a:t>10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2930144" y="1062423"/>
            <a:ext cx="1408430" cy="1088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9545" indent="-131445">
              <a:lnSpc>
                <a:spcPts val="1200"/>
              </a:lnSpc>
              <a:spcBef>
                <a:spcPts val="95"/>
              </a:spcBef>
              <a:buClr>
                <a:srgbClr val="990000"/>
              </a:buClr>
              <a:buFont typeface="Verdana"/>
              <a:buChar char="•"/>
              <a:tabLst>
                <a:tab pos="169545" algn="l"/>
              </a:tabLst>
            </a:pPr>
            <a:r>
              <a:rPr sz="1000" dirty="0">
                <a:latin typeface="Tahoma"/>
                <a:cs typeface="Tahoma"/>
              </a:rPr>
              <a:t>Control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rotten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rate:</a:t>
            </a:r>
            <a:endParaRPr sz="1000">
              <a:latin typeface="Tahoma"/>
              <a:cs typeface="Tahoma"/>
            </a:endParaRPr>
          </a:p>
          <a:p>
            <a:pPr marL="170180">
              <a:lnSpc>
                <a:spcPts val="1200"/>
              </a:lnSpc>
            </a:pPr>
            <a:r>
              <a:rPr sz="1000" b="1" spc="-10" dirty="0">
                <a:latin typeface="Arial"/>
                <a:cs typeface="Arial"/>
              </a:rPr>
              <a:t>1–5%</a:t>
            </a:r>
            <a:r>
              <a:rPr sz="1000" spc="-10" dirty="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marL="169545" indent="-131445">
              <a:lnSpc>
                <a:spcPts val="1200"/>
              </a:lnSpc>
              <a:spcBef>
                <a:spcPts val="595"/>
              </a:spcBef>
              <a:buClr>
                <a:srgbClr val="990000"/>
              </a:buClr>
              <a:buFont typeface="Verdana"/>
              <a:buChar char="•"/>
              <a:tabLst>
                <a:tab pos="169545" algn="l"/>
              </a:tabLst>
            </a:pPr>
            <a:r>
              <a:rPr sz="1000" dirty="0">
                <a:latin typeface="Tahoma"/>
                <a:cs typeface="Tahoma"/>
              </a:rPr>
              <a:t>OTC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rotten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rate:</a:t>
            </a:r>
            <a:endParaRPr sz="1000">
              <a:latin typeface="Tahoma"/>
              <a:cs typeface="Tahoma"/>
            </a:endParaRPr>
          </a:p>
          <a:p>
            <a:pPr marL="170180">
              <a:lnSpc>
                <a:spcPts val="1200"/>
              </a:lnSpc>
            </a:pPr>
            <a:r>
              <a:rPr sz="1000" b="1" spc="-10" dirty="0">
                <a:latin typeface="Arial"/>
                <a:cs typeface="Arial"/>
              </a:rPr>
              <a:t>5–37%</a:t>
            </a:r>
            <a:r>
              <a:rPr sz="1000" spc="-10" dirty="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marL="168910" marR="30480" indent="-131445">
              <a:lnSpc>
                <a:spcPct val="100000"/>
              </a:lnSpc>
              <a:spcBef>
                <a:spcPts val="590"/>
              </a:spcBef>
              <a:buClr>
                <a:srgbClr val="990000"/>
              </a:buClr>
              <a:buFont typeface="Verdana"/>
              <a:buChar char="•"/>
              <a:tabLst>
                <a:tab pos="170180" algn="l"/>
              </a:tabLst>
            </a:pPr>
            <a:r>
              <a:rPr sz="1000" dirty="0">
                <a:latin typeface="Tahoma"/>
                <a:cs typeface="Tahoma"/>
              </a:rPr>
              <a:t>OTC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increases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odds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of 	</a:t>
            </a:r>
            <a:r>
              <a:rPr sz="1000" dirty="0">
                <a:latin typeface="Tahoma"/>
                <a:cs typeface="Tahoma"/>
              </a:rPr>
              <a:t>rot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by </a:t>
            </a:r>
            <a:r>
              <a:rPr sz="1000" b="1" dirty="0">
                <a:latin typeface="Arial"/>
                <a:cs typeface="Arial"/>
              </a:rPr>
              <a:t>3.8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times</a:t>
            </a:r>
            <a:r>
              <a:rPr sz="1000" spc="-10" dirty="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25844" y="2625398"/>
            <a:ext cx="4098290" cy="32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100"/>
              </a:spcBef>
            </a:pPr>
            <a:r>
              <a:rPr sz="900" b="1" dirty="0">
                <a:latin typeface="Arial"/>
                <a:cs typeface="Arial"/>
              </a:rPr>
              <a:t>Model</a:t>
            </a:r>
            <a:r>
              <a:rPr sz="900" dirty="0">
                <a:latin typeface="Tahoma"/>
                <a:cs typeface="Tahoma"/>
              </a:rPr>
              <a:t>:</a:t>
            </a:r>
            <a:r>
              <a:rPr sz="900" spc="6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Quasibinomial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55" dirty="0">
                <a:latin typeface="Tahoma"/>
                <a:cs typeface="Tahoma"/>
              </a:rPr>
              <a:t>GLM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on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raw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counts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105" dirty="0">
                <a:latin typeface="Tahoma"/>
                <a:cs typeface="Tahoma"/>
              </a:rPr>
              <a:t>—</a:t>
            </a:r>
            <a:r>
              <a:rPr sz="900" spc="-25" dirty="0">
                <a:latin typeface="Tahoma"/>
                <a:cs typeface="Tahoma"/>
              </a:rPr>
              <a:t> appropriate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for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proportion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data</a:t>
            </a:r>
            <a:r>
              <a:rPr sz="900" spc="-20" dirty="0">
                <a:latin typeface="Tahoma"/>
                <a:cs typeface="Tahoma"/>
              </a:rPr>
              <a:t> with varying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denominators.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Yield</a:t>
            </a:r>
            <a:r>
              <a:rPr spc="-40" dirty="0"/>
              <a:t> </a:t>
            </a:r>
            <a:r>
              <a:rPr spc="-30" dirty="0"/>
              <a:t>Analysis:</a:t>
            </a:r>
            <a:r>
              <a:rPr spc="100" dirty="0"/>
              <a:t> </a:t>
            </a:r>
            <a:r>
              <a:rPr dirty="0"/>
              <a:t>No</a:t>
            </a:r>
            <a:r>
              <a:rPr spc="-35" dirty="0"/>
              <a:t> </a:t>
            </a:r>
            <a:r>
              <a:rPr spc="-55" dirty="0"/>
              <a:t>Dose–Response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75086" y="66886"/>
            <a:ext cx="133985" cy="216535"/>
            <a:chOff x="4275086" y="66886"/>
            <a:chExt cx="133985" cy="216535"/>
          </a:xfrm>
        </p:grpSpPr>
        <p:sp>
          <p:nvSpPr>
            <p:cNvPr id="4" name="object 4"/>
            <p:cNvSpPr/>
            <p:nvPr/>
          </p:nvSpPr>
          <p:spPr>
            <a:xfrm>
              <a:off x="4275086" y="66886"/>
              <a:ext cx="133985" cy="216535"/>
            </a:xfrm>
            <a:custGeom>
              <a:avLst/>
              <a:gdLst/>
              <a:ahLst/>
              <a:cxnLst/>
              <a:rect l="l" t="t" r="r" b="b"/>
              <a:pathLst>
                <a:path w="133985" h="216535">
                  <a:moveTo>
                    <a:pt x="75562" y="0"/>
                  </a:moveTo>
                  <a:lnTo>
                    <a:pt x="67666" y="472"/>
                  </a:lnTo>
                  <a:lnTo>
                    <a:pt x="66960" y="493"/>
                  </a:lnTo>
                  <a:lnTo>
                    <a:pt x="66258" y="472"/>
                  </a:lnTo>
                  <a:lnTo>
                    <a:pt x="58363" y="1"/>
                  </a:lnTo>
                  <a:lnTo>
                    <a:pt x="55719" y="9490"/>
                  </a:lnTo>
                  <a:lnTo>
                    <a:pt x="54589" y="9358"/>
                  </a:lnTo>
                  <a:lnTo>
                    <a:pt x="52122" y="9290"/>
                  </a:lnTo>
                  <a:lnTo>
                    <a:pt x="48327" y="12045"/>
                  </a:lnTo>
                  <a:lnTo>
                    <a:pt x="47311" y="14028"/>
                  </a:lnTo>
                  <a:lnTo>
                    <a:pt x="46920" y="16653"/>
                  </a:lnTo>
                  <a:lnTo>
                    <a:pt x="44422" y="16169"/>
                  </a:lnTo>
                  <a:lnTo>
                    <a:pt x="9548" y="40726"/>
                  </a:lnTo>
                  <a:lnTo>
                    <a:pt x="0" y="92324"/>
                  </a:lnTo>
                  <a:lnTo>
                    <a:pt x="105" y="98726"/>
                  </a:lnTo>
                  <a:lnTo>
                    <a:pt x="9308" y="152251"/>
                  </a:lnTo>
                  <a:lnTo>
                    <a:pt x="40505" y="199970"/>
                  </a:lnTo>
                  <a:lnTo>
                    <a:pt x="62432" y="211719"/>
                  </a:lnTo>
                  <a:lnTo>
                    <a:pt x="63840" y="214087"/>
                  </a:lnTo>
                  <a:lnTo>
                    <a:pt x="65591" y="215787"/>
                  </a:lnTo>
                  <a:lnTo>
                    <a:pt x="66961" y="216170"/>
                  </a:lnTo>
                  <a:lnTo>
                    <a:pt x="68330" y="215787"/>
                  </a:lnTo>
                  <a:lnTo>
                    <a:pt x="70078" y="214087"/>
                  </a:lnTo>
                  <a:lnTo>
                    <a:pt x="71485" y="211720"/>
                  </a:lnTo>
                  <a:lnTo>
                    <a:pt x="93417" y="199973"/>
                  </a:lnTo>
                  <a:lnTo>
                    <a:pt x="124622" y="152252"/>
                  </a:lnTo>
                  <a:lnTo>
                    <a:pt x="132975" y="111963"/>
                  </a:lnTo>
                  <a:lnTo>
                    <a:pt x="133933" y="92326"/>
                  </a:lnTo>
                  <a:lnTo>
                    <a:pt x="132846" y="72820"/>
                  </a:lnTo>
                  <a:lnTo>
                    <a:pt x="117161" y="29048"/>
                  </a:lnTo>
                  <a:lnTo>
                    <a:pt x="91934" y="16070"/>
                  </a:lnTo>
                  <a:lnTo>
                    <a:pt x="89151" y="16183"/>
                  </a:lnTo>
                  <a:lnTo>
                    <a:pt x="86501" y="16764"/>
                  </a:lnTo>
                  <a:lnTo>
                    <a:pt x="86102" y="14047"/>
                  </a:lnTo>
                  <a:lnTo>
                    <a:pt x="85078" y="12012"/>
                  </a:lnTo>
                  <a:lnTo>
                    <a:pt x="81438" y="9365"/>
                  </a:lnTo>
                  <a:lnTo>
                    <a:pt x="79249" y="9389"/>
                  </a:lnTo>
                  <a:lnTo>
                    <a:pt x="78205" y="9498"/>
                  </a:lnTo>
                  <a:lnTo>
                    <a:pt x="75562" y="0"/>
                  </a:lnTo>
                  <a:close/>
                </a:path>
              </a:pathLst>
            </a:custGeom>
            <a:solidFill>
              <a:srgbClr val="A98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01711" y="126161"/>
              <a:ext cx="81280" cy="127635"/>
            </a:xfrm>
            <a:custGeom>
              <a:avLst/>
              <a:gdLst/>
              <a:ahLst/>
              <a:cxnLst/>
              <a:rect l="l" t="t" r="r" b="b"/>
              <a:pathLst>
                <a:path w="81279" h="127635">
                  <a:moveTo>
                    <a:pt x="56730" y="0"/>
                  </a:moveTo>
                  <a:lnTo>
                    <a:pt x="47922" y="2286"/>
                  </a:lnTo>
                  <a:lnTo>
                    <a:pt x="43508" y="2990"/>
                  </a:lnTo>
                  <a:lnTo>
                    <a:pt x="40350" y="3075"/>
                  </a:lnTo>
                  <a:lnTo>
                    <a:pt x="36960" y="2984"/>
                  </a:lnTo>
                  <a:lnTo>
                    <a:pt x="32581" y="2243"/>
                  </a:lnTo>
                  <a:lnTo>
                    <a:pt x="23947" y="1"/>
                  </a:lnTo>
                  <a:lnTo>
                    <a:pt x="18883" y="1599"/>
                  </a:lnTo>
                  <a:lnTo>
                    <a:pt x="524" y="35285"/>
                  </a:lnTo>
                  <a:lnTo>
                    <a:pt x="0" y="44781"/>
                  </a:lnTo>
                  <a:lnTo>
                    <a:pt x="0" y="47065"/>
                  </a:lnTo>
                  <a:lnTo>
                    <a:pt x="7745" y="84974"/>
                  </a:lnTo>
                  <a:lnTo>
                    <a:pt x="33318" y="122090"/>
                  </a:lnTo>
                  <a:lnTo>
                    <a:pt x="40357" y="127353"/>
                  </a:lnTo>
                  <a:lnTo>
                    <a:pt x="47391" y="122089"/>
                  </a:lnTo>
                  <a:lnTo>
                    <a:pt x="72941" y="84976"/>
                  </a:lnTo>
                  <a:lnTo>
                    <a:pt x="80707" y="46307"/>
                  </a:lnTo>
                  <a:lnTo>
                    <a:pt x="80707" y="44260"/>
                  </a:lnTo>
                  <a:lnTo>
                    <a:pt x="66286" y="5320"/>
                  </a:lnTo>
                  <a:lnTo>
                    <a:pt x="56730" y="0"/>
                  </a:lnTo>
                  <a:close/>
                </a:path>
              </a:pathLst>
            </a:custGeom>
            <a:solidFill>
              <a:srgbClr val="CD15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1948" y="98740"/>
              <a:ext cx="6317" cy="162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0290" y="72987"/>
              <a:ext cx="103519" cy="448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5606" y="162832"/>
              <a:ext cx="20230" cy="567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8639" y="162832"/>
              <a:ext cx="20228" cy="567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6935" y="266463"/>
              <a:ext cx="10483" cy="149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75192" y="67095"/>
              <a:ext cx="133721" cy="2158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25844" y="718004"/>
            <a:ext cx="26403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All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treatments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60" dirty="0">
                <a:latin typeface="Arial"/>
                <a:cs typeface="Arial"/>
              </a:rPr>
              <a:t>cause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similar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30" dirty="0">
                <a:latin typeface="Arial"/>
                <a:cs typeface="Arial"/>
              </a:rPr>
              <a:t>yield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80" dirty="0">
                <a:latin typeface="Arial"/>
                <a:cs typeface="Arial"/>
              </a:rPr>
              <a:t>loss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0781" y="1289202"/>
            <a:ext cx="2087245" cy="1061085"/>
            <a:chOff x="400781" y="1289202"/>
            <a:chExt cx="2087245" cy="1061085"/>
          </a:xfrm>
        </p:grpSpPr>
        <p:sp>
          <p:nvSpPr>
            <p:cNvPr id="14" name="object 14"/>
            <p:cNvSpPr/>
            <p:nvPr/>
          </p:nvSpPr>
          <p:spPr>
            <a:xfrm>
              <a:off x="400781" y="1438075"/>
              <a:ext cx="2087245" cy="821055"/>
            </a:xfrm>
            <a:custGeom>
              <a:avLst/>
              <a:gdLst/>
              <a:ahLst/>
              <a:cxnLst/>
              <a:rect l="l" t="t" r="r" b="b"/>
              <a:pathLst>
                <a:path w="2087245" h="821055">
                  <a:moveTo>
                    <a:pt x="0" y="820623"/>
                  </a:moveTo>
                  <a:lnTo>
                    <a:pt x="2086792" y="820623"/>
                  </a:lnTo>
                </a:path>
                <a:path w="2087245" h="821055">
                  <a:moveTo>
                    <a:pt x="0" y="547068"/>
                  </a:moveTo>
                  <a:lnTo>
                    <a:pt x="2086792" y="547068"/>
                  </a:lnTo>
                </a:path>
                <a:path w="2087245" h="821055">
                  <a:moveTo>
                    <a:pt x="0" y="273513"/>
                  </a:moveTo>
                  <a:lnTo>
                    <a:pt x="2086792" y="273513"/>
                  </a:lnTo>
                </a:path>
                <a:path w="2087245" h="821055">
                  <a:moveTo>
                    <a:pt x="0" y="0"/>
                  </a:moveTo>
                  <a:lnTo>
                    <a:pt x="2086792" y="0"/>
                  </a:lnTo>
                </a:path>
              </a:pathLst>
            </a:custGeom>
            <a:ln w="322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0781" y="1289202"/>
              <a:ext cx="2087245" cy="1061085"/>
            </a:xfrm>
            <a:custGeom>
              <a:avLst/>
              <a:gdLst/>
              <a:ahLst/>
              <a:cxnLst/>
              <a:rect l="l" t="t" r="r" b="b"/>
              <a:pathLst>
                <a:path w="2087245" h="1061085">
                  <a:moveTo>
                    <a:pt x="0" y="832698"/>
                  </a:moveTo>
                  <a:lnTo>
                    <a:pt x="2086792" y="832698"/>
                  </a:lnTo>
                </a:path>
                <a:path w="2087245" h="1061085">
                  <a:moveTo>
                    <a:pt x="0" y="559185"/>
                  </a:moveTo>
                  <a:lnTo>
                    <a:pt x="2086792" y="559185"/>
                  </a:lnTo>
                </a:path>
                <a:path w="2087245" h="1061085">
                  <a:moveTo>
                    <a:pt x="0" y="285630"/>
                  </a:moveTo>
                  <a:lnTo>
                    <a:pt x="2086792" y="285630"/>
                  </a:lnTo>
                </a:path>
                <a:path w="2087245" h="1061085">
                  <a:moveTo>
                    <a:pt x="0" y="12116"/>
                  </a:moveTo>
                  <a:lnTo>
                    <a:pt x="2086792" y="12116"/>
                  </a:lnTo>
                </a:path>
                <a:path w="2087245" h="1061085">
                  <a:moveTo>
                    <a:pt x="298119" y="1060888"/>
                  </a:moveTo>
                  <a:lnTo>
                    <a:pt x="298119" y="0"/>
                  </a:lnTo>
                </a:path>
                <a:path w="2087245" h="1061085">
                  <a:moveTo>
                    <a:pt x="794984" y="1060888"/>
                  </a:moveTo>
                  <a:lnTo>
                    <a:pt x="794984" y="0"/>
                  </a:lnTo>
                </a:path>
                <a:path w="2087245" h="1061085">
                  <a:moveTo>
                    <a:pt x="1291808" y="1060888"/>
                  </a:moveTo>
                  <a:lnTo>
                    <a:pt x="1291808" y="0"/>
                  </a:lnTo>
                </a:path>
                <a:path w="2087245" h="1061085">
                  <a:moveTo>
                    <a:pt x="1788673" y="1060888"/>
                  </a:moveTo>
                  <a:lnTo>
                    <a:pt x="1788673" y="0"/>
                  </a:lnTo>
                </a:path>
              </a:pathLst>
            </a:custGeom>
            <a:ln w="6409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0781" y="1574832"/>
              <a:ext cx="2087245" cy="0"/>
            </a:xfrm>
            <a:custGeom>
              <a:avLst/>
              <a:gdLst/>
              <a:ahLst/>
              <a:cxnLst/>
              <a:rect l="l" t="t" r="r" b="b"/>
              <a:pathLst>
                <a:path w="2087245">
                  <a:moveTo>
                    <a:pt x="0" y="0"/>
                  </a:moveTo>
                  <a:lnTo>
                    <a:pt x="2086792" y="0"/>
                  </a:lnTo>
                </a:path>
              </a:pathLst>
            </a:custGeom>
            <a:ln w="7071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6460" y="1600472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10"/>
                  </a:lnTo>
                  <a:lnTo>
                    <a:pt x="1559" y="12107"/>
                  </a:lnTo>
                  <a:lnTo>
                    <a:pt x="0" y="19808"/>
                  </a:lnTo>
                  <a:lnTo>
                    <a:pt x="1559" y="27485"/>
                  </a:lnTo>
                  <a:lnTo>
                    <a:pt x="5805" y="33770"/>
                  </a:lnTo>
                  <a:lnTo>
                    <a:pt x="12090" y="38016"/>
                  </a:lnTo>
                  <a:lnTo>
                    <a:pt x="19767" y="39575"/>
                  </a:lnTo>
                  <a:lnTo>
                    <a:pt x="27450" y="38016"/>
                  </a:lnTo>
                  <a:lnTo>
                    <a:pt x="33749" y="33770"/>
                  </a:lnTo>
                  <a:lnTo>
                    <a:pt x="38009" y="27485"/>
                  </a:lnTo>
                  <a:lnTo>
                    <a:pt x="39575" y="19808"/>
                  </a:lnTo>
                  <a:lnTo>
                    <a:pt x="38009" y="12107"/>
                  </a:lnTo>
                  <a:lnTo>
                    <a:pt x="33749" y="5810"/>
                  </a:lnTo>
                  <a:lnTo>
                    <a:pt x="27450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E69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6460" y="1600472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0" y="19808"/>
                  </a:moveTo>
                  <a:lnTo>
                    <a:pt x="1559" y="12107"/>
                  </a:lnTo>
                  <a:lnTo>
                    <a:pt x="5805" y="5810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50" y="1559"/>
                  </a:lnTo>
                  <a:lnTo>
                    <a:pt x="33749" y="5810"/>
                  </a:lnTo>
                  <a:lnTo>
                    <a:pt x="38009" y="12107"/>
                  </a:lnTo>
                  <a:lnTo>
                    <a:pt x="39575" y="19808"/>
                  </a:lnTo>
                  <a:lnTo>
                    <a:pt x="38009" y="27485"/>
                  </a:lnTo>
                  <a:lnTo>
                    <a:pt x="33749" y="33770"/>
                  </a:lnTo>
                  <a:lnTo>
                    <a:pt x="27450" y="38016"/>
                  </a:lnTo>
                  <a:lnTo>
                    <a:pt x="19767" y="39575"/>
                  </a:lnTo>
                  <a:lnTo>
                    <a:pt x="12090" y="38016"/>
                  </a:lnTo>
                  <a:lnTo>
                    <a:pt x="5805" y="33770"/>
                  </a:lnTo>
                  <a:lnTo>
                    <a:pt x="1559" y="27485"/>
                  </a:lnTo>
                  <a:lnTo>
                    <a:pt x="0" y="19808"/>
                  </a:lnTo>
                </a:path>
              </a:pathLst>
            </a:custGeom>
            <a:ln w="4259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3182" y="1822376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05" y="33729"/>
                  </a:lnTo>
                  <a:lnTo>
                    <a:pt x="12090" y="37975"/>
                  </a:lnTo>
                  <a:lnTo>
                    <a:pt x="19767" y="39534"/>
                  </a:lnTo>
                  <a:lnTo>
                    <a:pt x="27444" y="37975"/>
                  </a:lnTo>
                  <a:lnTo>
                    <a:pt x="33729" y="33729"/>
                  </a:lnTo>
                  <a:lnTo>
                    <a:pt x="37975" y="27444"/>
                  </a:lnTo>
                  <a:lnTo>
                    <a:pt x="39534" y="19767"/>
                  </a:lnTo>
                  <a:lnTo>
                    <a:pt x="37975" y="12090"/>
                  </a:lnTo>
                  <a:lnTo>
                    <a:pt x="33729" y="5805"/>
                  </a:lnTo>
                  <a:lnTo>
                    <a:pt x="27444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E69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3182" y="1822376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44" y="1559"/>
                  </a:lnTo>
                  <a:lnTo>
                    <a:pt x="33729" y="5805"/>
                  </a:lnTo>
                  <a:lnTo>
                    <a:pt x="37975" y="12090"/>
                  </a:lnTo>
                  <a:lnTo>
                    <a:pt x="39534" y="19767"/>
                  </a:lnTo>
                  <a:lnTo>
                    <a:pt x="37975" y="27444"/>
                  </a:lnTo>
                  <a:lnTo>
                    <a:pt x="33729" y="33729"/>
                  </a:lnTo>
                  <a:lnTo>
                    <a:pt x="27444" y="37975"/>
                  </a:lnTo>
                  <a:lnTo>
                    <a:pt x="19767" y="39534"/>
                  </a:lnTo>
                  <a:lnTo>
                    <a:pt x="12090" y="37975"/>
                  </a:lnTo>
                  <a:lnTo>
                    <a:pt x="5805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4467" y="1985599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19808" y="0"/>
                  </a:moveTo>
                  <a:lnTo>
                    <a:pt x="12125" y="1565"/>
                  </a:lnTo>
                  <a:lnTo>
                    <a:pt x="5825" y="5825"/>
                  </a:lnTo>
                  <a:lnTo>
                    <a:pt x="1565" y="12125"/>
                  </a:lnTo>
                  <a:lnTo>
                    <a:pt x="0" y="19808"/>
                  </a:lnTo>
                  <a:lnTo>
                    <a:pt x="1565" y="27485"/>
                  </a:lnTo>
                  <a:lnTo>
                    <a:pt x="5825" y="33770"/>
                  </a:lnTo>
                  <a:lnTo>
                    <a:pt x="12125" y="38016"/>
                  </a:lnTo>
                  <a:lnTo>
                    <a:pt x="19808" y="39575"/>
                  </a:lnTo>
                  <a:lnTo>
                    <a:pt x="27485" y="38016"/>
                  </a:lnTo>
                  <a:lnTo>
                    <a:pt x="33770" y="33770"/>
                  </a:lnTo>
                  <a:lnTo>
                    <a:pt x="38016" y="27485"/>
                  </a:lnTo>
                  <a:lnTo>
                    <a:pt x="39575" y="19808"/>
                  </a:lnTo>
                  <a:lnTo>
                    <a:pt x="38016" y="12125"/>
                  </a:lnTo>
                  <a:lnTo>
                    <a:pt x="33770" y="5825"/>
                  </a:lnTo>
                  <a:lnTo>
                    <a:pt x="27485" y="1565"/>
                  </a:lnTo>
                  <a:lnTo>
                    <a:pt x="19808" y="0"/>
                  </a:lnTo>
                  <a:close/>
                </a:path>
              </a:pathLst>
            </a:custGeom>
            <a:solidFill>
              <a:srgbClr val="E69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4467" y="1985599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0" y="19808"/>
                  </a:moveTo>
                  <a:lnTo>
                    <a:pt x="1565" y="12125"/>
                  </a:lnTo>
                  <a:lnTo>
                    <a:pt x="5825" y="5825"/>
                  </a:lnTo>
                  <a:lnTo>
                    <a:pt x="12125" y="1565"/>
                  </a:lnTo>
                  <a:lnTo>
                    <a:pt x="19808" y="0"/>
                  </a:lnTo>
                  <a:lnTo>
                    <a:pt x="27485" y="1565"/>
                  </a:lnTo>
                  <a:lnTo>
                    <a:pt x="33770" y="5825"/>
                  </a:lnTo>
                  <a:lnTo>
                    <a:pt x="38016" y="12125"/>
                  </a:lnTo>
                  <a:lnTo>
                    <a:pt x="39575" y="19808"/>
                  </a:lnTo>
                  <a:lnTo>
                    <a:pt x="38016" y="27485"/>
                  </a:lnTo>
                  <a:lnTo>
                    <a:pt x="33770" y="33770"/>
                  </a:lnTo>
                  <a:lnTo>
                    <a:pt x="27485" y="38016"/>
                  </a:lnTo>
                  <a:lnTo>
                    <a:pt x="19808" y="39575"/>
                  </a:lnTo>
                  <a:lnTo>
                    <a:pt x="12125" y="38016"/>
                  </a:lnTo>
                  <a:lnTo>
                    <a:pt x="5825" y="33770"/>
                  </a:lnTo>
                  <a:lnTo>
                    <a:pt x="1565" y="27485"/>
                  </a:lnTo>
                  <a:lnTo>
                    <a:pt x="0" y="19808"/>
                  </a:lnTo>
                </a:path>
              </a:pathLst>
            </a:custGeom>
            <a:ln w="4259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57885" y="1682269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50"/>
                  </a:lnTo>
                  <a:lnTo>
                    <a:pt x="5805" y="33749"/>
                  </a:lnTo>
                  <a:lnTo>
                    <a:pt x="12090" y="38009"/>
                  </a:lnTo>
                  <a:lnTo>
                    <a:pt x="19767" y="39575"/>
                  </a:lnTo>
                  <a:lnTo>
                    <a:pt x="27450" y="38009"/>
                  </a:lnTo>
                  <a:lnTo>
                    <a:pt x="33749" y="33749"/>
                  </a:lnTo>
                  <a:lnTo>
                    <a:pt x="38009" y="27450"/>
                  </a:lnTo>
                  <a:lnTo>
                    <a:pt x="39575" y="19767"/>
                  </a:lnTo>
                  <a:lnTo>
                    <a:pt x="38009" y="12090"/>
                  </a:lnTo>
                  <a:lnTo>
                    <a:pt x="33749" y="5805"/>
                  </a:lnTo>
                  <a:lnTo>
                    <a:pt x="27450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E69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57885" y="1682269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50" y="1559"/>
                  </a:lnTo>
                  <a:lnTo>
                    <a:pt x="33749" y="5805"/>
                  </a:lnTo>
                  <a:lnTo>
                    <a:pt x="38009" y="12090"/>
                  </a:lnTo>
                  <a:lnTo>
                    <a:pt x="39575" y="19767"/>
                  </a:lnTo>
                  <a:lnTo>
                    <a:pt x="38009" y="27450"/>
                  </a:lnTo>
                  <a:lnTo>
                    <a:pt x="33749" y="33749"/>
                  </a:lnTo>
                  <a:lnTo>
                    <a:pt x="27450" y="38009"/>
                  </a:lnTo>
                  <a:lnTo>
                    <a:pt x="19767" y="39575"/>
                  </a:lnTo>
                  <a:lnTo>
                    <a:pt x="12090" y="38009"/>
                  </a:lnTo>
                  <a:lnTo>
                    <a:pt x="5805" y="33749"/>
                  </a:lnTo>
                  <a:lnTo>
                    <a:pt x="1559" y="27450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32446" y="2098784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67"/>
                  </a:lnTo>
                  <a:lnTo>
                    <a:pt x="5805" y="33765"/>
                  </a:lnTo>
                  <a:lnTo>
                    <a:pt x="12090" y="38015"/>
                  </a:lnTo>
                  <a:lnTo>
                    <a:pt x="19767" y="39575"/>
                  </a:lnTo>
                  <a:lnTo>
                    <a:pt x="27467" y="38015"/>
                  </a:lnTo>
                  <a:lnTo>
                    <a:pt x="33765" y="33765"/>
                  </a:lnTo>
                  <a:lnTo>
                    <a:pt x="38015" y="27467"/>
                  </a:lnTo>
                  <a:lnTo>
                    <a:pt x="39575" y="19767"/>
                  </a:lnTo>
                  <a:lnTo>
                    <a:pt x="38015" y="12090"/>
                  </a:lnTo>
                  <a:lnTo>
                    <a:pt x="33765" y="5805"/>
                  </a:lnTo>
                  <a:lnTo>
                    <a:pt x="27467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E69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32446" y="2098784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67" y="1559"/>
                  </a:lnTo>
                  <a:lnTo>
                    <a:pt x="33765" y="5805"/>
                  </a:lnTo>
                  <a:lnTo>
                    <a:pt x="38015" y="12090"/>
                  </a:lnTo>
                  <a:lnTo>
                    <a:pt x="39575" y="19767"/>
                  </a:lnTo>
                  <a:lnTo>
                    <a:pt x="38015" y="27467"/>
                  </a:lnTo>
                  <a:lnTo>
                    <a:pt x="33765" y="33765"/>
                  </a:lnTo>
                  <a:lnTo>
                    <a:pt x="27467" y="38015"/>
                  </a:lnTo>
                  <a:lnTo>
                    <a:pt x="19767" y="39575"/>
                  </a:lnTo>
                  <a:lnTo>
                    <a:pt x="12090" y="38015"/>
                  </a:lnTo>
                  <a:lnTo>
                    <a:pt x="5805" y="33765"/>
                  </a:lnTo>
                  <a:lnTo>
                    <a:pt x="1559" y="27467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48332" y="1542452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808" y="0"/>
                  </a:moveTo>
                  <a:lnTo>
                    <a:pt x="12125" y="1565"/>
                  </a:lnTo>
                  <a:lnTo>
                    <a:pt x="5825" y="5825"/>
                  </a:lnTo>
                  <a:lnTo>
                    <a:pt x="1565" y="12125"/>
                  </a:lnTo>
                  <a:lnTo>
                    <a:pt x="0" y="19808"/>
                  </a:lnTo>
                  <a:lnTo>
                    <a:pt x="1565" y="27485"/>
                  </a:lnTo>
                  <a:lnTo>
                    <a:pt x="5825" y="33770"/>
                  </a:lnTo>
                  <a:lnTo>
                    <a:pt x="12125" y="38016"/>
                  </a:lnTo>
                  <a:lnTo>
                    <a:pt x="19808" y="39575"/>
                  </a:lnTo>
                  <a:lnTo>
                    <a:pt x="27485" y="38016"/>
                  </a:lnTo>
                  <a:lnTo>
                    <a:pt x="33770" y="33770"/>
                  </a:lnTo>
                  <a:lnTo>
                    <a:pt x="38016" y="27485"/>
                  </a:lnTo>
                  <a:lnTo>
                    <a:pt x="39575" y="19808"/>
                  </a:lnTo>
                  <a:lnTo>
                    <a:pt x="38016" y="12125"/>
                  </a:lnTo>
                  <a:lnTo>
                    <a:pt x="33770" y="5825"/>
                  </a:lnTo>
                  <a:lnTo>
                    <a:pt x="27485" y="1565"/>
                  </a:lnTo>
                  <a:lnTo>
                    <a:pt x="19808" y="0"/>
                  </a:lnTo>
                  <a:close/>
                </a:path>
              </a:pathLst>
            </a:custGeom>
            <a:solidFill>
              <a:srgbClr val="E69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48332" y="1542452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808"/>
                  </a:moveTo>
                  <a:lnTo>
                    <a:pt x="1565" y="12125"/>
                  </a:lnTo>
                  <a:lnTo>
                    <a:pt x="5825" y="5825"/>
                  </a:lnTo>
                  <a:lnTo>
                    <a:pt x="12125" y="1565"/>
                  </a:lnTo>
                  <a:lnTo>
                    <a:pt x="19808" y="0"/>
                  </a:lnTo>
                  <a:lnTo>
                    <a:pt x="27485" y="1565"/>
                  </a:lnTo>
                  <a:lnTo>
                    <a:pt x="33770" y="5825"/>
                  </a:lnTo>
                  <a:lnTo>
                    <a:pt x="38016" y="12125"/>
                  </a:lnTo>
                  <a:lnTo>
                    <a:pt x="39575" y="19808"/>
                  </a:lnTo>
                  <a:lnTo>
                    <a:pt x="38016" y="27485"/>
                  </a:lnTo>
                  <a:lnTo>
                    <a:pt x="33770" y="33770"/>
                  </a:lnTo>
                  <a:lnTo>
                    <a:pt x="27485" y="38016"/>
                  </a:lnTo>
                  <a:lnTo>
                    <a:pt x="19808" y="39575"/>
                  </a:lnTo>
                  <a:lnTo>
                    <a:pt x="12125" y="38016"/>
                  </a:lnTo>
                  <a:lnTo>
                    <a:pt x="5825" y="33770"/>
                  </a:lnTo>
                  <a:lnTo>
                    <a:pt x="1565" y="27485"/>
                  </a:lnTo>
                  <a:lnTo>
                    <a:pt x="0" y="19808"/>
                  </a:lnTo>
                </a:path>
              </a:pathLst>
            </a:custGeom>
            <a:ln w="4259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28366" y="1856079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808" y="0"/>
                  </a:moveTo>
                  <a:lnTo>
                    <a:pt x="12107" y="1559"/>
                  </a:lnTo>
                  <a:lnTo>
                    <a:pt x="5810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10" y="33729"/>
                  </a:lnTo>
                  <a:lnTo>
                    <a:pt x="12107" y="37975"/>
                  </a:lnTo>
                  <a:lnTo>
                    <a:pt x="19808" y="39534"/>
                  </a:lnTo>
                  <a:lnTo>
                    <a:pt x="27485" y="37975"/>
                  </a:lnTo>
                  <a:lnTo>
                    <a:pt x="33770" y="33729"/>
                  </a:lnTo>
                  <a:lnTo>
                    <a:pt x="38016" y="27444"/>
                  </a:lnTo>
                  <a:lnTo>
                    <a:pt x="39575" y="19767"/>
                  </a:lnTo>
                  <a:lnTo>
                    <a:pt x="38016" y="12090"/>
                  </a:lnTo>
                  <a:lnTo>
                    <a:pt x="33770" y="5805"/>
                  </a:lnTo>
                  <a:lnTo>
                    <a:pt x="27485" y="1559"/>
                  </a:lnTo>
                  <a:lnTo>
                    <a:pt x="19808" y="0"/>
                  </a:lnTo>
                  <a:close/>
                </a:path>
              </a:pathLst>
            </a:custGeom>
            <a:solidFill>
              <a:srgbClr val="E69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28366" y="1856079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10" y="5805"/>
                  </a:lnTo>
                  <a:lnTo>
                    <a:pt x="12107" y="1559"/>
                  </a:lnTo>
                  <a:lnTo>
                    <a:pt x="19808" y="0"/>
                  </a:lnTo>
                  <a:lnTo>
                    <a:pt x="27485" y="1559"/>
                  </a:lnTo>
                  <a:lnTo>
                    <a:pt x="33770" y="5805"/>
                  </a:lnTo>
                  <a:lnTo>
                    <a:pt x="38016" y="12090"/>
                  </a:lnTo>
                  <a:lnTo>
                    <a:pt x="39575" y="19767"/>
                  </a:lnTo>
                  <a:lnTo>
                    <a:pt x="38016" y="27444"/>
                  </a:lnTo>
                  <a:lnTo>
                    <a:pt x="33770" y="33729"/>
                  </a:lnTo>
                  <a:lnTo>
                    <a:pt x="27485" y="37975"/>
                  </a:lnTo>
                  <a:lnTo>
                    <a:pt x="19808" y="39534"/>
                  </a:lnTo>
                  <a:lnTo>
                    <a:pt x="12107" y="37975"/>
                  </a:lnTo>
                  <a:lnTo>
                    <a:pt x="5810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97220" y="1801575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808" y="0"/>
                  </a:moveTo>
                  <a:lnTo>
                    <a:pt x="12107" y="1559"/>
                  </a:lnTo>
                  <a:lnTo>
                    <a:pt x="5810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10" y="33729"/>
                  </a:lnTo>
                  <a:lnTo>
                    <a:pt x="12107" y="37975"/>
                  </a:lnTo>
                  <a:lnTo>
                    <a:pt x="19808" y="39534"/>
                  </a:lnTo>
                  <a:lnTo>
                    <a:pt x="27485" y="37975"/>
                  </a:lnTo>
                  <a:lnTo>
                    <a:pt x="33770" y="33729"/>
                  </a:lnTo>
                  <a:lnTo>
                    <a:pt x="38016" y="27444"/>
                  </a:lnTo>
                  <a:lnTo>
                    <a:pt x="39575" y="19767"/>
                  </a:lnTo>
                  <a:lnTo>
                    <a:pt x="38016" y="12090"/>
                  </a:lnTo>
                  <a:lnTo>
                    <a:pt x="33770" y="5805"/>
                  </a:lnTo>
                  <a:lnTo>
                    <a:pt x="27485" y="1559"/>
                  </a:lnTo>
                  <a:lnTo>
                    <a:pt x="19808" y="0"/>
                  </a:lnTo>
                  <a:close/>
                </a:path>
              </a:pathLst>
            </a:custGeom>
            <a:solidFill>
              <a:srgbClr val="E69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97220" y="1801575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10" y="5805"/>
                  </a:lnTo>
                  <a:lnTo>
                    <a:pt x="12107" y="1559"/>
                  </a:lnTo>
                  <a:lnTo>
                    <a:pt x="19808" y="0"/>
                  </a:lnTo>
                  <a:lnTo>
                    <a:pt x="27485" y="1559"/>
                  </a:lnTo>
                  <a:lnTo>
                    <a:pt x="33770" y="5805"/>
                  </a:lnTo>
                  <a:lnTo>
                    <a:pt x="38016" y="12090"/>
                  </a:lnTo>
                  <a:lnTo>
                    <a:pt x="39575" y="19767"/>
                  </a:lnTo>
                  <a:lnTo>
                    <a:pt x="38016" y="27444"/>
                  </a:lnTo>
                  <a:lnTo>
                    <a:pt x="33770" y="33729"/>
                  </a:lnTo>
                  <a:lnTo>
                    <a:pt x="27485" y="37975"/>
                  </a:lnTo>
                  <a:lnTo>
                    <a:pt x="19808" y="39534"/>
                  </a:lnTo>
                  <a:lnTo>
                    <a:pt x="12107" y="37975"/>
                  </a:lnTo>
                  <a:lnTo>
                    <a:pt x="5810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20172" y="1827090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808" y="0"/>
                  </a:moveTo>
                  <a:lnTo>
                    <a:pt x="12107" y="1565"/>
                  </a:lnTo>
                  <a:lnTo>
                    <a:pt x="5810" y="5825"/>
                  </a:lnTo>
                  <a:lnTo>
                    <a:pt x="1559" y="12125"/>
                  </a:lnTo>
                  <a:lnTo>
                    <a:pt x="0" y="19808"/>
                  </a:lnTo>
                  <a:lnTo>
                    <a:pt x="1559" y="27485"/>
                  </a:lnTo>
                  <a:lnTo>
                    <a:pt x="5810" y="33770"/>
                  </a:lnTo>
                  <a:lnTo>
                    <a:pt x="12107" y="38016"/>
                  </a:lnTo>
                  <a:lnTo>
                    <a:pt x="19808" y="39575"/>
                  </a:lnTo>
                  <a:lnTo>
                    <a:pt x="27485" y="38016"/>
                  </a:lnTo>
                  <a:lnTo>
                    <a:pt x="33770" y="33770"/>
                  </a:lnTo>
                  <a:lnTo>
                    <a:pt x="38016" y="27485"/>
                  </a:lnTo>
                  <a:lnTo>
                    <a:pt x="39575" y="19808"/>
                  </a:lnTo>
                  <a:lnTo>
                    <a:pt x="38016" y="12125"/>
                  </a:lnTo>
                  <a:lnTo>
                    <a:pt x="33770" y="5825"/>
                  </a:lnTo>
                  <a:lnTo>
                    <a:pt x="27485" y="1565"/>
                  </a:lnTo>
                  <a:lnTo>
                    <a:pt x="19808" y="0"/>
                  </a:lnTo>
                  <a:close/>
                </a:path>
              </a:pathLst>
            </a:custGeom>
            <a:solidFill>
              <a:srgbClr val="E69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20172" y="1827090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808"/>
                  </a:moveTo>
                  <a:lnTo>
                    <a:pt x="1559" y="12125"/>
                  </a:lnTo>
                  <a:lnTo>
                    <a:pt x="5810" y="5825"/>
                  </a:lnTo>
                  <a:lnTo>
                    <a:pt x="12107" y="1565"/>
                  </a:lnTo>
                  <a:lnTo>
                    <a:pt x="19808" y="0"/>
                  </a:lnTo>
                  <a:lnTo>
                    <a:pt x="27485" y="1565"/>
                  </a:lnTo>
                  <a:lnTo>
                    <a:pt x="33770" y="5825"/>
                  </a:lnTo>
                  <a:lnTo>
                    <a:pt x="38016" y="12125"/>
                  </a:lnTo>
                  <a:lnTo>
                    <a:pt x="39575" y="19808"/>
                  </a:lnTo>
                  <a:lnTo>
                    <a:pt x="38016" y="27485"/>
                  </a:lnTo>
                  <a:lnTo>
                    <a:pt x="33770" y="33770"/>
                  </a:lnTo>
                  <a:lnTo>
                    <a:pt x="27485" y="38016"/>
                  </a:lnTo>
                  <a:lnTo>
                    <a:pt x="19808" y="39575"/>
                  </a:lnTo>
                  <a:lnTo>
                    <a:pt x="12107" y="38016"/>
                  </a:lnTo>
                  <a:lnTo>
                    <a:pt x="5810" y="33770"/>
                  </a:lnTo>
                  <a:lnTo>
                    <a:pt x="1559" y="27485"/>
                  </a:lnTo>
                  <a:lnTo>
                    <a:pt x="0" y="19808"/>
                  </a:lnTo>
                </a:path>
              </a:pathLst>
            </a:custGeom>
            <a:ln w="4259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88337" y="1805834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65"/>
                  </a:lnTo>
                  <a:lnTo>
                    <a:pt x="5805" y="5825"/>
                  </a:lnTo>
                  <a:lnTo>
                    <a:pt x="1559" y="12125"/>
                  </a:lnTo>
                  <a:lnTo>
                    <a:pt x="0" y="19808"/>
                  </a:lnTo>
                  <a:lnTo>
                    <a:pt x="1559" y="27485"/>
                  </a:lnTo>
                  <a:lnTo>
                    <a:pt x="5805" y="33770"/>
                  </a:lnTo>
                  <a:lnTo>
                    <a:pt x="12090" y="38016"/>
                  </a:lnTo>
                  <a:lnTo>
                    <a:pt x="19767" y="39575"/>
                  </a:lnTo>
                  <a:lnTo>
                    <a:pt x="27467" y="38016"/>
                  </a:lnTo>
                  <a:lnTo>
                    <a:pt x="33765" y="33770"/>
                  </a:lnTo>
                  <a:lnTo>
                    <a:pt x="38015" y="27485"/>
                  </a:lnTo>
                  <a:lnTo>
                    <a:pt x="39575" y="19808"/>
                  </a:lnTo>
                  <a:lnTo>
                    <a:pt x="38015" y="12125"/>
                  </a:lnTo>
                  <a:lnTo>
                    <a:pt x="33765" y="5825"/>
                  </a:lnTo>
                  <a:lnTo>
                    <a:pt x="27467" y="1565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E69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88337" y="1805834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808"/>
                  </a:moveTo>
                  <a:lnTo>
                    <a:pt x="1559" y="12125"/>
                  </a:lnTo>
                  <a:lnTo>
                    <a:pt x="5805" y="5825"/>
                  </a:lnTo>
                  <a:lnTo>
                    <a:pt x="12090" y="1565"/>
                  </a:lnTo>
                  <a:lnTo>
                    <a:pt x="19767" y="0"/>
                  </a:lnTo>
                  <a:lnTo>
                    <a:pt x="27467" y="1565"/>
                  </a:lnTo>
                  <a:lnTo>
                    <a:pt x="33765" y="5825"/>
                  </a:lnTo>
                  <a:lnTo>
                    <a:pt x="38015" y="12125"/>
                  </a:lnTo>
                  <a:lnTo>
                    <a:pt x="39575" y="19808"/>
                  </a:lnTo>
                  <a:lnTo>
                    <a:pt x="38015" y="27485"/>
                  </a:lnTo>
                  <a:lnTo>
                    <a:pt x="33765" y="33770"/>
                  </a:lnTo>
                  <a:lnTo>
                    <a:pt x="27467" y="38016"/>
                  </a:lnTo>
                  <a:lnTo>
                    <a:pt x="19767" y="39575"/>
                  </a:lnTo>
                  <a:lnTo>
                    <a:pt x="12090" y="38016"/>
                  </a:lnTo>
                  <a:lnTo>
                    <a:pt x="5805" y="33770"/>
                  </a:lnTo>
                  <a:lnTo>
                    <a:pt x="1559" y="27485"/>
                  </a:lnTo>
                  <a:lnTo>
                    <a:pt x="0" y="19808"/>
                  </a:lnTo>
                </a:path>
              </a:pathLst>
            </a:custGeom>
            <a:ln w="4259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196567" y="1496880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50"/>
                  </a:lnTo>
                  <a:lnTo>
                    <a:pt x="5805" y="33749"/>
                  </a:lnTo>
                  <a:lnTo>
                    <a:pt x="12090" y="38009"/>
                  </a:lnTo>
                  <a:lnTo>
                    <a:pt x="19767" y="39575"/>
                  </a:lnTo>
                  <a:lnTo>
                    <a:pt x="27444" y="38009"/>
                  </a:lnTo>
                  <a:lnTo>
                    <a:pt x="33729" y="33749"/>
                  </a:lnTo>
                  <a:lnTo>
                    <a:pt x="37975" y="27450"/>
                  </a:lnTo>
                  <a:lnTo>
                    <a:pt x="39534" y="19767"/>
                  </a:lnTo>
                  <a:lnTo>
                    <a:pt x="37975" y="12090"/>
                  </a:lnTo>
                  <a:lnTo>
                    <a:pt x="33729" y="5805"/>
                  </a:lnTo>
                  <a:lnTo>
                    <a:pt x="27444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E69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196567" y="1496880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44" y="1559"/>
                  </a:lnTo>
                  <a:lnTo>
                    <a:pt x="33729" y="5805"/>
                  </a:lnTo>
                  <a:lnTo>
                    <a:pt x="37975" y="12090"/>
                  </a:lnTo>
                  <a:lnTo>
                    <a:pt x="39534" y="19767"/>
                  </a:lnTo>
                  <a:lnTo>
                    <a:pt x="37975" y="27450"/>
                  </a:lnTo>
                  <a:lnTo>
                    <a:pt x="33729" y="33749"/>
                  </a:lnTo>
                  <a:lnTo>
                    <a:pt x="27444" y="38009"/>
                  </a:lnTo>
                  <a:lnTo>
                    <a:pt x="19767" y="39575"/>
                  </a:lnTo>
                  <a:lnTo>
                    <a:pt x="12090" y="38009"/>
                  </a:lnTo>
                  <a:lnTo>
                    <a:pt x="5805" y="33749"/>
                  </a:lnTo>
                  <a:lnTo>
                    <a:pt x="1559" y="27450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59348" y="1777962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05" y="33729"/>
                  </a:lnTo>
                  <a:lnTo>
                    <a:pt x="12090" y="37975"/>
                  </a:lnTo>
                  <a:lnTo>
                    <a:pt x="19767" y="39534"/>
                  </a:lnTo>
                  <a:lnTo>
                    <a:pt x="27444" y="37975"/>
                  </a:lnTo>
                  <a:lnTo>
                    <a:pt x="33729" y="33729"/>
                  </a:lnTo>
                  <a:lnTo>
                    <a:pt x="37975" y="27444"/>
                  </a:lnTo>
                  <a:lnTo>
                    <a:pt x="39534" y="19767"/>
                  </a:lnTo>
                  <a:lnTo>
                    <a:pt x="37975" y="12090"/>
                  </a:lnTo>
                  <a:lnTo>
                    <a:pt x="33729" y="5805"/>
                  </a:lnTo>
                  <a:lnTo>
                    <a:pt x="27444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E69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159348" y="1777962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44" y="1559"/>
                  </a:lnTo>
                  <a:lnTo>
                    <a:pt x="33729" y="5805"/>
                  </a:lnTo>
                  <a:lnTo>
                    <a:pt x="37975" y="12090"/>
                  </a:lnTo>
                  <a:lnTo>
                    <a:pt x="39534" y="19767"/>
                  </a:lnTo>
                  <a:lnTo>
                    <a:pt x="37975" y="27444"/>
                  </a:lnTo>
                  <a:lnTo>
                    <a:pt x="33729" y="33729"/>
                  </a:lnTo>
                  <a:lnTo>
                    <a:pt x="27444" y="37975"/>
                  </a:lnTo>
                  <a:lnTo>
                    <a:pt x="19767" y="39534"/>
                  </a:lnTo>
                  <a:lnTo>
                    <a:pt x="12090" y="37975"/>
                  </a:lnTo>
                  <a:lnTo>
                    <a:pt x="5805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13373" y="1651337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05" y="33729"/>
                  </a:lnTo>
                  <a:lnTo>
                    <a:pt x="12090" y="37975"/>
                  </a:lnTo>
                  <a:lnTo>
                    <a:pt x="19767" y="39534"/>
                  </a:lnTo>
                  <a:lnTo>
                    <a:pt x="27444" y="37975"/>
                  </a:lnTo>
                  <a:lnTo>
                    <a:pt x="33729" y="33729"/>
                  </a:lnTo>
                  <a:lnTo>
                    <a:pt x="37975" y="27444"/>
                  </a:lnTo>
                  <a:lnTo>
                    <a:pt x="39534" y="19767"/>
                  </a:lnTo>
                  <a:lnTo>
                    <a:pt x="37975" y="12090"/>
                  </a:lnTo>
                  <a:lnTo>
                    <a:pt x="33729" y="5805"/>
                  </a:lnTo>
                  <a:lnTo>
                    <a:pt x="27444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56B4E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13373" y="1651337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44" y="1559"/>
                  </a:lnTo>
                  <a:lnTo>
                    <a:pt x="33729" y="5805"/>
                  </a:lnTo>
                  <a:lnTo>
                    <a:pt x="37975" y="12090"/>
                  </a:lnTo>
                  <a:lnTo>
                    <a:pt x="39534" y="19767"/>
                  </a:lnTo>
                  <a:lnTo>
                    <a:pt x="37975" y="27444"/>
                  </a:lnTo>
                  <a:lnTo>
                    <a:pt x="33729" y="33729"/>
                  </a:lnTo>
                  <a:lnTo>
                    <a:pt x="27444" y="37975"/>
                  </a:lnTo>
                  <a:lnTo>
                    <a:pt x="19767" y="39534"/>
                  </a:lnTo>
                  <a:lnTo>
                    <a:pt x="12090" y="37975"/>
                  </a:lnTo>
                  <a:lnTo>
                    <a:pt x="5805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75618" y="1525084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05" y="33729"/>
                  </a:lnTo>
                  <a:lnTo>
                    <a:pt x="12090" y="37975"/>
                  </a:lnTo>
                  <a:lnTo>
                    <a:pt x="19767" y="39534"/>
                  </a:lnTo>
                  <a:lnTo>
                    <a:pt x="27450" y="37975"/>
                  </a:lnTo>
                  <a:lnTo>
                    <a:pt x="33749" y="33729"/>
                  </a:lnTo>
                  <a:lnTo>
                    <a:pt x="38009" y="27444"/>
                  </a:lnTo>
                  <a:lnTo>
                    <a:pt x="39575" y="19767"/>
                  </a:lnTo>
                  <a:lnTo>
                    <a:pt x="38009" y="12090"/>
                  </a:lnTo>
                  <a:lnTo>
                    <a:pt x="33749" y="5805"/>
                  </a:lnTo>
                  <a:lnTo>
                    <a:pt x="27450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56B4E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75618" y="1525084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50" y="1559"/>
                  </a:lnTo>
                  <a:lnTo>
                    <a:pt x="33749" y="5805"/>
                  </a:lnTo>
                  <a:lnTo>
                    <a:pt x="38009" y="12090"/>
                  </a:lnTo>
                  <a:lnTo>
                    <a:pt x="39575" y="19767"/>
                  </a:lnTo>
                  <a:lnTo>
                    <a:pt x="38009" y="27444"/>
                  </a:lnTo>
                  <a:lnTo>
                    <a:pt x="33749" y="33729"/>
                  </a:lnTo>
                  <a:lnTo>
                    <a:pt x="27450" y="37975"/>
                  </a:lnTo>
                  <a:lnTo>
                    <a:pt x="19767" y="39534"/>
                  </a:lnTo>
                  <a:lnTo>
                    <a:pt x="12090" y="37975"/>
                  </a:lnTo>
                  <a:lnTo>
                    <a:pt x="5805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44271" y="1899459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50"/>
                  </a:lnTo>
                  <a:lnTo>
                    <a:pt x="5805" y="33749"/>
                  </a:lnTo>
                  <a:lnTo>
                    <a:pt x="12090" y="38009"/>
                  </a:lnTo>
                  <a:lnTo>
                    <a:pt x="19767" y="39575"/>
                  </a:lnTo>
                  <a:lnTo>
                    <a:pt x="27450" y="38009"/>
                  </a:lnTo>
                  <a:lnTo>
                    <a:pt x="33749" y="33749"/>
                  </a:lnTo>
                  <a:lnTo>
                    <a:pt x="38009" y="27450"/>
                  </a:lnTo>
                  <a:lnTo>
                    <a:pt x="39575" y="19767"/>
                  </a:lnTo>
                  <a:lnTo>
                    <a:pt x="38009" y="12090"/>
                  </a:lnTo>
                  <a:lnTo>
                    <a:pt x="33749" y="5805"/>
                  </a:lnTo>
                  <a:lnTo>
                    <a:pt x="27450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56B4E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44271" y="1899459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50" y="1559"/>
                  </a:lnTo>
                  <a:lnTo>
                    <a:pt x="33749" y="5805"/>
                  </a:lnTo>
                  <a:lnTo>
                    <a:pt x="38009" y="12090"/>
                  </a:lnTo>
                  <a:lnTo>
                    <a:pt x="39575" y="19767"/>
                  </a:lnTo>
                  <a:lnTo>
                    <a:pt x="38009" y="27450"/>
                  </a:lnTo>
                  <a:lnTo>
                    <a:pt x="33749" y="33749"/>
                  </a:lnTo>
                  <a:lnTo>
                    <a:pt x="27450" y="38009"/>
                  </a:lnTo>
                  <a:lnTo>
                    <a:pt x="19767" y="39575"/>
                  </a:lnTo>
                  <a:lnTo>
                    <a:pt x="12090" y="38009"/>
                  </a:lnTo>
                  <a:lnTo>
                    <a:pt x="5805" y="33749"/>
                  </a:lnTo>
                  <a:lnTo>
                    <a:pt x="1559" y="27450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202175" y="1506929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05" y="33729"/>
                  </a:lnTo>
                  <a:lnTo>
                    <a:pt x="12090" y="37975"/>
                  </a:lnTo>
                  <a:lnTo>
                    <a:pt x="19767" y="39534"/>
                  </a:lnTo>
                  <a:lnTo>
                    <a:pt x="27450" y="37975"/>
                  </a:lnTo>
                  <a:lnTo>
                    <a:pt x="33749" y="33729"/>
                  </a:lnTo>
                  <a:lnTo>
                    <a:pt x="38009" y="27444"/>
                  </a:lnTo>
                  <a:lnTo>
                    <a:pt x="39575" y="19767"/>
                  </a:lnTo>
                  <a:lnTo>
                    <a:pt x="38009" y="12090"/>
                  </a:lnTo>
                  <a:lnTo>
                    <a:pt x="33749" y="5805"/>
                  </a:lnTo>
                  <a:lnTo>
                    <a:pt x="27450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56B4E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202175" y="1506929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50" y="1559"/>
                  </a:lnTo>
                  <a:lnTo>
                    <a:pt x="33749" y="5805"/>
                  </a:lnTo>
                  <a:lnTo>
                    <a:pt x="38009" y="12090"/>
                  </a:lnTo>
                  <a:lnTo>
                    <a:pt x="39575" y="19767"/>
                  </a:lnTo>
                  <a:lnTo>
                    <a:pt x="38009" y="27444"/>
                  </a:lnTo>
                  <a:lnTo>
                    <a:pt x="33749" y="33729"/>
                  </a:lnTo>
                  <a:lnTo>
                    <a:pt x="27450" y="37975"/>
                  </a:lnTo>
                  <a:lnTo>
                    <a:pt x="19767" y="39534"/>
                  </a:lnTo>
                  <a:lnTo>
                    <a:pt x="12090" y="37975"/>
                  </a:lnTo>
                  <a:lnTo>
                    <a:pt x="5805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206930" y="1557960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808" y="0"/>
                  </a:moveTo>
                  <a:lnTo>
                    <a:pt x="12125" y="1565"/>
                  </a:lnTo>
                  <a:lnTo>
                    <a:pt x="5825" y="5825"/>
                  </a:lnTo>
                  <a:lnTo>
                    <a:pt x="1565" y="12125"/>
                  </a:lnTo>
                  <a:lnTo>
                    <a:pt x="0" y="19808"/>
                  </a:lnTo>
                  <a:lnTo>
                    <a:pt x="1565" y="27485"/>
                  </a:lnTo>
                  <a:lnTo>
                    <a:pt x="5825" y="33770"/>
                  </a:lnTo>
                  <a:lnTo>
                    <a:pt x="12125" y="38016"/>
                  </a:lnTo>
                  <a:lnTo>
                    <a:pt x="19808" y="39575"/>
                  </a:lnTo>
                  <a:lnTo>
                    <a:pt x="27485" y="38016"/>
                  </a:lnTo>
                  <a:lnTo>
                    <a:pt x="33770" y="33770"/>
                  </a:lnTo>
                  <a:lnTo>
                    <a:pt x="38016" y="27485"/>
                  </a:lnTo>
                  <a:lnTo>
                    <a:pt x="39575" y="19808"/>
                  </a:lnTo>
                  <a:lnTo>
                    <a:pt x="38016" y="12125"/>
                  </a:lnTo>
                  <a:lnTo>
                    <a:pt x="33770" y="5825"/>
                  </a:lnTo>
                  <a:lnTo>
                    <a:pt x="27485" y="1565"/>
                  </a:lnTo>
                  <a:lnTo>
                    <a:pt x="19808" y="0"/>
                  </a:lnTo>
                  <a:close/>
                </a:path>
              </a:pathLst>
            </a:custGeom>
            <a:solidFill>
              <a:srgbClr val="56B4E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06930" y="1557960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808"/>
                  </a:moveTo>
                  <a:lnTo>
                    <a:pt x="1565" y="12125"/>
                  </a:lnTo>
                  <a:lnTo>
                    <a:pt x="5825" y="5825"/>
                  </a:lnTo>
                  <a:lnTo>
                    <a:pt x="12125" y="1565"/>
                  </a:lnTo>
                  <a:lnTo>
                    <a:pt x="19808" y="0"/>
                  </a:lnTo>
                  <a:lnTo>
                    <a:pt x="27485" y="1565"/>
                  </a:lnTo>
                  <a:lnTo>
                    <a:pt x="33770" y="5825"/>
                  </a:lnTo>
                  <a:lnTo>
                    <a:pt x="38016" y="12125"/>
                  </a:lnTo>
                  <a:lnTo>
                    <a:pt x="39575" y="19808"/>
                  </a:lnTo>
                  <a:lnTo>
                    <a:pt x="38016" y="27485"/>
                  </a:lnTo>
                  <a:lnTo>
                    <a:pt x="33770" y="33770"/>
                  </a:lnTo>
                  <a:lnTo>
                    <a:pt x="27485" y="38016"/>
                  </a:lnTo>
                  <a:lnTo>
                    <a:pt x="19808" y="39575"/>
                  </a:lnTo>
                  <a:lnTo>
                    <a:pt x="12125" y="38016"/>
                  </a:lnTo>
                  <a:lnTo>
                    <a:pt x="5825" y="33770"/>
                  </a:lnTo>
                  <a:lnTo>
                    <a:pt x="1565" y="27485"/>
                  </a:lnTo>
                  <a:lnTo>
                    <a:pt x="0" y="19808"/>
                  </a:lnTo>
                </a:path>
              </a:pathLst>
            </a:custGeom>
            <a:ln w="4259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617449" y="1788093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05" y="33729"/>
                  </a:lnTo>
                  <a:lnTo>
                    <a:pt x="12090" y="37975"/>
                  </a:lnTo>
                  <a:lnTo>
                    <a:pt x="19767" y="39534"/>
                  </a:lnTo>
                  <a:lnTo>
                    <a:pt x="27450" y="37975"/>
                  </a:lnTo>
                  <a:lnTo>
                    <a:pt x="33749" y="33729"/>
                  </a:lnTo>
                  <a:lnTo>
                    <a:pt x="38009" y="27444"/>
                  </a:lnTo>
                  <a:lnTo>
                    <a:pt x="39575" y="19767"/>
                  </a:lnTo>
                  <a:lnTo>
                    <a:pt x="38009" y="12090"/>
                  </a:lnTo>
                  <a:lnTo>
                    <a:pt x="33749" y="5805"/>
                  </a:lnTo>
                  <a:lnTo>
                    <a:pt x="27450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56B4E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617449" y="1788093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50" y="1559"/>
                  </a:lnTo>
                  <a:lnTo>
                    <a:pt x="33749" y="5805"/>
                  </a:lnTo>
                  <a:lnTo>
                    <a:pt x="38009" y="12090"/>
                  </a:lnTo>
                  <a:lnTo>
                    <a:pt x="39575" y="19767"/>
                  </a:lnTo>
                  <a:lnTo>
                    <a:pt x="38009" y="27444"/>
                  </a:lnTo>
                  <a:lnTo>
                    <a:pt x="33749" y="33729"/>
                  </a:lnTo>
                  <a:lnTo>
                    <a:pt x="27450" y="37975"/>
                  </a:lnTo>
                  <a:lnTo>
                    <a:pt x="19767" y="39534"/>
                  </a:lnTo>
                  <a:lnTo>
                    <a:pt x="12090" y="37975"/>
                  </a:lnTo>
                  <a:lnTo>
                    <a:pt x="5805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706277" y="1772048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65"/>
                  </a:lnTo>
                  <a:lnTo>
                    <a:pt x="5805" y="5825"/>
                  </a:lnTo>
                  <a:lnTo>
                    <a:pt x="1559" y="12125"/>
                  </a:lnTo>
                  <a:lnTo>
                    <a:pt x="0" y="19808"/>
                  </a:lnTo>
                  <a:lnTo>
                    <a:pt x="1559" y="27485"/>
                  </a:lnTo>
                  <a:lnTo>
                    <a:pt x="5805" y="33770"/>
                  </a:lnTo>
                  <a:lnTo>
                    <a:pt x="12090" y="38016"/>
                  </a:lnTo>
                  <a:lnTo>
                    <a:pt x="19767" y="39575"/>
                  </a:lnTo>
                  <a:lnTo>
                    <a:pt x="27444" y="38016"/>
                  </a:lnTo>
                  <a:lnTo>
                    <a:pt x="33729" y="33770"/>
                  </a:lnTo>
                  <a:lnTo>
                    <a:pt x="37975" y="27485"/>
                  </a:lnTo>
                  <a:lnTo>
                    <a:pt x="39534" y="19808"/>
                  </a:lnTo>
                  <a:lnTo>
                    <a:pt x="37975" y="12125"/>
                  </a:lnTo>
                  <a:lnTo>
                    <a:pt x="33729" y="5825"/>
                  </a:lnTo>
                  <a:lnTo>
                    <a:pt x="27444" y="1565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56B4E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706277" y="1772048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808"/>
                  </a:moveTo>
                  <a:lnTo>
                    <a:pt x="1559" y="12125"/>
                  </a:lnTo>
                  <a:lnTo>
                    <a:pt x="5805" y="5825"/>
                  </a:lnTo>
                  <a:lnTo>
                    <a:pt x="12090" y="1565"/>
                  </a:lnTo>
                  <a:lnTo>
                    <a:pt x="19767" y="0"/>
                  </a:lnTo>
                  <a:lnTo>
                    <a:pt x="27444" y="1565"/>
                  </a:lnTo>
                  <a:lnTo>
                    <a:pt x="33729" y="5825"/>
                  </a:lnTo>
                  <a:lnTo>
                    <a:pt x="37975" y="12125"/>
                  </a:lnTo>
                  <a:lnTo>
                    <a:pt x="39534" y="19808"/>
                  </a:lnTo>
                  <a:lnTo>
                    <a:pt x="37975" y="27485"/>
                  </a:lnTo>
                  <a:lnTo>
                    <a:pt x="33729" y="33770"/>
                  </a:lnTo>
                  <a:lnTo>
                    <a:pt x="27444" y="38016"/>
                  </a:lnTo>
                  <a:lnTo>
                    <a:pt x="19767" y="39575"/>
                  </a:lnTo>
                  <a:lnTo>
                    <a:pt x="12090" y="38016"/>
                  </a:lnTo>
                  <a:lnTo>
                    <a:pt x="5805" y="33770"/>
                  </a:lnTo>
                  <a:lnTo>
                    <a:pt x="1559" y="27485"/>
                  </a:lnTo>
                  <a:lnTo>
                    <a:pt x="0" y="19808"/>
                  </a:lnTo>
                </a:path>
              </a:pathLst>
            </a:custGeom>
            <a:ln w="4259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621667" y="1707040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05" y="33729"/>
                  </a:lnTo>
                  <a:lnTo>
                    <a:pt x="12090" y="37975"/>
                  </a:lnTo>
                  <a:lnTo>
                    <a:pt x="19767" y="39534"/>
                  </a:lnTo>
                  <a:lnTo>
                    <a:pt x="27444" y="37975"/>
                  </a:lnTo>
                  <a:lnTo>
                    <a:pt x="33729" y="33729"/>
                  </a:lnTo>
                  <a:lnTo>
                    <a:pt x="37975" y="27444"/>
                  </a:lnTo>
                  <a:lnTo>
                    <a:pt x="39534" y="19767"/>
                  </a:lnTo>
                  <a:lnTo>
                    <a:pt x="37975" y="12090"/>
                  </a:lnTo>
                  <a:lnTo>
                    <a:pt x="33729" y="5805"/>
                  </a:lnTo>
                  <a:lnTo>
                    <a:pt x="27444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56B4E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621667" y="1707040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44" y="1559"/>
                  </a:lnTo>
                  <a:lnTo>
                    <a:pt x="33729" y="5805"/>
                  </a:lnTo>
                  <a:lnTo>
                    <a:pt x="37975" y="12090"/>
                  </a:lnTo>
                  <a:lnTo>
                    <a:pt x="39534" y="19767"/>
                  </a:lnTo>
                  <a:lnTo>
                    <a:pt x="37975" y="27444"/>
                  </a:lnTo>
                  <a:lnTo>
                    <a:pt x="33729" y="33729"/>
                  </a:lnTo>
                  <a:lnTo>
                    <a:pt x="27444" y="37975"/>
                  </a:lnTo>
                  <a:lnTo>
                    <a:pt x="19767" y="39534"/>
                  </a:lnTo>
                  <a:lnTo>
                    <a:pt x="12090" y="37975"/>
                  </a:lnTo>
                  <a:lnTo>
                    <a:pt x="5805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144502" y="1317653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05" y="33729"/>
                  </a:lnTo>
                  <a:lnTo>
                    <a:pt x="12090" y="37975"/>
                  </a:lnTo>
                  <a:lnTo>
                    <a:pt x="19767" y="39534"/>
                  </a:lnTo>
                  <a:lnTo>
                    <a:pt x="27444" y="37975"/>
                  </a:lnTo>
                  <a:lnTo>
                    <a:pt x="33729" y="33729"/>
                  </a:lnTo>
                  <a:lnTo>
                    <a:pt x="37975" y="27444"/>
                  </a:lnTo>
                  <a:lnTo>
                    <a:pt x="39534" y="19767"/>
                  </a:lnTo>
                  <a:lnTo>
                    <a:pt x="37975" y="12090"/>
                  </a:lnTo>
                  <a:lnTo>
                    <a:pt x="33729" y="5805"/>
                  </a:lnTo>
                  <a:lnTo>
                    <a:pt x="27444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56B4E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144502" y="1317653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44" y="1559"/>
                  </a:lnTo>
                  <a:lnTo>
                    <a:pt x="33729" y="5805"/>
                  </a:lnTo>
                  <a:lnTo>
                    <a:pt x="37975" y="12090"/>
                  </a:lnTo>
                  <a:lnTo>
                    <a:pt x="39534" y="19767"/>
                  </a:lnTo>
                  <a:lnTo>
                    <a:pt x="37975" y="27444"/>
                  </a:lnTo>
                  <a:lnTo>
                    <a:pt x="33729" y="33729"/>
                  </a:lnTo>
                  <a:lnTo>
                    <a:pt x="27444" y="37975"/>
                  </a:lnTo>
                  <a:lnTo>
                    <a:pt x="19767" y="39534"/>
                  </a:lnTo>
                  <a:lnTo>
                    <a:pt x="12090" y="37975"/>
                  </a:lnTo>
                  <a:lnTo>
                    <a:pt x="5805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162326" y="2282105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05" y="33729"/>
                  </a:lnTo>
                  <a:lnTo>
                    <a:pt x="12090" y="37975"/>
                  </a:lnTo>
                  <a:lnTo>
                    <a:pt x="19767" y="39534"/>
                  </a:lnTo>
                  <a:lnTo>
                    <a:pt x="27444" y="37975"/>
                  </a:lnTo>
                  <a:lnTo>
                    <a:pt x="33729" y="33729"/>
                  </a:lnTo>
                  <a:lnTo>
                    <a:pt x="37975" y="27444"/>
                  </a:lnTo>
                  <a:lnTo>
                    <a:pt x="39534" y="19767"/>
                  </a:lnTo>
                  <a:lnTo>
                    <a:pt x="37975" y="12090"/>
                  </a:lnTo>
                  <a:lnTo>
                    <a:pt x="33729" y="5805"/>
                  </a:lnTo>
                  <a:lnTo>
                    <a:pt x="27444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56B4E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162326" y="2282105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44" y="1559"/>
                  </a:lnTo>
                  <a:lnTo>
                    <a:pt x="33729" y="5805"/>
                  </a:lnTo>
                  <a:lnTo>
                    <a:pt x="37975" y="12090"/>
                  </a:lnTo>
                  <a:lnTo>
                    <a:pt x="39534" y="19767"/>
                  </a:lnTo>
                  <a:lnTo>
                    <a:pt x="37975" y="27444"/>
                  </a:lnTo>
                  <a:lnTo>
                    <a:pt x="33729" y="33729"/>
                  </a:lnTo>
                  <a:lnTo>
                    <a:pt x="27444" y="37975"/>
                  </a:lnTo>
                  <a:lnTo>
                    <a:pt x="19767" y="39534"/>
                  </a:lnTo>
                  <a:lnTo>
                    <a:pt x="12090" y="37975"/>
                  </a:lnTo>
                  <a:lnTo>
                    <a:pt x="5805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164642" y="1736484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05" y="33729"/>
                  </a:lnTo>
                  <a:lnTo>
                    <a:pt x="12090" y="37975"/>
                  </a:lnTo>
                  <a:lnTo>
                    <a:pt x="19767" y="39534"/>
                  </a:lnTo>
                  <a:lnTo>
                    <a:pt x="27450" y="37975"/>
                  </a:lnTo>
                  <a:lnTo>
                    <a:pt x="33749" y="33729"/>
                  </a:lnTo>
                  <a:lnTo>
                    <a:pt x="38009" y="27444"/>
                  </a:lnTo>
                  <a:lnTo>
                    <a:pt x="39575" y="19767"/>
                  </a:lnTo>
                  <a:lnTo>
                    <a:pt x="38009" y="12090"/>
                  </a:lnTo>
                  <a:lnTo>
                    <a:pt x="33749" y="5805"/>
                  </a:lnTo>
                  <a:lnTo>
                    <a:pt x="27450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56B4E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164642" y="1736484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50" y="1559"/>
                  </a:lnTo>
                  <a:lnTo>
                    <a:pt x="33749" y="5805"/>
                  </a:lnTo>
                  <a:lnTo>
                    <a:pt x="38009" y="12090"/>
                  </a:lnTo>
                  <a:lnTo>
                    <a:pt x="39575" y="19767"/>
                  </a:lnTo>
                  <a:lnTo>
                    <a:pt x="38009" y="27444"/>
                  </a:lnTo>
                  <a:lnTo>
                    <a:pt x="33749" y="33729"/>
                  </a:lnTo>
                  <a:lnTo>
                    <a:pt x="27450" y="37975"/>
                  </a:lnTo>
                  <a:lnTo>
                    <a:pt x="19767" y="39534"/>
                  </a:lnTo>
                  <a:lnTo>
                    <a:pt x="12090" y="37975"/>
                  </a:lnTo>
                  <a:lnTo>
                    <a:pt x="5805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201430" y="1360951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05" y="33729"/>
                  </a:lnTo>
                  <a:lnTo>
                    <a:pt x="12090" y="37975"/>
                  </a:lnTo>
                  <a:lnTo>
                    <a:pt x="19767" y="39534"/>
                  </a:lnTo>
                  <a:lnTo>
                    <a:pt x="27450" y="37975"/>
                  </a:lnTo>
                  <a:lnTo>
                    <a:pt x="33749" y="33729"/>
                  </a:lnTo>
                  <a:lnTo>
                    <a:pt x="38009" y="27444"/>
                  </a:lnTo>
                  <a:lnTo>
                    <a:pt x="39575" y="19767"/>
                  </a:lnTo>
                  <a:lnTo>
                    <a:pt x="38009" y="12090"/>
                  </a:lnTo>
                  <a:lnTo>
                    <a:pt x="33749" y="5805"/>
                  </a:lnTo>
                  <a:lnTo>
                    <a:pt x="27450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56B4E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201430" y="1360951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50" y="1559"/>
                  </a:lnTo>
                  <a:lnTo>
                    <a:pt x="33749" y="5805"/>
                  </a:lnTo>
                  <a:lnTo>
                    <a:pt x="38009" y="12090"/>
                  </a:lnTo>
                  <a:lnTo>
                    <a:pt x="39575" y="19767"/>
                  </a:lnTo>
                  <a:lnTo>
                    <a:pt x="38009" y="27444"/>
                  </a:lnTo>
                  <a:lnTo>
                    <a:pt x="33749" y="33729"/>
                  </a:lnTo>
                  <a:lnTo>
                    <a:pt x="27450" y="37975"/>
                  </a:lnTo>
                  <a:lnTo>
                    <a:pt x="19767" y="39534"/>
                  </a:lnTo>
                  <a:lnTo>
                    <a:pt x="12090" y="37975"/>
                  </a:lnTo>
                  <a:lnTo>
                    <a:pt x="5805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18177" y="1821797"/>
              <a:ext cx="86995" cy="0"/>
            </a:xfrm>
            <a:custGeom>
              <a:avLst/>
              <a:gdLst/>
              <a:ahLst/>
              <a:cxnLst/>
              <a:rect l="l" t="t" r="r" b="b"/>
              <a:pathLst>
                <a:path w="86995">
                  <a:moveTo>
                    <a:pt x="0" y="0"/>
                  </a:moveTo>
                  <a:lnTo>
                    <a:pt x="86925" y="0"/>
                  </a:lnTo>
                </a:path>
              </a:pathLst>
            </a:custGeom>
            <a:ln w="17658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92697" y="1712416"/>
              <a:ext cx="86995" cy="0"/>
            </a:xfrm>
            <a:custGeom>
              <a:avLst/>
              <a:gdLst/>
              <a:ahLst/>
              <a:cxnLst/>
              <a:rect l="l" t="t" r="r" b="b"/>
              <a:pathLst>
                <a:path w="86995">
                  <a:moveTo>
                    <a:pt x="0" y="0"/>
                  </a:moveTo>
                  <a:lnTo>
                    <a:pt x="86925" y="0"/>
                  </a:lnTo>
                </a:path>
              </a:pathLst>
            </a:custGeom>
            <a:ln w="17658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115001" y="1794296"/>
              <a:ext cx="86995" cy="0"/>
            </a:xfrm>
            <a:custGeom>
              <a:avLst/>
              <a:gdLst/>
              <a:ahLst/>
              <a:cxnLst/>
              <a:rect l="l" t="t" r="r" b="b"/>
              <a:pathLst>
                <a:path w="86994">
                  <a:moveTo>
                    <a:pt x="0" y="0"/>
                  </a:moveTo>
                  <a:lnTo>
                    <a:pt x="86966" y="0"/>
                  </a:lnTo>
                </a:path>
              </a:pathLst>
            </a:custGeom>
            <a:ln w="17658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189562" y="1495433"/>
              <a:ext cx="86995" cy="0"/>
            </a:xfrm>
            <a:custGeom>
              <a:avLst/>
              <a:gdLst/>
              <a:ahLst/>
              <a:cxnLst/>
              <a:rect l="l" t="t" r="r" b="b"/>
              <a:pathLst>
                <a:path w="86994">
                  <a:moveTo>
                    <a:pt x="0" y="0"/>
                  </a:moveTo>
                  <a:lnTo>
                    <a:pt x="86925" y="0"/>
                  </a:lnTo>
                </a:path>
              </a:pathLst>
            </a:custGeom>
            <a:ln w="17658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611866" y="1848222"/>
              <a:ext cx="86995" cy="0"/>
            </a:xfrm>
            <a:custGeom>
              <a:avLst/>
              <a:gdLst/>
              <a:ahLst/>
              <a:cxnLst/>
              <a:rect l="l" t="t" r="r" b="b"/>
              <a:pathLst>
                <a:path w="86994">
                  <a:moveTo>
                    <a:pt x="0" y="0"/>
                  </a:moveTo>
                  <a:lnTo>
                    <a:pt x="86966" y="0"/>
                  </a:lnTo>
                </a:path>
              </a:pathLst>
            </a:custGeom>
            <a:ln w="17658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686386" y="1775315"/>
              <a:ext cx="86995" cy="0"/>
            </a:xfrm>
            <a:custGeom>
              <a:avLst/>
              <a:gdLst/>
              <a:ahLst/>
              <a:cxnLst/>
              <a:rect l="l" t="t" r="r" b="b"/>
              <a:pathLst>
                <a:path w="86994">
                  <a:moveTo>
                    <a:pt x="0" y="0"/>
                  </a:moveTo>
                  <a:lnTo>
                    <a:pt x="86966" y="0"/>
                  </a:lnTo>
                </a:path>
              </a:pathLst>
            </a:custGeom>
            <a:ln w="17658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08731" y="1712788"/>
              <a:ext cx="86995" cy="0"/>
            </a:xfrm>
            <a:custGeom>
              <a:avLst/>
              <a:gdLst/>
              <a:ahLst/>
              <a:cxnLst/>
              <a:rect l="l" t="t" r="r" b="b"/>
              <a:pathLst>
                <a:path w="86994">
                  <a:moveTo>
                    <a:pt x="0" y="0"/>
                  </a:moveTo>
                  <a:lnTo>
                    <a:pt x="86925" y="0"/>
                  </a:lnTo>
                </a:path>
              </a:pathLst>
            </a:custGeom>
            <a:ln w="17658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83251" y="1798101"/>
              <a:ext cx="86995" cy="0"/>
            </a:xfrm>
            <a:custGeom>
              <a:avLst/>
              <a:gdLst/>
              <a:ahLst/>
              <a:cxnLst/>
              <a:rect l="l" t="t" r="r" b="b"/>
              <a:pathLst>
                <a:path w="86994">
                  <a:moveTo>
                    <a:pt x="0" y="0"/>
                  </a:moveTo>
                  <a:lnTo>
                    <a:pt x="86966" y="0"/>
                  </a:lnTo>
                </a:path>
              </a:pathLst>
            </a:custGeom>
            <a:ln w="17658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237346" y="2074753"/>
            <a:ext cx="168910" cy="901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0" spc="30" dirty="0">
                <a:solidFill>
                  <a:srgbClr val="4D4D4D"/>
                </a:solidFill>
                <a:latin typeface="Microsoft Sans Serif"/>
                <a:cs typeface="Microsoft Sans Serif"/>
              </a:rPr>
              <a:t>−500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37346" y="1801198"/>
            <a:ext cx="168910" cy="901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0" spc="30" dirty="0">
                <a:solidFill>
                  <a:srgbClr val="4D4D4D"/>
                </a:solidFill>
                <a:latin typeface="Microsoft Sans Serif"/>
                <a:cs typeface="Microsoft Sans Serif"/>
              </a:rPr>
              <a:t>−250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28531" y="1527685"/>
            <a:ext cx="55880" cy="901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0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8775" y="1254130"/>
            <a:ext cx="115570" cy="901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0" spc="-25" dirty="0">
                <a:solidFill>
                  <a:srgbClr val="4D4D4D"/>
                </a:solidFill>
                <a:latin typeface="Microsoft Sans Serif"/>
                <a:cs typeface="Microsoft Sans Serif"/>
              </a:rPr>
              <a:t>250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68293" y="2351906"/>
            <a:ext cx="61594" cy="901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A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165117" y="2351906"/>
            <a:ext cx="61594" cy="901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B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660494" y="2351906"/>
            <a:ext cx="64769" cy="901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C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157359" y="2351906"/>
            <a:ext cx="64769" cy="901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0" spc="-50" dirty="0">
                <a:solidFill>
                  <a:srgbClr val="4D4D4D"/>
                </a:solidFill>
                <a:latin typeface="Microsoft Sans Serif"/>
                <a:cs typeface="Microsoft Sans Serif"/>
              </a:rPr>
              <a:t>D</a:t>
            </a:r>
            <a:endParaRPr sz="400">
              <a:latin typeface="Microsoft Sans Serif"/>
              <a:cs typeface="Microsoft Sans Serif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284712" y="2415301"/>
            <a:ext cx="319405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10" dirty="0">
                <a:latin typeface="Microsoft Sans Serif"/>
                <a:cs typeface="Microsoft Sans Serif"/>
              </a:rPr>
              <a:t>Treatment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46433" y="1237601"/>
            <a:ext cx="99695" cy="1136650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500" dirty="0">
                <a:latin typeface="Microsoft Sans Serif"/>
                <a:cs typeface="Microsoft Sans Serif"/>
              </a:rPr>
              <a:t>Weight</a:t>
            </a:r>
            <a:r>
              <a:rPr sz="500" spc="50" dirty="0">
                <a:latin typeface="Microsoft Sans Serif"/>
                <a:cs typeface="Microsoft Sans Serif"/>
              </a:rPr>
              <a:t> </a:t>
            </a:r>
            <a:r>
              <a:rPr sz="500" dirty="0">
                <a:latin typeface="Microsoft Sans Serif"/>
                <a:cs typeface="Microsoft Sans Serif"/>
              </a:rPr>
              <a:t>Difference:</a:t>
            </a:r>
            <a:r>
              <a:rPr sz="500" spc="55" dirty="0">
                <a:latin typeface="Microsoft Sans Serif"/>
                <a:cs typeface="Microsoft Sans Serif"/>
              </a:rPr>
              <a:t> </a:t>
            </a:r>
            <a:r>
              <a:rPr sz="500" dirty="0">
                <a:latin typeface="Microsoft Sans Serif"/>
                <a:cs typeface="Microsoft Sans Serif"/>
              </a:rPr>
              <a:t>OTC</a:t>
            </a:r>
            <a:r>
              <a:rPr sz="500" spc="55" dirty="0">
                <a:latin typeface="Microsoft Sans Serif"/>
                <a:cs typeface="Microsoft Sans Serif"/>
              </a:rPr>
              <a:t> </a:t>
            </a:r>
            <a:r>
              <a:rPr sz="500" spc="229" dirty="0">
                <a:latin typeface="Microsoft Sans Serif"/>
                <a:cs typeface="Microsoft Sans Serif"/>
              </a:rPr>
              <a:t>−</a:t>
            </a:r>
            <a:r>
              <a:rPr sz="500" spc="55" dirty="0">
                <a:latin typeface="Microsoft Sans Serif"/>
                <a:cs typeface="Microsoft Sans Serif"/>
              </a:rPr>
              <a:t> </a:t>
            </a:r>
            <a:r>
              <a:rPr sz="500" dirty="0">
                <a:latin typeface="Microsoft Sans Serif"/>
                <a:cs typeface="Microsoft Sans Serif"/>
              </a:rPr>
              <a:t>Control</a:t>
            </a:r>
            <a:r>
              <a:rPr sz="500" spc="55" dirty="0">
                <a:latin typeface="Microsoft Sans Serif"/>
                <a:cs typeface="Microsoft Sans Serif"/>
              </a:rPr>
              <a:t> </a:t>
            </a:r>
            <a:r>
              <a:rPr sz="500" spc="-25" dirty="0">
                <a:latin typeface="Microsoft Sans Serif"/>
                <a:cs typeface="Microsoft Sans Serif"/>
              </a:rPr>
              <a:t>(g)</a:t>
            </a:r>
            <a:endParaRPr sz="500">
              <a:latin typeface="Microsoft Sans Serif"/>
              <a:cs typeface="Microsoft Sans Serif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189003" y="2621433"/>
            <a:ext cx="60960" cy="43815"/>
            <a:chOff x="1189003" y="2621433"/>
            <a:chExt cx="60960" cy="43815"/>
          </a:xfrm>
        </p:grpSpPr>
        <p:sp>
          <p:nvSpPr>
            <p:cNvPr id="84" name="object 84"/>
            <p:cNvSpPr/>
            <p:nvPr/>
          </p:nvSpPr>
          <p:spPr>
            <a:xfrm>
              <a:off x="1199569" y="2623563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767" y="0"/>
                  </a:moveTo>
                  <a:lnTo>
                    <a:pt x="12090" y="1559"/>
                  </a:lnTo>
                  <a:lnTo>
                    <a:pt x="5805" y="5805"/>
                  </a:lnTo>
                  <a:lnTo>
                    <a:pt x="1559" y="12090"/>
                  </a:lnTo>
                  <a:lnTo>
                    <a:pt x="0" y="19767"/>
                  </a:lnTo>
                  <a:lnTo>
                    <a:pt x="1559" y="27444"/>
                  </a:lnTo>
                  <a:lnTo>
                    <a:pt x="5805" y="33729"/>
                  </a:lnTo>
                  <a:lnTo>
                    <a:pt x="12090" y="37975"/>
                  </a:lnTo>
                  <a:lnTo>
                    <a:pt x="19767" y="39534"/>
                  </a:lnTo>
                  <a:lnTo>
                    <a:pt x="27467" y="37975"/>
                  </a:lnTo>
                  <a:lnTo>
                    <a:pt x="33765" y="33729"/>
                  </a:lnTo>
                  <a:lnTo>
                    <a:pt x="38015" y="27444"/>
                  </a:lnTo>
                  <a:lnTo>
                    <a:pt x="39575" y="19767"/>
                  </a:lnTo>
                  <a:lnTo>
                    <a:pt x="38015" y="12090"/>
                  </a:lnTo>
                  <a:lnTo>
                    <a:pt x="33765" y="5805"/>
                  </a:lnTo>
                  <a:lnTo>
                    <a:pt x="27467" y="1559"/>
                  </a:lnTo>
                  <a:lnTo>
                    <a:pt x="19767" y="0"/>
                  </a:lnTo>
                  <a:close/>
                </a:path>
              </a:pathLst>
            </a:custGeom>
            <a:solidFill>
              <a:srgbClr val="E69F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199569" y="2623563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59" y="12090"/>
                  </a:lnTo>
                  <a:lnTo>
                    <a:pt x="5805" y="5805"/>
                  </a:lnTo>
                  <a:lnTo>
                    <a:pt x="12090" y="1559"/>
                  </a:lnTo>
                  <a:lnTo>
                    <a:pt x="19767" y="0"/>
                  </a:lnTo>
                  <a:lnTo>
                    <a:pt x="27467" y="1559"/>
                  </a:lnTo>
                  <a:lnTo>
                    <a:pt x="33765" y="5805"/>
                  </a:lnTo>
                  <a:lnTo>
                    <a:pt x="38015" y="12090"/>
                  </a:lnTo>
                  <a:lnTo>
                    <a:pt x="39575" y="19767"/>
                  </a:lnTo>
                  <a:lnTo>
                    <a:pt x="38015" y="27444"/>
                  </a:lnTo>
                  <a:lnTo>
                    <a:pt x="33765" y="33729"/>
                  </a:lnTo>
                  <a:lnTo>
                    <a:pt x="27467" y="37975"/>
                  </a:lnTo>
                  <a:lnTo>
                    <a:pt x="19767" y="39534"/>
                  </a:lnTo>
                  <a:lnTo>
                    <a:pt x="12090" y="37975"/>
                  </a:lnTo>
                  <a:lnTo>
                    <a:pt x="5805" y="33729"/>
                  </a:lnTo>
                  <a:lnTo>
                    <a:pt x="1559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192539" y="2625465"/>
              <a:ext cx="53975" cy="36195"/>
            </a:xfrm>
            <a:custGeom>
              <a:avLst/>
              <a:gdLst/>
              <a:ahLst/>
              <a:cxnLst/>
              <a:rect l="l" t="t" r="r" b="b"/>
              <a:pathLst>
                <a:path w="53975" h="36194">
                  <a:moveTo>
                    <a:pt x="0" y="35729"/>
                  </a:moveTo>
                  <a:lnTo>
                    <a:pt x="53594" y="35729"/>
                  </a:lnTo>
                  <a:lnTo>
                    <a:pt x="53594" y="0"/>
                  </a:lnTo>
                  <a:lnTo>
                    <a:pt x="0" y="0"/>
                  </a:lnTo>
                  <a:lnTo>
                    <a:pt x="0" y="35729"/>
                  </a:lnTo>
                  <a:close/>
                </a:path>
                <a:path w="53975" h="36194">
                  <a:moveTo>
                    <a:pt x="0" y="17864"/>
                  </a:moveTo>
                  <a:lnTo>
                    <a:pt x="53594" y="17864"/>
                  </a:lnTo>
                </a:path>
              </a:pathLst>
            </a:custGeom>
            <a:ln w="7071">
              <a:solidFill>
                <a:srgbClr val="E6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1669989" y="2621433"/>
            <a:ext cx="60960" cy="43815"/>
            <a:chOff x="1669989" y="2621433"/>
            <a:chExt cx="60960" cy="43815"/>
          </a:xfrm>
        </p:grpSpPr>
        <p:sp>
          <p:nvSpPr>
            <p:cNvPr id="88" name="object 88"/>
            <p:cNvSpPr/>
            <p:nvPr/>
          </p:nvSpPr>
          <p:spPr>
            <a:xfrm>
              <a:off x="1680513" y="2623563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19808" y="0"/>
                  </a:moveTo>
                  <a:lnTo>
                    <a:pt x="12125" y="1559"/>
                  </a:lnTo>
                  <a:lnTo>
                    <a:pt x="5825" y="5805"/>
                  </a:lnTo>
                  <a:lnTo>
                    <a:pt x="1565" y="12090"/>
                  </a:lnTo>
                  <a:lnTo>
                    <a:pt x="0" y="19767"/>
                  </a:lnTo>
                  <a:lnTo>
                    <a:pt x="1565" y="27444"/>
                  </a:lnTo>
                  <a:lnTo>
                    <a:pt x="5825" y="33729"/>
                  </a:lnTo>
                  <a:lnTo>
                    <a:pt x="12125" y="37975"/>
                  </a:lnTo>
                  <a:lnTo>
                    <a:pt x="19808" y="39534"/>
                  </a:lnTo>
                  <a:lnTo>
                    <a:pt x="27485" y="37975"/>
                  </a:lnTo>
                  <a:lnTo>
                    <a:pt x="33770" y="33729"/>
                  </a:lnTo>
                  <a:lnTo>
                    <a:pt x="38016" y="27444"/>
                  </a:lnTo>
                  <a:lnTo>
                    <a:pt x="39575" y="19767"/>
                  </a:lnTo>
                  <a:lnTo>
                    <a:pt x="38016" y="12090"/>
                  </a:lnTo>
                  <a:lnTo>
                    <a:pt x="33770" y="5805"/>
                  </a:lnTo>
                  <a:lnTo>
                    <a:pt x="27485" y="1559"/>
                  </a:lnTo>
                  <a:lnTo>
                    <a:pt x="19808" y="0"/>
                  </a:lnTo>
                  <a:close/>
                </a:path>
              </a:pathLst>
            </a:custGeom>
            <a:solidFill>
              <a:srgbClr val="56B4E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680513" y="2623563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19767"/>
                  </a:moveTo>
                  <a:lnTo>
                    <a:pt x="1565" y="12090"/>
                  </a:lnTo>
                  <a:lnTo>
                    <a:pt x="5825" y="5805"/>
                  </a:lnTo>
                  <a:lnTo>
                    <a:pt x="12125" y="1559"/>
                  </a:lnTo>
                  <a:lnTo>
                    <a:pt x="19808" y="0"/>
                  </a:lnTo>
                  <a:lnTo>
                    <a:pt x="27485" y="1559"/>
                  </a:lnTo>
                  <a:lnTo>
                    <a:pt x="33770" y="5805"/>
                  </a:lnTo>
                  <a:lnTo>
                    <a:pt x="38016" y="12090"/>
                  </a:lnTo>
                  <a:lnTo>
                    <a:pt x="39575" y="19767"/>
                  </a:lnTo>
                  <a:lnTo>
                    <a:pt x="38016" y="27444"/>
                  </a:lnTo>
                  <a:lnTo>
                    <a:pt x="33770" y="33729"/>
                  </a:lnTo>
                  <a:lnTo>
                    <a:pt x="27485" y="37975"/>
                  </a:lnTo>
                  <a:lnTo>
                    <a:pt x="19808" y="39534"/>
                  </a:lnTo>
                  <a:lnTo>
                    <a:pt x="12125" y="37975"/>
                  </a:lnTo>
                  <a:lnTo>
                    <a:pt x="5825" y="33729"/>
                  </a:lnTo>
                  <a:lnTo>
                    <a:pt x="1565" y="27444"/>
                  </a:lnTo>
                  <a:lnTo>
                    <a:pt x="0" y="19767"/>
                  </a:lnTo>
                </a:path>
              </a:pathLst>
            </a:custGeom>
            <a:ln w="4259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673525" y="2625465"/>
              <a:ext cx="53975" cy="36195"/>
            </a:xfrm>
            <a:custGeom>
              <a:avLst/>
              <a:gdLst/>
              <a:ahLst/>
              <a:cxnLst/>
              <a:rect l="l" t="t" r="r" b="b"/>
              <a:pathLst>
                <a:path w="53975" h="36194">
                  <a:moveTo>
                    <a:pt x="0" y="35729"/>
                  </a:moveTo>
                  <a:lnTo>
                    <a:pt x="53594" y="35729"/>
                  </a:lnTo>
                  <a:lnTo>
                    <a:pt x="53594" y="0"/>
                  </a:lnTo>
                  <a:lnTo>
                    <a:pt x="0" y="0"/>
                  </a:lnTo>
                  <a:lnTo>
                    <a:pt x="0" y="35729"/>
                  </a:lnTo>
                  <a:close/>
                </a:path>
                <a:path w="53975" h="36194">
                  <a:moveTo>
                    <a:pt x="0" y="17864"/>
                  </a:moveTo>
                  <a:lnTo>
                    <a:pt x="53594" y="17864"/>
                  </a:lnTo>
                </a:path>
              </a:pathLst>
            </a:custGeom>
            <a:ln w="7071">
              <a:solidFill>
                <a:srgbClr val="56B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915382" y="2588201"/>
            <a:ext cx="1057910" cy="105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2110" algn="l"/>
                <a:tab pos="853440" algn="l"/>
              </a:tabLst>
            </a:pPr>
            <a:r>
              <a:rPr sz="500" spc="-10" dirty="0">
                <a:latin typeface="Microsoft Sans Serif"/>
                <a:cs typeface="Microsoft Sans Serif"/>
              </a:rPr>
              <a:t>Cultivar</a:t>
            </a:r>
            <a:r>
              <a:rPr sz="500" dirty="0">
                <a:latin typeface="Microsoft Sans Serif"/>
                <a:cs typeface="Microsoft Sans Serif"/>
              </a:rPr>
              <a:t>	</a:t>
            </a:r>
            <a:r>
              <a:rPr sz="600" baseline="6944" dirty="0">
                <a:latin typeface="Microsoft Sans Serif"/>
                <a:cs typeface="Microsoft Sans Serif"/>
              </a:rPr>
              <a:t>Mullica</a:t>
            </a:r>
            <a:r>
              <a:rPr sz="600" spc="104" baseline="6944" dirty="0">
                <a:latin typeface="Microsoft Sans Serif"/>
                <a:cs typeface="Microsoft Sans Serif"/>
              </a:rPr>
              <a:t> </a:t>
            </a:r>
            <a:r>
              <a:rPr sz="600" spc="-15" baseline="6944" dirty="0">
                <a:latin typeface="Microsoft Sans Serif"/>
                <a:cs typeface="Microsoft Sans Serif"/>
              </a:rPr>
              <a:t>Queen</a:t>
            </a:r>
            <a:r>
              <a:rPr sz="600" baseline="6944" dirty="0">
                <a:latin typeface="Microsoft Sans Serif"/>
                <a:cs typeface="Microsoft Sans Serif"/>
              </a:rPr>
              <a:t>	</a:t>
            </a:r>
            <a:r>
              <a:rPr sz="600" spc="-15" baseline="6944" dirty="0">
                <a:latin typeface="Microsoft Sans Serif"/>
                <a:cs typeface="Microsoft Sans Serif"/>
              </a:rPr>
              <a:t>Stevens</a:t>
            </a:r>
            <a:endParaRPr sz="600" baseline="6944">
              <a:latin typeface="Microsoft Sans Serif"/>
              <a:cs typeface="Microsoft Sans Serif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5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10</a:t>
            </a:r>
          </a:p>
        </p:txBody>
      </p:sp>
      <p:sp>
        <p:nvSpPr>
          <p:cNvPr id="92" name="object 92"/>
          <p:cNvSpPr txBox="1"/>
          <p:nvPr/>
        </p:nvSpPr>
        <p:spPr>
          <a:xfrm>
            <a:off x="2843568" y="1110683"/>
            <a:ext cx="1663700" cy="1771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8910" marR="492125" indent="-131445">
              <a:lnSpc>
                <a:spcPct val="100000"/>
              </a:lnSpc>
              <a:spcBef>
                <a:spcPts val="95"/>
              </a:spcBef>
              <a:buClr>
                <a:srgbClr val="990000"/>
              </a:buClr>
              <a:buFont typeface="Verdana"/>
              <a:buChar char="•"/>
              <a:tabLst>
                <a:tab pos="170180" algn="l"/>
              </a:tabLst>
            </a:pPr>
            <a:r>
              <a:rPr sz="1000" dirty="0">
                <a:latin typeface="Tahoma"/>
                <a:cs typeface="Tahoma"/>
              </a:rPr>
              <a:t>Each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dot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one 	</a:t>
            </a:r>
            <a:r>
              <a:rPr sz="1000" dirty="0">
                <a:latin typeface="Tahoma"/>
                <a:cs typeface="Tahoma"/>
              </a:rPr>
              <a:t>OTC–Control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pair.</a:t>
            </a:r>
            <a:endParaRPr sz="1000">
              <a:latin typeface="Tahoma"/>
              <a:cs typeface="Tahoma"/>
            </a:endParaRPr>
          </a:p>
          <a:p>
            <a:pPr marL="168910" marR="30480" indent="-131445">
              <a:lnSpc>
                <a:spcPct val="100000"/>
              </a:lnSpc>
              <a:spcBef>
                <a:spcPts val="590"/>
              </a:spcBef>
              <a:buClr>
                <a:srgbClr val="990000"/>
              </a:buClr>
              <a:buFont typeface="Verdana"/>
              <a:buChar char="•"/>
              <a:tabLst>
                <a:tab pos="170180" algn="l"/>
              </a:tabLst>
            </a:pPr>
            <a:r>
              <a:rPr sz="1000" spc="-25" dirty="0">
                <a:latin typeface="Tahoma"/>
                <a:cs typeface="Tahoma"/>
              </a:rPr>
              <a:t>Nearly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dots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b="1" spc="-30" dirty="0">
                <a:latin typeface="Arial"/>
                <a:cs typeface="Arial"/>
              </a:rPr>
              <a:t>below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zero</a:t>
            </a:r>
            <a:r>
              <a:rPr sz="1000" spc="-45" dirty="0">
                <a:latin typeface="Tahoma"/>
                <a:cs typeface="Tahoma"/>
              </a:rPr>
              <a:t>: 	</a:t>
            </a:r>
            <a:r>
              <a:rPr sz="1000" spc="-25" dirty="0">
                <a:latin typeface="Tahoma"/>
                <a:cs typeface="Tahoma"/>
              </a:rPr>
              <a:t>heat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reduced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yield.</a:t>
            </a:r>
            <a:endParaRPr sz="1000">
              <a:latin typeface="Tahoma"/>
              <a:cs typeface="Tahoma"/>
            </a:endParaRPr>
          </a:p>
          <a:p>
            <a:pPr marL="169545" indent="-131445">
              <a:lnSpc>
                <a:spcPts val="1200"/>
              </a:lnSpc>
              <a:spcBef>
                <a:spcPts val="585"/>
              </a:spcBef>
              <a:buClr>
                <a:srgbClr val="990000"/>
              </a:buClr>
              <a:buFont typeface="Verdana"/>
              <a:buChar char="•"/>
              <a:tabLst>
                <a:tab pos="169545" algn="l"/>
              </a:tabLst>
            </a:pPr>
            <a:r>
              <a:rPr sz="1000" spc="-35" dirty="0">
                <a:latin typeface="Tahoma"/>
                <a:cs typeface="Tahoma"/>
              </a:rPr>
              <a:t>Treatment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(4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pulses)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Verdana"/>
                <a:cs typeface="Verdana"/>
              </a:rPr>
              <a:t>≈</a:t>
            </a:r>
            <a:endParaRPr sz="1000">
              <a:latin typeface="Verdana"/>
              <a:cs typeface="Verdana"/>
            </a:endParaRPr>
          </a:p>
          <a:p>
            <a:pPr marL="170180">
              <a:lnSpc>
                <a:spcPts val="1200"/>
              </a:lnSpc>
            </a:pPr>
            <a:r>
              <a:rPr sz="1000" dirty="0">
                <a:latin typeface="Tahoma"/>
                <a:cs typeface="Tahoma"/>
              </a:rPr>
              <a:t>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(1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pulse).</a:t>
            </a:r>
            <a:endParaRPr sz="1000">
              <a:latin typeface="Tahoma"/>
              <a:cs typeface="Tahoma"/>
            </a:endParaRPr>
          </a:p>
          <a:p>
            <a:pPr marL="168910" marR="31115" indent="-131445">
              <a:lnSpc>
                <a:spcPct val="100000"/>
              </a:lnSpc>
              <a:spcBef>
                <a:spcPts val="595"/>
              </a:spcBef>
              <a:buClr>
                <a:srgbClr val="990000"/>
              </a:buClr>
              <a:buFont typeface="Verdana"/>
              <a:buChar char="•"/>
              <a:tabLst>
                <a:tab pos="170180" algn="l"/>
              </a:tabLst>
            </a:pPr>
            <a:r>
              <a:rPr sz="1000" spc="-45" dirty="0">
                <a:latin typeface="Tahoma"/>
                <a:cs typeface="Tahoma"/>
              </a:rPr>
              <a:t>Suggests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Arial"/>
                <a:cs typeface="Arial"/>
              </a:rPr>
              <a:t>threshold 	effect</a:t>
            </a:r>
            <a:r>
              <a:rPr sz="1000" spc="-10" dirty="0">
                <a:latin typeface="Tahoma"/>
                <a:cs typeface="Tahoma"/>
              </a:rPr>
              <a:t>: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even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2-</a:t>
            </a:r>
            <a:r>
              <a:rPr sz="1000" spc="-20" dirty="0">
                <a:latin typeface="Tahoma"/>
                <a:cs typeface="Tahoma"/>
              </a:rPr>
              <a:t>hour 	</a:t>
            </a:r>
            <a:r>
              <a:rPr sz="1000" spc="-35" dirty="0">
                <a:latin typeface="Tahoma"/>
                <a:cs typeface="Tahoma"/>
              </a:rPr>
              <a:t>pulse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35–40</a:t>
            </a:r>
            <a:r>
              <a:rPr sz="1050" i="1" baseline="27777" dirty="0">
                <a:latin typeface="Arial"/>
                <a:cs typeface="Arial"/>
              </a:rPr>
              <a:t>◦</a:t>
            </a:r>
            <a:r>
              <a:rPr sz="1000" dirty="0">
                <a:latin typeface="Tahoma"/>
                <a:cs typeface="Tahoma"/>
              </a:rPr>
              <a:t>C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enough 	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cause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damage.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221" y="88160"/>
            <a:ext cx="187896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Yield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Analysis:</a:t>
            </a:r>
            <a:r>
              <a:rPr sz="14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Summary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75086" y="66886"/>
            <a:ext cx="133985" cy="216535"/>
            <a:chOff x="4275086" y="66886"/>
            <a:chExt cx="133985" cy="216535"/>
          </a:xfrm>
        </p:grpSpPr>
        <p:sp>
          <p:nvSpPr>
            <p:cNvPr id="4" name="object 4"/>
            <p:cNvSpPr/>
            <p:nvPr/>
          </p:nvSpPr>
          <p:spPr>
            <a:xfrm>
              <a:off x="4275086" y="66886"/>
              <a:ext cx="133985" cy="216535"/>
            </a:xfrm>
            <a:custGeom>
              <a:avLst/>
              <a:gdLst/>
              <a:ahLst/>
              <a:cxnLst/>
              <a:rect l="l" t="t" r="r" b="b"/>
              <a:pathLst>
                <a:path w="133985" h="216535">
                  <a:moveTo>
                    <a:pt x="75562" y="0"/>
                  </a:moveTo>
                  <a:lnTo>
                    <a:pt x="67666" y="472"/>
                  </a:lnTo>
                  <a:lnTo>
                    <a:pt x="66960" y="493"/>
                  </a:lnTo>
                  <a:lnTo>
                    <a:pt x="66258" y="472"/>
                  </a:lnTo>
                  <a:lnTo>
                    <a:pt x="58363" y="1"/>
                  </a:lnTo>
                  <a:lnTo>
                    <a:pt x="55719" y="9490"/>
                  </a:lnTo>
                  <a:lnTo>
                    <a:pt x="54589" y="9358"/>
                  </a:lnTo>
                  <a:lnTo>
                    <a:pt x="52122" y="9290"/>
                  </a:lnTo>
                  <a:lnTo>
                    <a:pt x="48327" y="12045"/>
                  </a:lnTo>
                  <a:lnTo>
                    <a:pt x="47311" y="14028"/>
                  </a:lnTo>
                  <a:lnTo>
                    <a:pt x="46920" y="16653"/>
                  </a:lnTo>
                  <a:lnTo>
                    <a:pt x="44422" y="16169"/>
                  </a:lnTo>
                  <a:lnTo>
                    <a:pt x="9548" y="40726"/>
                  </a:lnTo>
                  <a:lnTo>
                    <a:pt x="0" y="92324"/>
                  </a:lnTo>
                  <a:lnTo>
                    <a:pt x="105" y="98726"/>
                  </a:lnTo>
                  <a:lnTo>
                    <a:pt x="9308" y="152251"/>
                  </a:lnTo>
                  <a:lnTo>
                    <a:pt x="40505" y="199970"/>
                  </a:lnTo>
                  <a:lnTo>
                    <a:pt x="62432" y="211719"/>
                  </a:lnTo>
                  <a:lnTo>
                    <a:pt x="63840" y="214087"/>
                  </a:lnTo>
                  <a:lnTo>
                    <a:pt x="65591" y="215787"/>
                  </a:lnTo>
                  <a:lnTo>
                    <a:pt x="66961" y="216170"/>
                  </a:lnTo>
                  <a:lnTo>
                    <a:pt x="68330" y="215787"/>
                  </a:lnTo>
                  <a:lnTo>
                    <a:pt x="70078" y="214087"/>
                  </a:lnTo>
                  <a:lnTo>
                    <a:pt x="71485" y="211720"/>
                  </a:lnTo>
                  <a:lnTo>
                    <a:pt x="93417" y="199973"/>
                  </a:lnTo>
                  <a:lnTo>
                    <a:pt x="124622" y="152252"/>
                  </a:lnTo>
                  <a:lnTo>
                    <a:pt x="132975" y="111963"/>
                  </a:lnTo>
                  <a:lnTo>
                    <a:pt x="133933" y="92326"/>
                  </a:lnTo>
                  <a:lnTo>
                    <a:pt x="132846" y="72820"/>
                  </a:lnTo>
                  <a:lnTo>
                    <a:pt x="117161" y="29048"/>
                  </a:lnTo>
                  <a:lnTo>
                    <a:pt x="91934" y="16070"/>
                  </a:lnTo>
                  <a:lnTo>
                    <a:pt x="89151" y="16183"/>
                  </a:lnTo>
                  <a:lnTo>
                    <a:pt x="86501" y="16764"/>
                  </a:lnTo>
                  <a:lnTo>
                    <a:pt x="86102" y="14047"/>
                  </a:lnTo>
                  <a:lnTo>
                    <a:pt x="85078" y="12012"/>
                  </a:lnTo>
                  <a:lnTo>
                    <a:pt x="81438" y="9365"/>
                  </a:lnTo>
                  <a:lnTo>
                    <a:pt x="79249" y="9389"/>
                  </a:lnTo>
                  <a:lnTo>
                    <a:pt x="78205" y="9498"/>
                  </a:lnTo>
                  <a:lnTo>
                    <a:pt x="75562" y="0"/>
                  </a:lnTo>
                  <a:close/>
                </a:path>
              </a:pathLst>
            </a:custGeom>
            <a:solidFill>
              <a:srgbClr val="A98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01711" y="126161"/>
              <a:ext cx="81280" cy="127635"/>
            </a:xfrm>
            <a:custGeom>
              <a:avLst/>
              <a:gdLst/>
              <a:ahLst/>
              <a:cxnLst/>
              <a:rect l="l" t="t" r="r" b="b"/>
              <a:pathLst>
                <a:path w="81279" h="127635">
                  <a:moveTo>
                    <a:pt x="56730" y="0"/>
                  </a:moveTo>
                  <a:lnTo>
                    <a:pt x="47922" y="2286"/>
                  </a:lnTo>
                  <a:lnTo>
                    <a:pt x="43508" y="2990"/>
                  </a:lnTo>
                  <a:lnTo>
                    <a:pt x="40350" y="3075"/>
                  </a:lnTo>
                  <a:lnTo>
                    <a:pt x="36960" y="2984"/>
                  </a:lnTo>
                  <a:lnTo>
                    <a:pt x="32581" y="2243"/>
                  </a:lnTo>
                  <a:lnTo>
                    <a:pt x="23947" y="1"/>
                  </a:lnTo>
                  <a:lnTo>
                    <a:pt x="18883" y="1599"/>
                  </a:lnTo>
                  <a:lnTo>
                    <a:pt x="524" y="35285"/>
                  </a:lnTo>
                  <a:lnTo>
                    <a:pt x="0" y="44781"/>
                  </a:lnTo>
                  <a:lnTo>
                    <a:pt x="0" y="47065"/>
                  </a:lnTo>
                  <a:lnTo>
                    <a:pt x="7745" y="84974"/>
                  </a:lnTo>
                  <a:lnTo>
                    <a:pt x="33318" y="122090"/>
                  </a:lnTo>
                  <a:lnTo>
                    <a:pt x="40357" y="127353"/>
                  </a:lnTo>
                  <a:lnTo>
                    <a:pt x="47391" y="122089"/>
                  </a:lnTo>
                  <a:lnTo>
                    <a:pt x="72941" y="84976"/>
                  </a:lnTo>
                  <a:lnTo>
                    <a:pt x="80707" y="46307"/>
                  </a:lnTo>
                  <a:lnTo>
                    <a:pt x="80707" y="44260"/>
                  </a:lnTo>
                  <a:lnTo>
                    <a:pt x="66286" y="5320"/>
                  </a:lnTo>
                  <a:lnTo>
                    <a:pt x="56730" y="0"/>
                  </a:lnTo>
                  <a:close/>
                </a:path>
              </a:pathLst>
            </a:custGeom>
            <a:solidFill>
              <a:srgbClr val="CD15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1948" y="98740"/>
              <a:ext cx="6317" cy="162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0290" y="72987"/>
              <a:ext cx="103519" cy="448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5606" y="162832"/>
              <a:ext cx="20230" cy="567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8639" y="162832"/>
              <a:ext cx="20228" cy="567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6935" y="266463"/>
              <a:ext cx="10483" cy="149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75192" y="67095"/>
              <a:ext cx="133721" cy="215899"/>
            </a:xfrm>
            <a:prstGeom prst="rect">
              <a:avLst/>
            </a:prstGeom>
          </p:spPr>
        </p:pic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38544" y="1146175"/>
          <a:ext cx="4545965" cy="1511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9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Finding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Detail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000" i="1" spc="-55" dirty="0">
                          <a:latin typeface="Verdana"/>
                          <a:cs typeface="Verdana"/>
                        </a:rPr>
                        <a:t>p</a:t>
                      </a:r>
                      <a:r>
                        <a:rPr sz="1000" b="1" spc="-5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000" b="1" spc="-10" dirty="0">
                          <a:latin typeface="Arial"/>
                          <a:cs typeface="Arial"/>
                        </a:rPr>
                        <a:t>value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000" spc="-40" dirty="0">
                          <a:latin typeface="Tahoma"/>
                          <a:cs typeface="Tahoma"/>
                        </a:rPr>
                        <a:t>Long-</a:t>
                      </a:r>
                      <a:r>
                        <a:rPr sz="1000" spc="-20" dirty="0">
                          <a:latin typeface="Tahoma"/>
                          <a:cs typeface="Tahoma"/>
                        </a:rPr>
                        <a:t>term</a:t>
                      </a:r>
                      <a:r>
                        <a:rPr sz="10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latin typeface="Tahoma"/>
                          <a:cs typeface="Tahoma"/>
                        </a:rPr>
                        <a:t>OTC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000" dirty="0">
                          <a:latin typeface="Tahoma"/>
                          <a:cs typeface="Tahoma"/>
                        </a:rPr>
                        <a:t>No </a:t>
                      </a:r>
                      <a:r>
                        <a:rPr sz="1000" spc="-35" dirty="0">
                          <a:latin typeface="Tahoma"/>
                          <a:cs typeface="Tahoma"/>
                        </a:rPr>
                        <a:t>detectable</a:t>
                      </a:r>
                      <a:r>
                        <a:rPr sz="10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0" dirty="0">
                          <a:latin typeface="Tahoma"/>
                          <a:cs typeface="Tahoma"/>
                        </a:rPr>
                        <a:t>yield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effect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0.19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329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00" dirty="0">
                          <a:latin typeface="Tahoma"/>
                          <a:cs typeface="Tahoma"/>
                        </a:rPr>
                        <a:t>Acute</a:t>
                      </a:r>
                      <a:r>
                        <a:rPr sz="10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OTC</a:t>
                      </a:r>
                      <a:r>
                        <a:rPr sz="1000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0" dirty="0">
                          <a:latin typeface="Tahoma"/>
                          <a:cs typeface="Tahoma"/>
                        </a:rPr>
                        <a:t>reduces</a:t>
                      </a:r>
                      <a:r>
                        <a:rPr sz="1000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yield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00" i="1" spc="-20" dirty="0">
                          <a:latin typeface="Verdana"/>
                          <a:cs typeface="Verdana"/>
                        </a:rPr>
                        <a:t>−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155</a:t>
                      </a:r>
                      <a:r>
                        <a:rPr sz="1000" spc="-20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10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0" dirty="0">
                          <a:latin typeface="Tahoma"/>
                          <a:cs typeface="Tahoma"/>
                        </a:rPr>
                        <a:t>healthy</a:t>
                      </a:r>
                      <a:r>
                        <a:rPr sz="1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fruit</a:t>
                      </a:r>
                      <a:r>
                        <a:rPr sz="1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0" dirty="0">
                          <a:latin typeface="Tahoma"/>
                          <a:cs typeface="Tahoma"/>
                        </a:rPr>
                        <a:t>per</a:t>
                      </a:r>
                      <a:r>
                        <a:rPr sz="10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0" dirty="0">
                          <a:latin typeface="Tahoma"/>
                          <a:cs typeface="Tahoma"/>
                        </a:rPr>
                        <a:t>plot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0.001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329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00" dirty="0">
                          <a:latin typeface="Tahoma"/>
                          <a:cs typeface="Tahoma"/>
                        </a:rPr>
                        <a:t>Acute</a:t>
                      </a:r>
                      <a:r>
                        <a:rPr sz="10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OTC</a:t>
                      </a:r>
                      <a:r>
                        <a:rPr sz="10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45" dirty="0">
                          <a:latin typeface="Tahoma"/>
                          <a:cs typeface="Tahoma"/>
                        </a:rPr>
                        <a:t>increases</a:t>
                      </a:r>
                      <a:r>
                        <a:rPr sz="10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latin typeface="Tahoma"/>
                          <a:cs typeface="Tahoma"/>
                        </a:rPr>
                        <a:t>rot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Odds 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ratio</a:t>
                      </a:r>
                      <a:r>
                        <a:rPr sz="10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0" dirty="0">
                          <a:latin typeface="Tahoma"/>
                          <a:cs typeface="Tahoma"/>
                        </a:rPr>
                        <a:t>3.8</a:t>
                      </a:r>
                      <a:r>
                        <a:rPr sz="1000" i="1" spc="-20" dirty="0">
                          <a:latin typeface="Verdana"/>
                          <a:cs typeface="Verdana"/>
                        </a:rPr>
                        <a:t>×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00" i="1" spc="-50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sz="1000" i="1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000" i="1" spc="-10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001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09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2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00" dirty="0">
                          <a:latin typeface="Tahoma"/>
                          <a:cs typeface="Tahoma"/>
                        </a:rPr>
                        <a:t>No</a:t>
                      </a:r>
                      <a:r>
                        <a:rPr sz="10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dose–response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0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5" dirty="0">
                          <a:latin typeface="Tahoma"/>
                          <a:cs typeface="Tahoma"/>
                        </a:rPr>
                        <a:t>pulse</a:t>
                      </a:r>
                      <a:r>
                        <a:rPr sz="10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i="1" dirty="0">
                          <a:latin typeface="Verdana"/>
                          <a:cs typeface="Verdana"/>
                        </a:rPr>
                        <a:t>≈</a:t>
                      </a:r>
                      <a:r>
                        <a:rPr sz="1000" i="1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4</a:t>
                      </a:r>
                      <a:r>
                        <a:rPr sz="1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pulses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00" dirty="0">
                          <a:latin typeface="Tahoma"/>
                          <a:cs typeface="Tahoma"/>
                        </a:rPr>
                        <a:t>All</a:t>
                      </a:r>
                      <a:r>
                        <a:rPr sz="1000" spc="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i="1" spc="-50" dirty="0">
                          <a:latin typeface="Verdana"/>
                          <a:cs typeface="Verdana"/>
                        </a:rPr>
                        <a:t>&gt;</a:t>
                      </a:r>
                      <a:r>
                        <a:rPr sz="1000" i="1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000" i="1" spc="-25" dirty="0">
                          <a:latin typeface="Verdana"/>
                          <a:cs typeface="Verdana"/>
                        </a:rPr>
                        <a:t>.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095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Cultivar</a:t>
                      </a:r>
                      <a:r>
                        <a:rPr sz="10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matters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>
                          <a:latin typeface="Tahoma"/>
                          <a:cs typeface="Tahoma"/>
                        </a:rPr>
                        <a:t>Mullica</a:t>
                      </a:r>
                      <a:r>
                        <a:rPr sz="10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0" dirty="0">
                          <a:latin typeface="Tahoma"/>
                          <a:cs typeface="Tahoma"/>
                        </a:rPr>
                        <a:t>Queen</a:t>
                      </a:r>
                      <a:r>
                        <a:rPr sz="100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0" dirty="0">
                          <a:latin typeface="Tahoma"/>
                          <a:cs typeface="Tahoma"/>
                        </a:rPr>
                        <a:t>yields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0" dirty="0">
                          <a:latin typeface="Tahoma"/>
                          <a:cs typeface="Tahoma"/>
                        </a:rPr>
                        <a:t>more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0.002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1905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6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Temperature</a:t>
            </a:r>
            <a:r>
              <a:rPr spc="-30" dirty="0"/>
              <a:t> </a:t>
            </a:r>
            <a:r>
              <a:rPr spc="120" dirty="0"/>
              <a:t>&amp;</a:t>
            </a:r>
            <a:r>
              <a:rPr spc="-35" dirty="0"/>
              <a:t> </a:t>
            </a:r>
            <a:r>
              <a:rPr spc="-25" dirty="0"/>
              <a:t>Relative</a:t>
            </a:r>
            <a:r>
              <a:rPr spc="-30" dirty="0"/>
              <a:t> </a:t>
            </a:r>
            <a:r>
              <a:rPr spc="-10" dirty="0"/>
              <a:t>Humidity</a:t>
            </a:r>
            <a:r>
              <a:rPr spc="-30" dirty="0"/>
              <a:t> </a:t>
            </a:r>
            <a:r>
              <a:rPr spc="-10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75086" y="66886"/>
            <a:ext cx="133985" cy="216535"/>
            <a:chOff x="4275086" y="66886"/>
            <a:chExt cx="133985" cy="216535"/>
          </a:xfrm>
        </p:grpSpPr>
        <p:sp>
          <p:nvSpPr>
            <p:cNvPr id="4" name="object 4"/>
            <p:cNvSpPr/>
            <p:nvPr/>
          </p:nvSpPr>
          <p:spPr>
            <a:xfrm>
              <a:off x="4275086" y="66886"/>
              <a:ext cx="133985" cy="216535"/>
            </a:xfrm>
            <a:custGeom>
              <a:avLst/>
              <a:gdLst/>
              <a:ahLst/>
              <a:cxnLst/>
              <a:rect l="l" t="t" r="r" b="b"/>
              <a:pathLst>
                <a:path w="133985" h="216535">
                  <a:moveTo>
                    <a:pt x="75562" y="0"/>
                  </a:moveTo>
                  <a:lnTo>
                    <a:pt x="67666" y="472"/>
                  </a:lnTo>
                  <a:lnTo>
                    <a:pt x="66960" y="493"/>
                  </a:lnTo>
                  <a:lnTo>
                    <a:pt x="66258" y="472"/>
                  </a:lnTo>
                  <a:lnTo>
                    <a:pt x="58363" y="1"/>
                  </a:lnTo>
                  <a:lnTo>
                    <a:pt x="55719" y="9490"/>
                  </a:lnTo>
                  <a:lnTo>
                    <a:pt x="54589" y="9358"/>
                  </a:lnTo>
                  <a:lnTo>
                    <a:pt x="52122" y="9290"/>
                  </a:lnTo>
                  <a:lnTo>
                    <a:pt x="48327" y="12045"/>
                  </a:lnTo>
                  <a:lnTo>
                    <a:pt x="47311" y="14028"/>
                  </a:lnTo>
                  <a:lnTo>
                    <a:pt x="46920" y="16653"/>
                  </a:lnTo>
                  <a:lnTo>
                    <a:pt x="44422" y="16169"/>
                  </a:lnTo>
                  <a:lnTo>
                    <a:pt x="9548" y="40726"/>
                  </a:lnTo>
                  <a:lnTo>
                    <a:pt x="0" y="92324"/>
                  </a:lnTo>
                  <a:lnTo>
                    <a:pt x="105" y="98726"/>
                  </a:lnTo>
                  <a:lnTo>
                    <a:pt x="9308" y="152251"/>
                  </a:lnTo>
                  <a:lnTo>
                    <a:pt x="40505" y="199970"/>
                  </a:lnTo>
                  <a:lnTo>
                    <a:pt x="62432" y="211719"/>
                  </a:lnTo>
                  <a:lnTo>
                    <a:pt x="63840" y="214087"/>
                  </a:lnTo>
                  <a:lnTo>
                    <a:pt x="65591" y="215787"/>
                  </a:lnTo>
                  <a:lnTo>
                    <a:pt x="66961" y="216170"/>
                  </a:lnTo>
                  <a:lnTo>
                    <a:pt x="68330" y="215787"/>
                  </a:lnTo>
                  <a:lnTo>
                    <a:pt x="70078" y="214087"/>
                  </a:lnTo>
                  <a:lnTo>
                    <a:pt x="71485" y="211720"/>
                  </a:lnTo>
                  <a:lnTo>
                    <a:pt x="93417" y="199973"/>
                  </a:lnTo>
                  <a:lnTo>
                    <a:pt x="124622" y="152252"/>
                  </a:lnTo>
                  <a:lnTo>
                    <a:pt x="132975" y="111963"/>
                  </a:lnTo>
                  <a:lnTo>
                    <a:pt x="133933" y="92326"/>
                  </a:lnTo>
                  <a:lnTo>
                    <a:pt x="132846" y="72820"/>
                  </a:lnTo>
                  <a:lnTo>
                    <a:pt x="117161" y="29048"/>
                  </a:lnTo>
                  <a:lnTo>
                    <a:pt x="91934" y="16070"/>
                  </a:lnTo>
                  <a:lnTo>
                    <a:pt x="89151" y="16183"/>
                  </a:lnTo>
                  <a:lnTo>
                    <a:pt x="86501" y="16764"/>
                  </a:lnTo>
                  <a:lnTo>
                    <a:pt x="86102" y="14047"/>
                  </a:lnTo>
                  <a:lnTo>
                    <a:pt x="85078" y="12012"/>
                  </a:lnTo>
                  <a:lnTo>
                    <a:pt x="81438" y="9365"/>
                  </a:lnTo>
                  <a:lnTo>
                    <a:pt x="79249" y="9389"/>
                  </a:lnTo>
                  <a:lnTo>
                    <a:pt x="78205" y="9498"/>
                  </a:lnTo>
                  <a:lnTo>
                    <a:pt x="75562" y="0"/>
                  </a:lnTo>
                  <a:close/>
                </a:path>
              </a:pathLst>
            </a:custGeom>
            <a:solidFill>
              <a:srgbClr val="A98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01711" y="126161"/>
              <a:ext cx="81280" cy="127635"/>
            </a:xfrm>
            <a:custGeom>
              <a:avLst/>
              <a:gdLst/>
              <a:ahLst/>
              <a:cxnLst/>
              <a:rect l="l" t="t" r="r" b="b"/>
              <a:pathLst>
                <a:path w="81279" h="127635">
                  <a:moveTo>
                    <a:pt x="56730" y="0"/>
                  </a:moveTo>
                  <a:lnTo>
                    <a:pt x="47922" y="2286"/>
                  </a:lnTo>
                  <a:lnTo>
                    <a:pt x="43508" y="2990"/>
                  </a:lnTo>
                  <a:lnTo>
                    <a:pt x="40350" y="3075"/>
                  </a:lnTo>
                  <a:lnTo>
                    <a:pt x="36960" y="2984"/>
                  </a:lnTo>
                  <a:lnTo>
                    <a:pt x="32581" y="2243"/>
                  </a:lnTo>
                  <a:lnTo>
                    <a:pt x="23947" y="1"/>
                  </a:lnTo>
                  <a:lnTo>
                    <a:pt x="18883" y="1599"/>
                  </a:lnTo>
                  <a:lnTo>
                    <a:pt x="524" y="35285"/>
                  </a:lnTo>
                  <a:lnTo>
                    <a:pt x="0" y="44781"/>
                  </a:lnTo>
                  <a:lnTo>
                    <a:pt x="0" y="47065"/>
                  </a:lnTo>
                  <a:lnTo>
                    <a:pt x="7745" y="84974"/>
                  </a:lnTo>
                  <a:lnTo>
                    <a:pt x="33318" y="122090"/>
                  </a:lnTo>
                  <a:lnTo>
                    <a:pt x="40357" y="127353"/>
                  </a:lnTo>
                  <a:lnTo>
                    <a:pt x="47391" y="122089"/>
                  </a:lnTo>
                  <a:lnTo>
                    <a:pt x="72941" y="84976"/>
                  </a:lnTo>
                  <a:lnTo>
                    <a:pt x="80707" y="46307"/>
                  </a:lnTo>
                  <a:lnTo>
                    <a:pt x="80707" y="44260"/>
                  </a:lnTo>
                  <a:lnTo>
                    <a:pt x="66286" y="5320"/>
                  </a:lnTo>
                  <a:lnTo>
                    <a:pt x="56730" y="0"/>
                  </a:lnTo>
                  <a:close/>
                </a:path>
              </a:pathLst>
            </a:custGeom>
            <a:solidFill>
              <a:srgbClr val="CD15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1948" y="98740"/>
              <a:ext cx="6317" cy="162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0290" y="72987"/>
              <a:ext cx="103519" cy="448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5606" y="162832"/>
              <a:ext cx="20230" cy="567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8639" y="162832"/>
              <a:ext cx="20228" cy="567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6935" y="266463"/>
              <a:ext cx="10483" cy="149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75192" y="67095"/>
              <a:ext cx="133721" cy="2158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25844" y="572107"/>
            <a:ext cx="20434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OTC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created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real</a:t>
            </a:r>
            <a:r>
              <a:rPr sz="1200" b="1" spc="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heat</a:t>
            </a:r>
            <a:r>
              <a:rPr sz="1200" b="1" spc="50" dirty="0">
                <a:latin typeface="Arial"/>
                <a:cs typeface="Arial"/>
              </a:rPr>
              <a:t> </a:t>
            </a:r>
            <a:r>
              <a:rPr sz="1200" b="1" spc="-65" dirty="0">
                <a:latin typeface="Arial"/>
                <a:cs typeface="Arial"/>
              </a:rPr>
              <a:t>stress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4279" y="1120585"/>
            <a:ext cx="1637450" cy="193782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016783" y="964786"/>
            <a:ext cx="1346200" cy="19234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8910" marR="109220" indent="-131445">
              <a:lnSpc>
                <a:spcPct val="100000"/>
              </a:lnSpc>
              <a:spcBef>
                <a:spcPts val="95"/>
              </a:spcBef>
              <a:buClr>
                <a:srgbClr val="990000"/>
              </a:buClr>
              <a:buFont typeface="Verdana"/>
              <a:buChar char="•"/>
              <a:tabLst>
                <a:tab pos="170180" algn="l"/>
              </a:tabLst>
            </a:pPr>
            <a:r>
              <a:rPr sz="1000" dirty="0">
                <a:latin typeface="Tahoma"/>
                <a:cs typeface="Tahoma"/>
              </a:rPr>
              <a:t>Control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plots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stayed 	</a:t>
            </a:r>
            <a:r>
              <a:rPr sz="1000" spc="-40" dirty="0">
                <a:latin typeface="Tahoma"/>
                <a:cs typeface="Tahoma"/>
              </a:rPr>
              <a:t>around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20–25</a:t>
            </a:r>
            <a:r>
              <a:rPr sz="1050" i="1" spc="-15" baseline="27777" dirty="0">
                <a:latin typeface="Arial"/>
                <a:cs typeface="Arial"/>
              </a:rPr>
              <a:t>◦</a:t>
            </a:r>
            <a:r>
              <a:rPr sz="1000" spc="-10" dirty="0">
                <a:latin typeface="Tahoma"/>
                <a:cs typeface="Tahoma"/>
              </a:rPr>
              <a:t>C.</a:t>
            </a:r>
            <a:endParaRPr sz="1000">
              <a:latin typeface="Tahoma"/>
              <a:cs typeface="Tahoma"/>
            </a:endParaRPr>
          </a:p>
          <a:p>
            <a:pPr marL="168910" marR="230504" indent="-131445">
              <a:lnSpc>
                <a:spcPct val="100000"/>
              </a:lnSpc>
              <a:spcBef>
                <a:spcPts val="590"/>
              </a:spcBef>
              <a:buClr>
                <a:srgbClr val="990000"/>
              </a:buClr>
              <a:buFont typeface="Verdana"/>
              <a:buChar char="•"/>
              <a:tabLst>
                <a:tab pos="170180" algn="l"/>
              </a:tabLst>
            </a:pPr>
            <a:r>
              <a:rPr sz="1000" dirty="0">
                <a:latin typeface="Tahoma"/>
                <a:cs typeface="Tahoma"/>
              </a:rPr>
              <a:t>OTC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plots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often 	</a:t>
            </a:r>
            <a:r>
              <a:rPr sz="1000" spc="-45" dirty="0">
                <a:latin typeface="Tahoma"/>
                <a:cs typeface="Tahoma"/>
              </a:rPr>
              <a:t>reached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35–45</a:t>
            </a:r>
            <a:r>
              <a:rPr sz="1050" i="1" spc="-15" baseline="27777" dirty="0">
                <a:latin typeface="Arial"/>
                <a:cs typeface="Arial"/>
              </a:rPr>
              <a:t>◦</a:t>
            </a:r>
            <a:r>
              <a:rPr sz="1000" spc="-10" dirty="0">
                <a:latin typeface="Tahoma"/>
                <a:cs typeface="Tahoma"/>
              </a:rPr>
              <a:t>C.</a:t>
            </a:r>
            <a:endParaRPr sz="1000">
              <a:latin typeface="Tahoma"/>
              <a:cs typeface="Tahoma"/>
            </a:endParaRPr>
          </a:p>
          <a:p>
            <a:pPr marL="168910" marR="43180" indent="-131445">
              <a:lnSpc>
                <a:spcPct val="100000"/>
              </a:lnSpc>
              <a:spcBef>
                <a:spcPts val="585"/>
              </a:spcBef>
              <a:buClr>
                <a:srgbClr val="990000"/>
              </a:buClr>
              <a:buFont typeface="Verdana"/>
              <a:buChar char="•"/>
              <a:tabLst>
                <a:tab pos="170180" algn="l"/>
              </a:tabLst>
            </a:pPr>
            <a:r>
              <a:rPr sz="100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temperature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gap 	</a:t>
            </a:r>
            <a:r>
              <a:rPr sz="1000" spc="-55" dirty="0">
                <a:latin typeface="Tahoma"/>
                <a:cs typeface="Tahoma"/>
              </a:rPr>
              <a:t>was</a:t>
            </a:r>
            <a:r>
              <a:rPr sz="1000" spc="-25" dirty="0">
                <a:latin typeface="Tahoma"/>
                <a:cs typeface="Tahoma"/>
              </a:rPr>
              <a:t> clear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across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all 	</a:t>
            </a:r>
            <a:r>
              <a:rPr sz="1000" spc="-30" dirty="0">
                <a:latin typeface="Tahoma"/>
                <a:cs typeface="Tahoma"/>
              </a:rPr>
              <a:t>acute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heat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pulses.</a:t>
            </a:r>
            <a:endParaRPr sz="1000">
              <a:latin typeface="Tahoma"/>
              <a:cs typeface="Tahoma"/>
            </a:endParaRPr>
          </a:p>
          <a:p>
            <a:pPr marL="168910" marR="30480" indent="-131445">
              <a:lnSpc>
                <a:spcPct val="100000"/>
              </a:lnSpc>
              <a:spcBef>
                <a:spcPts val="585"/>
              </a:spcBef>
              <a:buClr>
                <a:srgbClr val="990000"/>
              </a:buClr>
              <a:buFont typeface="Verdana"/>
              <a:buChar char="•"/>
              <a:tabLst>
                <a:tab pos="170180" algn="l"/>
              </a:tabLst>
            </a:pPr>
            <a:r>
              <a:rPr sz="1000" dirty="0">
                <a:latin typeface="Tahoma"/>
                <a:cs typeface="Tahoma"/>
              </a:rPr>
              <a:t>This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shows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that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 	</a:t>
            </a:r>
            <a:r>
              <a:rPr sz="1000" dirty="0">
                <a:latin typeface="Tahoma"/>
                <a:cs typeface="Tahoma"/>
              </a:rPr>
              <a:t>OTC</a:t>
            </a:r>
            <a:r>
              <a:rPr sz="1000" spc="1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treatment 	</a:t>
            </a:r>
            <a:r>
              <a:rPr sz="1000" spc="-40" dirty="0">
                <a:latin typeface="Tahoma"/>
                <a:cs typeface="Tahoma"/>
              </a:rPr>
              <a:t>successfully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created 	</a:t>
            </a:r>
            <a:r>
              <a:rPr sz="1000" spc="-30" dirty="0">
                <a:latin typeface="Tahoma"/>
                <a:cs typeface="Tahoma"/>
              </a:rPr>
              <a:t>strong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heat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exposure.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7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Temperature</a:t>
            </a:r>
            <a:r>
              <a:rPr spc="-30" dirty="0"/>
              <a:t> </a:t>
            </a:r>
            <a:r>
              <a:rPr spc="120" dirty="0"/>
              <a:t>&amp;</a:t>
            </a:r>
            <a:r>
              <a:rPr spc="-35" dirty="0"/>
              <a:t> </a:t>
            </a:r>
            <a:r>
              <a:rPr spc="-25" dirty="0"/>
              <a:t>Relative</a:t>
            </a:r>
            <a:r>
              <a:rPr spc="-30" dirty="0"/>
              <a:t> </a:t>
            </a:r>
            <a:r>
              <a:rPr spc="-10" dirty="0"/>
              <a:t>Humidity</a:t>
            </a:r>
            <a:r>
              <a:rPr spc="-30" dirty="0"/>
              <a:t> </a:t>
            </a:r>
            <a:r>
              <a:rPr spc="-10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75086" y="66886"/>
            <a:ext cx="133985" cy="216535"/>
            <a:chOff x="4275086" y="66886"/>
            <a:chExt cx="133985" cy="216535"/>
          </a:xfrm>
        </p:grpSpPr>
        <p:sp>
          <p:nvSpPr>
            <p:cNvPr id="4" name="object 4"/>
            <p:cNvSpPr/>
            <p:nvPr/>
          </p:nvSpPr>
          <p:spPr>
            <a:xfrm>
              <a:off x="4275086" y="66886"/>
              <a:ext cx="133985" cy="216535"/>
            </a:xfrm>
            <a:custGeom>
              <a:avLst/>
              <a:gdLst/>
              <a:ahLst/>
              <a:cxnLst/>
              <a:rect l="l" t="t" r="r" b="b"/>
              <a:pathLst>
                <a:path w="133985" h="216535">
                  <a:moveTo>
                    <a:pt x="75562" y="0"/>
                  </a:moveTo>
                  <a:lnTo>
                    <a:pt x="67666" y="472"/>
                  </a:lnTo>
                  <a:lnTo>
                    <a:pt x="66960" y="493"/>
                  </a:lnTo>
                  <a:lnTo>
                    <a:pt x="66258" y="472"/>
                  </a:lnTo>
                  <a:lnTo>
                    <a:pt x="58363" y="1"/>
                  </a:lnTo>
                  <a:lnTo>
                    <a:pt x="55719" y="9490"/>
                  </a:lnTo>
                  <a:lnTo>
                    <a:pt x="54589" y="9358"/>
                  </a:lnTo>
                  <a:lnTo>
                    <a:pt x="52122" y="9290"/>
                  </a:lnTo>
                  <a:lnTo>
                    <a:pt x="48327" y="12045"/>
                  </a:lnTo>
                  <a:lnTo>
                    <a:pt x="47311" y="14028"/>
                  </a:lnTo>
                  <a:lnTo>
                    <a:pt x="46920" y="16653"/>
                  </a:lnTo>
                  <a:lnTo>
                    <a:pt x="44422" y="16169"/>
                  </a:lnTo>
                  <a:lnTo>
                    <a:pt x="9548" y="40726"/>
                  </a:lnTo>
                  <a:lnTo>
                    <a:pt x="0" y="92324"/>
                  </a:lnTo>
                  <a:lnTo>
                    <a:pt x="105" y="98726"/>
                  </a:lnTo>
                  <a:lnTo>
                    <a:pt x="9308" y="152251"/>
                  </a:lnTo>
                  <a:lnTo>
                    <a:pt x="40505" y="199970"/>
                  </a:lnTo>
                  <a:lnTo>
                    <a:pt x="62432" y="211719"/>
                  </a:lnTo>
                  <a:lnTo>
                    <a:pt x="63840" y="214087"/>
                  </a:lnTo>
                  <a:lnTo>
                    <a:pt x="65591" y="215787"/>
                  </a:lnTo>
                  <a:lnTo>
                    <a:pt x="66961" y="216170"/>
                  </a:lnTo>
                  <a:lnTo>
                    <a:pt x="68330" y="215787"/>
                  </a:lnTo>
                  <a:lnTo>
                    <a:pt x="70078" y="214087"/>
                  </a:lnTo>
                  <a:lnTo>
                    <a:pt x="71485" y="211720"/>
                  </a:lnTo>
                  <a:lnTo>
                    <a:pt x="93417" y="199973"/>
                  </a:lnTo>
                  <a:lnTo>
                    <a:pt x="124622" y="152252"/>
                  </a:lnTo>
                  <a:lnTo>
                    <a:pt x="132975" y="111963"/>
                  </a:lnTo>
                  <a:lnTo>
                    <a:pt x="133933" y="92326"/>
                  </a:lnTo>
                  <a:lnTo>
                    <a:pt x="132846" y="72820"/>
                  </a:lnTo>
                  <a:lnTo>
                    <a:pt x="117161" y="29048"/>
                  </a:lnTo>
                  <a:lnTo>
                    <a:pt x="91934" y="16070"/>
                  </a:lnTo>
                  <a:lnTo>
                    <a:pt x="89151" y="16183"/>
                  </a:lnTo>
                  <a:lnTo>
                    <a:pt x="86501" y="16764"/>
                  </a:lnTo>
                  <a:lnTo>
                    <a:pt x="86102" y="14047"/>
                  </a:lnTo>
                  <a:lnTo>
                    <a:pt x="85078" y="12012"/>
                  </a:lnTo>
                  <a:lnTo>
                    <a:pt x="81438" y="9365"/>
                  </a:lnTo>
                  <a:lnTo>
                    <a:pt x="79249" y="9389"/>
                  </a:lnTo>
                  <a:lnTo>
                    <a:pt x="78205" y="9498"/>
                  </a:lnTo>
                  <a:lnTo>
                    <a:pt x="75562" y="0"/>
                  </a:lnTo>
                  <a:close/>
                </a:path>
              </a:pathLst>
            </a:custGeom>
            <a:solidFill>
              <a:srgbClr val="A98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01711" y="126161"/>
              <a:ext cx="81280" cy="127635"/>
            </a:xfrm>
            <a:custGeom>
              <a:avLst/>
              <a:gdLst/>
              <a:ahLst/>
              <a:cxnLst/>
              <a:rect l="l" t="t" r="r" b="b"/>
              <a:pathLst>
                <a:path w="81279" h="127635">
                  <a:moveTo>
                    <a:pt x="56730" y="0"/>
                  </a:moveTo>
                  <a:lnTo>
                    <a:pt x="47922" y="2286"/>
                  </a:lnTo>
                  <a:lnTo>
                    <a:pt x="43508" y="2990"/>
                  </a:lnTo>
                  <a:lnTo>
                    <a:pt x="40350" y="3075"/>
                  </a:lnTo>
                  <a:lnTo>
                    <a:pt x="36960" y="2984"/>
                  </a:lnTo>
                  <a:lnTo>
                    <a:pt x="32581" y="2243"/>
                  </a:lnTo>
                  <a:lnTo>
                    <a:pt x="23947" y="1"/>
                  </a:lnTo>
                  <a:lnTo>
                    <a:pt x="18883" y="1599"/>
                  </a:lnTo>
                  <a:lnTo>
                    <a:pt x="524" y="35285"/>
                  </a:lnTo>
                  <a:lnTo>
                    <a:pt x="0" y="44781"/>
                  </a:lnTo>
                  <a:lnTo>
                    <a:pt x="0" y="47065"/>
                  </a:lnTo>
                  <a:lnTo>
                    <a:pt x="7745" y="84974"/>
                  </a:lnTo>
                  <a:lnTo>
                    <a:pt x="33318" y="122090"/>
                  </a:lnTo>
                  <a:lnTo>
                    <a:pt x="40357" y="127353"/>
                  </a:lnTo>
                  <a:lnTo>
                    <a:pt x="47391" y="122089"/>
                  </a:lnTo>
                  <a:lnTo>
                    <a:pt x="72941" y="84976"/>
                  </a:lnTo>
                  <a:lnTo>
                    <a:pt x="80707" y="46307"/>
                  </a:lnTo>
                  <a:lnTo>
                    <a:pt x="80707" y="44260"/>
                  </a:lnTo>
                  <a:lnTo>
                    <a:pt x="66286" y="5320"/>
                  </a:lnTo>
                  <a:lnTo>
                    <a:pt x="56730" y="0"/>
                  </a:lnTo>
                  <a:close/>
                </a:path>
              </a:pathLst>
            </a:custGeom>
            <a:solidFill>
              <a:srgbClr val="CD15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1948" y="98740"/>
              <a:ext cx="6317" cy="162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0290" y="72987"/>
              <a:ext cx="103519" cy="448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5606" y="162832"/>
              <a:ext cx="20230" cy="567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8639" y="162832"/>
              <a:ext cx="20228" cy="567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6935" y="266463"/>
              <a:ext cx="10483" cy="149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75192" y="67095"/>
              <a:ext cx="133721" cy="215899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1017" y="1175877"/>
            <a:ext cx="1840292" cy="152217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3144" y="596541"/>
            <a:ext cx="4384675" cy="2468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b="1" spc="-45" dirty="0">
                <a:latin typeface="Arial"/>
                <a:cs typeface="Arial"/>
              </a:rPr>
              <a:t>Evidence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 </a:t>
            </a:r>
            <a:r>
              <a:rPr sz="1200" b="1" spc="-10" dirty="0">
                <a:latin typeface="Arial"/>
                <a:cs typeface="Arial"/>
              </a:rPr>
              <a:t>temperature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threshold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200" dirty="0">
              <a:latin typeface="Arial"/>
              <a:cs typeface="Arial"/>
            </a:endParaRPr>
          </a:p>
          <a:p>
            <a:pPr marL="2985770" marR="72390" indent="-131445">
              <a:lnSpc>
                <a:spcPct val="100000"/>
              </a:lnSpc>
              <a:buClr>
                <a:srgbClr val="990000"/>
              </a:buClr>
              <a:buFont typeface="Verdana"/>
              <a:buChar char="•"/>
              <a:tabLst>
                <a:tab pos="2987040" algn="l"/>
              </a:tabLst>
            </a:pPr>
            <a:r>
              <a:rPr sz="1000" dirty="0">
                <a:latin typeface="Tahoma"/>
                <a:cs typeface="Tahoma"/>
              </a:rPr>
              <a:t>40</a:t>
            </a:r>
            <a:r>
              <a:rPr sz="1050" i="1" baseline="27777" dirty="0">
                <a:latin typeface="Arial"/>
                <a:cs typeface="Arial"/>
              </a:rPr>
              <a:t>◦</a:t>
            </a:r>
            <a:r>
              <a:rPr sz="1000" dirty="0">
                <a:latin typeface="Tahoma"/>
                <a:cs typeface="Tahoma"/>
              </a:rPr>
              <a:t>C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was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target,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but 	</a:t>
            </a:r>
            <a:r>
              <a:rPr sz="1000" dirty="0">
                <a:latin typeface="Tahoma"/>
                <a:cs typeface="Tahoma"/>
              </a:rPr>
              <a:t>it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was</a:t>
            </a:r>
            <a:r>
              <a:rPr sz="1000" dirty="0">
                <a:latin typeface="Tahoma"/>
                <a:cs typeface="Tahoma"/>
              </a:rPr>
              <a:t> not </a:t>
            </a:r>
            <a:r>
              <a:rPr sz="1000" spc="-10" dirty="0">
                <a:latin typeface="Tahoma"/>
                <a:cs typeface="Tahoma"/>
              </a:rPr>
              <a:t>always 	maintained.</a:t>
            </a:r>
            <a:endParaRPr sz="1000" dirty="0">
              <a:latin typeface="Tahoma"/>
              <a:cs typeface="Tahoma"/>
            </a:endParaRPr>
          </a:p>
          <a:p>
            <a:pPr marL="2985770" marR="43180" indent="-131445">
              <a:lnSpc>
                <a:spcPct val="100000"/>
              </a:lnSpc>
              <a:spcBef>
                <a:spcPts val="585"/>
              </a:spcBef>
              <a:buClr>
                <a:srgbClr val="990000"/>
              </a:buClr>
              <a:buFont typeface="Verdana"/>
              <a:buChar char="•"/>
              <a:tabLst>
                <a:tab pos="2987040" algn="l"/>
              </a:tabLst>
            </a:pPr>
            <a:r>
              <a:rPr sz="1000" spc="-20" dirty="0">
                <a:latin typeface="Tahoma"/>
                <a:cs typeface="Tahoma"/>
              </a:rPr>
              <a:t>Even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so,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about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85" dirty="0">
                <a:latin typeface="Tahoma"/>
                <a:cs typeface="Tahoma"/>
              </a:rPr>
              <a:t>77%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of 	</a:t>
            </a:r>
            <a:r>
              <a:rPr sz="1000" dirty="0">
                <a:latin typeface="Tahoma"/>
                <a:cs typeface="Tahoma"/>
              </a:rPr>
              <a:t>OTC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time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was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still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above 	</a:t>
            </a:r>
            <a:r>
              <a:rPr sz="1000" spc="-10" dirty="0">
                <a:latin typeface="Tahoma"/>
                <a:cs typeface="Tahoma"/>
              </a:rPr>
              <a:t>35</a:t>
            </a:r>
            <a:r>
              <a:rPr sz="1050" i="1" spc="-15" baseline="27777" dirty="0">
                <a:latin typeface="Arial"/>
                <a:cs typeface="Arial"/>
              </a:rPr>
              <a:t>◦</a:t>
            </a:r>
            <a:r>
              <a:rPr sz="1000" spc="-10" dirty="0">
                <a:latin typeface="Tahoma"/>
                <a:cs typeface="Tahoma"/>
              </a:rPr>
              <a:t>C.</a:t>
            </a:r>
            <a:endParaRPr sz="1000" dirty="0">
              <a:latin typeface="Tahoma"/>
              <a:cs typeface="Tahoma"/>
            </a:endParaRPr>
          </a:p>
          <a:p>
            <a:pPr marL="2985770" marR="153035" indent="-131445">
              <a:lnSpc>
                <a:spcPct val="100000"/>
              </a:lnSpc>
              <a:spcBef>
                <a:spcPts val="585"/>
              </a:spcBef>
              <a:buClr>
                <a:srgbClr val="990000"/>
              </a:buClr>
              <a:buFont typeface="Verdana"/>
              <a:buChar char="•"/>
              <a:tabLst>
                <a:tab pos="2987040" algn="l"/>
              </a:tabLst>
            </a:pPr>
            <a:r>
              <a:rPr sz="1000" dirty="0">
                <a:latin typeface="Tahoma"/>
                <a:cs typeface="Tahoma"/>
              </a:rPr>
              <a:t>This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suggests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that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fruit 	</a:t>
            </a:r>
            <a:r>
              <a:rPr sz="1000" spc="-45" dirty="0">
                <a:latin typeface="Tahoma"/>
                <a:cs typeface="Tahoma"/>
              </a:rPr>
              <a:t>damage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may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begin 	</a:t>
            </a:r>
            <a:r>
              <a:rPr sz="1000" spc="-40" dirty="0">
                <a:latin typeface="Tahoma"/>
                <a:cs typeface="Tahoma"/>
              </a:rPr>
              <a:t>around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35</a:t>
            </a:r>
            <a:r>
              <a:rPr sz="1050" i="1" spc="-15" baseline="27777" dirty="0">
                <a:latin typeface="Arial"/>
                <a:cs typeface="Arial"/>
              </a:rPr>
              <a:t>◦</a:t>
            </a:r>
            <a:r>
              <a:rPr sz="1000" spc="-10" dirty="0">
                <a:latin typeface="Tahoma"/>
                <a:cs typeface="Tahoma"/>
              </a:rPr>
              <a:t>C.</a:t>
            </a:r>
            <a:endParaRPr sz="1000" dirty="0">
              <a:latin typeface="Tahoma"/>
              <a:cs typeface="Tahoma"/>
            </a:endParaRPr>
          </a:p>
          <a:p>
            <a:pPr marL="2985770" marR="94615" indent="-131445" algn="just">
              <a:lnSpc>
                <a:spcPct val="100000"/>
              </a:lnSpc>
              <a:spcBef>
                <a:spcPts val="585"/>
              </a:spcBef>
              <a:buClr>
                <a:srgbClr val="990000"/>
              </a:buClr>
              <a:buFont typeface="Verdana"/>
              <a:buChar char="•"/>
              <a:tabLst>
                <a:tab pos="2987040" algn="l"/>
              </a:tabLst>
            </a:pPr>
            <a:r>
              <a:rPr sz="1000" dirty="0">
                <a:latin typeface="Tahoma"/>
                <a:cs typeface="Tahoma"/>
              </a:rPr>
              <a:t>It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also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helps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explain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why 	</a:t>
            </a:r>
            <a:r>
              <a:rPr sz="1000" spc="-30" dirty="0">
                <a:latin typeface="Tahoma"/>
                <a:cs typeface="Tahoma"/>
              </a:rPr>
              <a:t>treatments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A–D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showed 	</a:t>
            </a:r>
            <a:r>
              <a:rPr sz="1000" spc="-25" dirty="0">
                <a:latin typeface="Tahoma"/>
                <a:cs typeface="Tahoma"/>
              </a:rPr>
              <a:t>similar</a:t>
            </a:r>
            <a:r>
              <a:rPr sz="1000" spc="-20" dirty="0">
                <a:latin typeface="Tahoma"/>
                <a:cs typeface="Tahoma"/>
              </a:rPr>
              <a:t> yield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results.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8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Temperature</a:t>
            </a:r>
            <a:r>
              <a:rPr spc="-30" dirty="0"/>
              <a:t> </a:t>
            </a:r>
            <a:r>
              <a:rPr spc="120" dirty="0"/>
              <a:t>&amp;</a:t>
            </a:r>
            <a:r>
              <a:rPr spc="-35" dirty="0"/>
              <a:t> </a:t>
            </a:r>
            <a:r>
              <a:rPr spc="-25" dirty="0"/>
              <a:t>Relative</a:t>
            </a:r>
            <a:r>
              <a:rPr spc="-30" dirty="0"/>
              <a:t> </a:t>
            </a:r>
            <a:r>
              <a:rPr spc="-10" dirty="0"/>
              <a:t>Humidity</a:t>
            </a:r>
            <a:r>
              <a:rPr spc="-30" dirty="0"/>
              <a:t> </a:t>
            </a:r>
            <a:r>
              <a:rPr spc="-10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75086" y="66886"/>
            <a:ext cx="133985" cy="216535"/>
            <a:chOff x="4275086" y="66886"/>
            <a:chExt cx="133985" cy="216535"/>
          </a:xfrm>
        </p:grpSpPr>
        <p:sp>
          <p:nvSpPr>
            <p:cNvPr id="4" name="object 4"/>
            <p:cNvSpPr/>
            <p:nvPr/>
          </p:nvSpPr>
          <p:spPr>
            <a:xfrm>
              <a:off x="4275086" y="66886"/>
              <a:ext cx="133985" cy="216535"/>
            </a:xfrm>
            <a:custGeom>
              <a:avLst/>
              <a:gdLst/>
              <a:ahLst/>
              <a:cxnLst/>
              <a:rect l="l" t="t" r="r" b="b"/>
              <a:pathLst>
                <a:path w="133985" h="216535">
                  <a:moveTo>
                    <a:pt x="75562" y="0"/>
                  </a:moveTo>
                  <a:lnTo>
                    <a:pt x="67666" y="472"/>
                  </a:lnTo>
                  <a:lnTo>
                    <a:pt x="66960" y="493"/>
                  </a:lnTo>
                  <a:lnTo>
                    <a:pt x="66258" y="472"/>
                  </a:lnTo>
                  <a:lnTo>
                    <a:pt x="58363" y="1"/>
                  </a:lnTo>
                  <a:lnTo>
                    <a:pt x="55719" y="9490"/>
                  </a:lnTo>
                  <a:lnTo>
                    <a:pt x="54589" y="9358"/>
                  </a:lnTo>
                  <a:lnTo>
                    <a:pt x="52122" y="9290"/>
                  </a:lnTo>
                  <a:lnTo>
                    <a:pt x="48327" y="12045"/>
                  </a:lnTo>
                  <a:lnTo>
                    <a:pt x="47311" y="14028"/>
                  </a:lnTo>
                  <a:lnTo>
                    <a:pt x="46920" y="16653"/>
                  </a:lnTo>
                  <a:lnTo>
                    <a:pt x="44422" y="16169"/>
                  </a:lnTo>
                  <a:lnTo>
                    <a:pt x="9548" y="40726"/>
                  </a:lnTo>
                  <a:lnTo>
                    <a:pt x="0" y="92324"/>
                  </a:lnTo>
                  <a:lnTo>
                    <a:pt x="105" y="98726"/>
                  </a:lnTo>
                  <a:lnTo>
                    <a:pt x="9308" y="152251"/>
                  </a:lnTo>
                  <a:lnTo>
                    <a:pt x="40505" y="199970"/>
                  </a:lnTo>
                  <a:lnTo>
                    <a:pt x="62432" y="211719"/>
                  </a:lnTo>
                  <a:lnTo>
                    <a:pt x="63840" y="214087"/>
                  </a:lnTo>
                  <a:lnTo>
                    <a:pt x="65591" y="215787"/>
                  </a:lnTo>
                  <a:lnTo>
                    <a:pt x="66961" y="216170"/>
                  </a:lnTo>
                  <a:lnTo>
                    <a:pt x="68330" y="215787"/>
                  </a:lnTo>
                  <a:lnTo>
                    <a:pt x="70078" y="214087"/>
                  </a:lnTo>
                  <a:lnTo>
                    <a:pt x="71485" y="211720"/>
                  </a:lnTo>
                  <a:lnTo>
                    <a:pt x="93417" y="199973"/>
                  </a:lnTo>
                  <a:lnTo>
                    <a:pt x="124622" y="152252"/>
                  </a:lnTo>
                  <a:lnTo>
                    <a:pt x="132975" y="111963"/>
                  </a:lnTo>
                  <a:lnTo>
                    <a:pt x="133933" y="92326"/>
                  </a:lnTo>
                  <a:lnTo>
                    <a:pt x="132846" y="72820"/>
                  </a:lnTo>
                  <a:lnTo>
                    <a:pt x="117161" y="29048"/>
                  </a:lnTo>
                  <a:lnTo>
                    <a:pt x="91934" y="16070"/>
                  </a:lnTo>
                  <a:lnTo>
                    <a:pt x="89151" y="16183"/>
                  </a:lnTo>
                  <a:lnTo>
                    <a:pt x="86501" y="16764"/>
                  </a:lnTo>
                  <a:lnTo>
                    <a:pt x="86102" y="14047"/>
                  </a:lnTo>
                  <a:lnTo>
                    <a:pt x="85078" y="12012"/>
                  </a:lnTo>
                  <a:lnTo>
                    <a:pt x="81438" y="9365"/>
                  </a:lnTo>
                  <a:lnTo>
                    <a:pt x="79249" y="9389"/>
                  </a:lnTo>
                  <a:lnTo>
                    <a:pt x="78205" y="9498"/>
                  </a:lnTo>
                  <a:lnTo>
                    <a:pt x="75562" y="0"/>
                  </a:lnTo>
                  <a:close/>
                </a:path>
              </a:pathLst>
            </a:custGeom>
            <a:solidFill>
              <a:srgbClr val="A98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01711" y="126161"/>
              <a:ext cx="81280" cy="127635"/>
            </a:xfrm>
            <a:custGeom>
              <a:avLst/>
              <a:gdLst/>
              <a:ahLst/>
              <a:cxnLst/>
              <a:rect l="l" t="t" r="r" b="b"/>
              <a:pathLst>
                <a:path w="81279" h="127635">
                  <a:moveTo>
                    <a:pt x="56730" y="0"/>
                  </a:moveTo>
                  <a:lnTo>
                    <a:pt x="47922" y="2286"/>
                  </a:lnTo>
                  <a:lnTo>
                    <a:pt x="43508" y="2990"/>
                  </a:lnTo>
                  <a:lnTo>
                    <a:pt x="40350" y="3075"/>
                  </a:lnTo>
                  <a:lnTo>
                    <a:pt x="36960" y="2984"/>
                  </a:lnTo>
                  <a:lnTo>
                    <a:pt x="32581" y="2243"/>
                  </a:lnTo>
                  <a:lnTo>
                    <a:pt x="23947" y="1"/>
                  </a:lnTo>
                  <a:lnTo>
                    <a:pt x="18883" y="1599"/>
                  </a:lnTo>
                  <a:lnTo>
                    <a:pt x="524" y="35285"/>
                  </a:lnTo>
                  <a:lnTo>
                    <a:pt x="0" y="44781"/>
                  </a:lnTo>
                  <a:lnTo>
                    <a:pt x="0" y="47065"/>
                  </a:lnTo>
                  <a:lnTo>
                    <a:pt x="7745" y="84974"/>
                  </a:lnTo>
                  <a:lnTo>
                    <a:pt x="33318" y="122090"/>
                  </a:lnTo>
                  <a:lnTo>
                    <a:pt x="40357" y="127353"/>
                  </a:lnTo>
                  <a:lnTo>
                    <a:pt x="47391" y="122089"/>
                  </a:lnTo>
                  <a:lnTo>
                    <a:pt x="72941" y="84976"/>
                  </a:lnTo>
                  <a:lnTo>
                    <a:pt x="80707" y="46307"/>
                  </a:lnTo>
                  <a:lnTo>
                    <a:pt x="80707" y="44260"/>
                  </a:lnTo>
                  <a:lnTo>
                    <a:pt x="66286" y="5320"/>
                  </a:lnTo>
                  <a:lnTo>
                    <a:pt x="56730" y="0"/>
                  </a:lnTo>
                  <a:close/>
                </a:path>
              </a:pathLst>
            </a:custGeom>
            <a:solidFill>
              <a:srgbClr val="CD15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1948" y="98740"/>
              <a:ext cx="6317" cy="162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0290" y="72987"/>
              <a:ext cx="103519" cy="448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5606" y="162832"/>
              <a:ext cx="20230" cy="567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8639" y="162832"/>
              <a:ext cx="20228" cy="567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6935" y="266463"/>
              <a:ext cx="10483" cy="149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75192" y="67095"/>
              <a:ext cx="133721" cy="215899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8870" y="1229021"/>
            <a:ext cx="2554568" cy="154627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3144" y="667115"/>
            <a:ext cx="4338320" cy="2316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Higher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fruit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temperature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5" dirty="0">
                <a:latin typeface="Arial"/>
                <a:cs typeface="Arial"/>
              </a:rPr>
              <a:t>was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linked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lower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yield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200">
              <a:latin typeface="Arial"/>
              <a:cs typeface="Arial"/>
            </a:endParaRPr>
          </a:p>
          <a:p>
            <a:pPr marL="3072765" marR="132080" indent="-131445">
              <a:lnSpc>
                <a:spcPct val="100000"/>
              </a:lnSpc>
              <a:buClr>
                <a:srgbClr val="990000"/>
              </a:buClr>
              <a:buFont typeface="Verdana"/>
              <a:buChar char="•"/>
              <a:tabLst>
                <a:tab pos="3074035" algn="l"/>
              </a:tabLst>
            </a:pPr>
            <a:r>
              <a:rPr sz="1000" spc="-20" dirty="0">
                <a:latin typeface="Tahoma"/>
                <a:cs typeface="Tahoma"/>
              </a:rPr>
              <a:t>Higher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fruit 	</a:t>
            </a:r>
            <a:r>
              <a:rPr sz="1000" spc="-35" dirty="0">
                <a:latin typeface="Tahoma"/>
                <a:cs typeface="Tahoma"/>
              </a:rPr>
              <a:t>temperature</a:t>
            </a:r>
            <a:r>
              <a:rPr sz="1000" spc="-25" dirty="0">
                <a:latin typeface="Tahoma"/>
                <a:cs typeface="Tahoma"/>
              </a:rPr>
              <a:t> was 	</a:t>
            </a:r>
            <a:r>
              <a:rPr sz="1000" spc="-35" dirty="0">
                <a:latin typeface="Tahoma"/>
                <a:cs typeface="Tahoma"/>
              </a:rPr>
              <a:t>associated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lower 	</a:t>
            </a:r>
            <a:r>
              <a:rPr sz="1000" spc="-30" dirty="0">
                <a:latin typeface="Tahoma"/>
                <a:cs typeface="Tahoma"/>
              </a:rPr>
              <a:t>healthy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fruit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weight.</a:t>
            </a:r>
            <a:endParaRPr sz="1000">
              <a:latin typeface="Tahoma"/>
              <a:cs typeface="Tahoma"/>
            </a:endParaRPr>
          </a:p>
          <a:p>
            <a:pPr marL="3072765" marR="43180" indent="-131445">
              <a:lnSpc>
                <a:spcPct val="100000"/>
              </a:lnSpc>
              <a:spcBef>
                <a:spcPts val="580"/>
              </a:spcBef>
              <a:buClr>
                <a:srgbClr val="990000"/>
              </a:buClr>
              <a:buFont typeface="Verdana"/>
              <a:buChar char="•"/>
              <a:tabLst>
                <a:tab pos="3074035" algn="l"/>
              </a:tabLst>
            </a:pPr>
            <a:r>
              <a:rPr sz="1000" dirty="0">
                <a:latin typeface="Tahoma"/>
                <a:cs typeface="Tahoma"/>
              </a:rPr>
              <a:t>The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pattern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appears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 	</a:t>
            </a:r>
            <a:r>
              <a:rPr sz="1000" dirty="0">
                <a:latin typeface="Tahoma"/>
                <a:cs typeface="Tahoma"/>
              </a:rPr>
              <a:t>both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cultivars.</a:t>
            </a:r>
            <a:endParaRPr sz="1000">
              <a:latin typeface="Tahoma"/>
              <a:cs typeface="Tahoma"/>
            </a:endParaRPr>
          </a:p>
          <a:p>
            <a:pPr marL="3072765" marR="93980" indent="-131445">
              <a:lnSpc>
                <a:spcPct val="100000"/>
              </a:lnSpc>
              <a:spcBef>
                <a:spcPts val="590"/>
              </a:spcBef>
              <a:buClr>
                <a:srgbClr val="990000"/>
              </a:buClr>
              <a:buFont typeface="Verdana"/>
              <a:buChar char="•"/>
              <a:tabLst>
                <a:tab pos="3074035" algn="l"/>
              </a:tabLst>
            </a:pPr>
            <a:r>
              <a:rPr sz="1000" dirty="0">
                <a:latin typeface="Tahoma"/>
                <a:cs typeface="Tahoma"/>
              </a:rPr>
              <a:t>This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links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actual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heat 	</a:t>
            </a:r>
            <a:r>
              <a:rPr sz="1000" spc="-50" dirty="0">
                <a:latin typeface="Tahoma"/>
                <a:cs typeface="Tahoma"/>
              </a:rPr>
              <a:t>exposure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yield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loss.</a:t>
            </a:r>
            <a:endParaRPr sz="1000">
              <a:latin typeface="Tahoma"/>
              <a:cs typeface="Tahoma"/>
            </a:endParaRPr>
          </a:p>
          <a:p>
            <a:pPr marL="3072765" marR="151130" indent="-131445">
              <a:lnSpc>
                <a:spcPct val="100000"/>
              </a:lnSpc>
              <a:spcBef>
                <a:spcPts val="590"/>
              </a:spcBef>
              <a:buClr>
                <a:srgbClr val="990000"/>
              </a:buClr>
              <a:buFont typeface="Verdana"/>
              <a:buChar char="•"/>
              <a:tabLst>
                <a:tab pos="3074035" algn="l"/>
              </a:tabLst>
            </a:pPr>
            <a:r>
              <a:rPr sz="1000" dirty="0">
                <a:latin typeface="Tahoma"/>
                <a:cs typeface="Tahoma"/>
              </a:rPr>
              <a:t>It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supports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acute 	</a:t>
            </a:r>
            <a:r>
              <a:rPr sz="1000" spc="-20" dirty="0">
                <a:latin typeface="Tahoma"/>
                <a:cs typeface="Tahoma"/>
              </a:rPr>
              <a:t>yield</a:t>
            </a:r>
            <a:r>
              <a:rPr sz="1000" spc="-30" dirty="0">
                <a:latin typeface="Tahoma"/>
                <a:cs typeface="Tahoma"/>
              </a:rPr>
              <a:t> results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shown 	earlier.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9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Temperature</a:t>
            </a:r>
            <a:r>
              <a:rPr spc="-30" dirty="0"/>
              <a:t> </a:t>
            </a:r>
            <a:r>
              <a:rPr spc="120" dirty="0"/>
              <a:t>&amp;</a:t>
            </a:r>
            <a:r>
              <a:rPr spc="-35" dirty="0"/>
              <a:t> </a:t>
            </a:r>
            <a:r>
              <a:rPr spc="-25" dirty="0"/>
              <a:t>Relative</a:t>
            </a:r>
            <a:r>
              <a:rPr spc="-30" dirty="0"/>
              <a:t> </a:t>
            </a:r>
            <a:r>
              <a:rPr spc="-10" dirty="0"/>
              <a:t>Humidity</a:t>
            </a:r>
            <a:r>
              <a:rPr spc="-30" dirty="0"/>
              <a:t> </a:t>
            </a:r>
            <a:r>
              <a:rPr spc="-10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75086" y="66886"/>
            <a:ext cx="133985" cy="216535"/>
            <a:chOff x="4275086" y="66886"/>
            <a:chExt cx="133985" cy="216535"/>
          </a:xfrm>
        </p:grpSpPr>
        <p:sp>
          <p:nvSpPr>
            <p:cNvPr id="4" name="object 4"/>
            <p:cNvSpPr/>
            <p:nvPr/>
          </p:nvSpPr>
          <p:spPr>
            <a:xfrm>
              <a:off x="4275086" y="66886"/>
              <a:ext cx="133985" cy="216535"/>
            </a:xfrm>
            <a:custGeom>
              <a:avLst/>
              <a:gdLst/>
              <a:ahLst/>
              <a:cxnLst/>
              <a:rect l="l" t="t" r="r" b="b"/>
              <a:pathLst>
                <a:path w="133985" h="216535">
                  <a:moveTo>
                    <a:pt x="75562" y="0"/>
                  </a:moveTo>
                  <a:lnTo>
                    <a:pt x="67666" y="472"/>
                  </a:lnTo>
                  <a:lnTo>
                    <a:pt x="66960" y="493"/>
                  </a:lnTo>
                  <a:lnTo>
                    <a:pt x="66258" y="472"/>
                  </a:lnTo>
                  <a:lnTo>
                    <a:pt x="58363" y="1"/>
                  </a:lnTo>
                  <a:lnTo>
                    <a:pt x="55719" y="9490"/>
                  </a:lnTo>
                  <a:lnTo>
                    <a:pt x="54589" y="9358"/>
                  </a:lnTo>
                  <a:lnTo>
                    <a:pt x="52122" y="9290"/>
                  </a:lnTo>
                  <a:lnTo>
                    <a:pt x="48327" y="12045"/>
                  </a:lnTo>
                  <a:lnTo>
                    <a:pt x="47311" y="14028"/>
                  </a:lnTo>
                  <a:lnTo>
                    <a:pt x="46920" y="16653"/>
                  </a:lnTo>
                  <a:lnTo>
                    <a:pt x="44422" y="16169"/>
                  </a:lnTo>
                  <a:lnTo>
                    <a:pt x="9548" y="40726"/>
                  </a:lnTo>
                  <a:lnTo>
                    <a:pt x="0" y="92324"/>
                  </a:lnTo>
                  <a:lnTo>
                    <a:pt x="105" y="98726"/>
                  </a:lnTo>
                  <a:lnTo>
                    <a:pt x="9308" y="152251"/>
                  </a:lnTo>
                  <a:lnTo>
                    <a:pt x="40505" y="199970"/>
                  </a:lnTo>
                  <a:lnTo>
                    <a:pt x="62432" y="211719"/>
                  </a:lnTo>
                  <a:lnTo>
                    <a:pt x="63840" y="214087"/>
                  </a:lnTo>
                  <a:lnTo>
                    <a:pt x="65591" y="215787"/>
                  </a:lnTo>
                  <a:lnTo>
                    <a:pt x="66961" y="216170"/>
                  </a:lnTo>
                  <a:lnTo>
                    <a:pt x="68330" y="215787"/>
                  </a:lnTo>
                  <a:lnTo>
                    <a:pt x="70078" y="214087"/>
                  </a:lnTo>
                  <a:lnTo>
                    <a:pt x="71485" y="211720"/>
                  </a:lnTo>
                  <a:lnTo>
                    <a:pt x="93417" y="199973"/>
                  </a:lnTo>
                  <a:lnTo>
                    <a:pt x="124622" y="152252"/>
                  </a:lnTo>
                  <a:lnTo>
                    <a:pt x="132975" y="111963"/>
                  </a:lnTo>
                  <a:lnTo>
                    <a:pt x="133933" y="92326"/>
                  </a:lnTo>
                  <a:lnTo>
                    <a:pt x="132846" y="72820"/>
                  </a:lnTo>
                  <a:lnTo>
                    <a:pt x="117161" y="29048"/>
                  </a:lnTo>
                  <a:lnTo>
                    <a:pt x="91934" y="16070"/>
                  </a:lnTo>
                  <a:lnTo>
                    <a:pt x="89151" y="16183"/>
                  </a:lnTo>
                  <a:lnTo>
                    <a:pt x="86501" y="16764"/>
                  </a:lnTo>
                  <a:lnTo>
                    <a:pt x="86102" y="14047"/>
                  </a:lnTo>
                  <a:lnTo>
                    <a:pt x="85078" y="12012"/>
                  </a:lnTo>
                  <a:lnTo>
                    <a:pt x="81438" y="9365"/>
                  </a:lnTo>
                  <a:lnTo>
                    <a:pt x="79249" y="9389"/>
                  </a:lnTo>
                  <a:lnTo>
                    <a:pt x="78205" y="9498"/>
                  </a:lnTo>
                  <a:lnTo>
                    <a:pt x="75562" y="0"/>
                  </a:lnTo>
                  <a:close/>
                </a:path>
              </a:pathLst>
            </a:custGeom>
            <a:solidFill>
              <a:srgbClr val="A98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01711" y="126161"/>
              <a:ext cx="81280" cy="127635"/>
            </a:xfrm>
            <a:custGeom>
              <a:avLst/>
              <a:gdLst/>
              <a:ahLst/>
              <a:cxnLst/>
              <a:rect l="l" t="t" r="r" b="b"/>
              <a:pathLst>
                <a:path w="81279" h="127635">
                  <a:moveTo>
                    <a:pt x="56730" y="0"/>
                  </a:moveTo>
                  <a:lnTo>
                    <a:pt x="47922" y="2286"/>
                  </a:lnTo>
                  <a:lnTo>
                    <a:pt x="43508" y="2990"/>
                  </a:lnTo>
                  <a:lnTo>
                    <a:pt x="40350" y="3075"/>
                  </a:lnTo>
                  <a:lnTo>
                    <a:pt x="36960" y="2984"/>
                  </a:lnTo>
                  <a:lnTo>
                    <a:pt x="32581" y="2243"/>
                  </a:lnTo>
                  <a:lnTo>
                    <a:pt x="23947" y="1"/>
                  </a:lnTo>
                  <a:lnTo>
                    <a:pt x="18883" y="1599"/>
                  </a:lnTo>
                  <a:lnTo>
                    <a:pt x="524" y="35285"/>
                  </a:lnTo>
                  <a:lnTo>
                    <a:pt x="0" y="44781"/>
                  </a:lnTo>
                  <a:lnTo>
                    <a:pt x="0" y="47065"/>
                  </a:lnTo>
                  <a:lnTo>
                    <a:pt x="7745" y="84974"/>
                  </a:lnTo>
                  <a:lnTo>
                    <a:pt x="33318" y="122090"/>
                  </a:lnTo>
                  <a:lnTo>
                    <a:pt x="40357" y="127353"/>
                  </a:lnTo>
                  <a:lnTo>
                    <a:pt x="47391" y="122089"/>
                  </a:lnTo>
                  <a:lnTo>
                    <a:pt x="72941" y="84976"/>
                  </a:lnTo>
                  <a:lnTo>
                    <a:pt x="80707" y="46307"/>
                  </a:lnTo>
                  <a:lnTo>
                    <a:pt x="80707" y="44260"/>
                  </a:lnTo>
                  <a:lnTo>
                    <a:pt x="66286" y="5320"/>
                  </a:lnTo>
                  <a:lnTo>
                    <a:pt x="56730" y="0"/>
                  </a:lnTo>
                  <a:close/>
                </a:path>
              </a:pathLst>
            </a:custGeom>
            <a:solidFill>
              <a:srgbClr val="CD15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1948" y="98740"/>
              <a:ext cx="6317" cy="162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0290" y="72987"/>
              <a:ext cx="103519" cy="448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5606" y="162832"/>
              <a:ext cx="20230" cy="567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8639" y="162832"/>
              <a:ext cx="20228" cy="567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6935" y="266463"/>
              <a:ext cx="10483" cy="149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75192" y="67095"/>
              <a:ext cx="133721" cy="215899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8870" y="1168294"/>
            <a:ext cx="2554568" cy="122145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/>
              <a:t>OTC</a:t>
            </a:r>
            <a:r>
              <a:rPr spc="30" dirty="0"/>
              <a:t> </a:t>
            </a:r>
            <a:r>
              <a:rPr spc="-45" dirty="0"/>
              <a:t>also</a:t>
            </a:r>
            <a:r>
              <a:rPr spc="30" dirty="0"/>
              <a:t> </a:t>
            </a:r>
            <a:r>
              <a:rPr spc="-20" dirty="0"/>
              <a:t>created</a:t>
            </a:r>
            <a:r>
              <a:rPr spc="35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hotter</a:t>
            </a:r>
            <a:r>
              <a:rPr spc="30" dirty="0"/>
              <a:t> </a:t>
            </a:r>
            <a:r>
              <a:rPr spc="-10" dirty="0"/>
              <a:t>and</a:t>
            </a:r>
            <a:r>
              <a:rPr spc="35" dirty="0"/>
              <a:t> </a:t>
            </a:r>
            <a:r>
              <a:rPr spc="-20" dirty="0"/>
              <a:t>drier</a:t>
            </a:r>
            <a:r>
              <a:rPr spc="35" dirty="0"/>
              <a:t> </a:t>
            </a:r>
            <a:r>
              <a:rPr spc="-10" dirty="0"/>
              <a:t>environment</a:t>
            </a: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pc="-10" dirty="0"/>
          </a:p>
          <a:p>
            <a:pPr marL="3072765" marR="46990" indent="-131445">
              <a:lnSpc>
                <a:spcPct val="100000"/>
              </a:lnSpc>
              <a:buClr>
                <a:srgbClr val="990000"/>
              </a:buClr>
              <a:buFont typeface="Verdana"/>
              <a:buChar char="•"/>
              <a:tabLst>
                <a:tab pos="3074035" algn="l"/>
              </a:tabLst>
            </a:pPr>
            <a:r>
              <a:rPr sz="1000" b="0" dirty="0">
                <a:latin typeface="Tahoma"/>
                <a:cs typeface="Tahoma"/>
              </a:rPr>
              <a:t>OTC</a:t>
            </a:r>
            <a:r>
              <a:rPr sz="1000" b="0" spc="5" dirty="0">
                <a:latin typeface="Tahoma"/>
                <a:cs typeface="Tahoma"/>
              </a:rPr>
              <a:t> </a:t>
            </a:r>
            <a:r>
              <a:rPr sz="1000" b="0" spc="-10" dirty="0">
                <a:latin typeface="Tahoma"/>
                <a:cs typeface="Tahoma"/>
              </a:rPr>
              <a:t>plots</a:t>
            </a:r>
            <a:r>
              <a:rPr sz="1000" b="0" spc="10" dirty="0">
                <a:latin typeface="Tahoma"/>
                <a:cs typeface="Tahoma"/>
              </a:rPr>
              <a:t> </a:t>
            </a:r>
            <a:r>
              <a:rPr sz="1000" b="0" spc="-25" dirty="0">
                <a:latin typeface="Tahoma"/>
                <a:cs typeface="Tahoma"/>
              </a:rPr>
              <a:t>had</a:t>
            </a:r>
            <a:r>
              <a:rPr sz="1000" b="0" spc="10" dirty="0">
                <a:latin typeface="Tahoma"/>
                <a:cs typeface="Tahoma"/>
              </a:rPr>
              <a:t> </a:t>
            </a:r>
            <a:r>
              <a:rPr sz="1000" b="0" spc="-20" dirty="0">
                <a:latin typeface="Tahoma"/>
                <a:cs typeface="Tahoma"/>
              </a:rPr>
              <a:t>lower 	</a:t>
            </a:r>
            <a:r>
              <a:rPr sz="1000" b="0" spc="-30" dirty="0">
                <a:latin typeface="Tahoma"/>
                <a:cs typeface="Tahoma"/>
              </a:rPr>
              <a:t>relative</a:t>
            </a:r>
            <a:r>
              <a:rPr sz="1000" b="0" spc="-15" dirty="0">
                <a:latin typeface="Tahoma"/>
                <a:cs typeface="Tahoma"/>
              </a:rPr>
              <a:t> </a:t>
            </a:r>
            <a:r>
              <a:rPr sz="1000" b="0" spc="-25" dirty="0">
                <a:latin typeface="Tahoma"/>
                <a:cs typeface="Tahoma"/>
              </a:rPr>
              <a:t>humidity</a:t>
            </a:r>
            <a:r>
              <a:rPr sz="1000" b="0" spc="-10" dirty="0">
                <a:latin typeface="Tahoma"/>
                <a:cs typeface="Tahoma"/>
              </a:rPr>
              <a:t> </a:t>
            </a:r>
            <a:r>
              <a:rPr sz="1000" b="0" spc="-25" dirty="0">
                <a:latin typeface="Tahoma"/>
                <a:cs typeface="Tahoma"/>
              </a:rPr>
              <a:t>than 	</a:t>
            </a:r>
            <a:r>
              <a:rPr sz="1000" b="0" spc="-10" dirty="0">
                <a:latin typeface="Tahoma"/>
                <a:cs typeface="Tahoma"/>
              </a:rPr>
              <a:t>control</a:t>
            </a:r>
            <a:r>
              <a:rPr sz="1000" b="0" spc="-65" dirty="0">
                <a:latin typeface="Tahoma"/>
                <a:cs typeface="Tahoma"/>
              </a:rPr>
              <a:t> </a:t>
            </a:r>
            <a:r>
              <a:rPr sz="1000" b="0" spc="-10" dirty="0">
                <a:latin typeface="Tahoma"/>
                <a:cs typeface="Tahoma"/>
              </a:rPr>
              <a:t>plots.</a:t>
            </a:r>
            <a:endParaRPr sz="1000" dirty="0">
              <a:latin typeface="Tahoma"/>
              <a:cs typeface="Tahoma"/>
            </a:endParaRPr>
          </a:p>
          <a:p>
            <a:pPr marL="3072765" marR="43180" indent="-131445">
              <a:lnSpc>
                <a:spcPct val="100000"/>
              </a:lnSpc>
              <a:spcBef>
                <a:spcPts val="585"/>
              </a:spcBef>
              <a:buClr>
                <a:srgbClr val="990000"/>
              </a:buClr>
              <a:buFont typeface="Verdana"/>
              <a:buChar char="•"/>
              <a:tabLst>
                <a:tab pos="3074035" algn="l"/>
              </a:tabLst>
            </a:pPr>
            <a:r>
              <a:rPr sz="1000" b="0" dirty="0">
                <a:latin typeface="Tahoma"/>
                <a:cs typeface="Tahoma"/>
              </a:rPr>
              <a:t>This</a:t>
            </a:r>
            <a:r>
              <a:rPr sz="1000" b="0" spc="-25" dirty="0">
                <a:latin typeface="Tahoma"/>
                <a:cs typeface="Tahoma"/>
              </a:rPr>
              <a:t> </a:t>
            </a:r>
            <a:r>
              <a:rPr sz="1000" b="0" spc="-35" dirty="0">
                <a:latin typeface="Tahoma"/>
                <a:cs typeface="Tahoma"/>
              </a:rPr>
              <a:t>created</a:t>
            </a:r>
            <a:r>
              <a:rPr sz="1000" b="0" spc="-20" dirty="0">
                <a:latin typeface="Tahoma"/>
                <a:cs typeface="Tahoma"/>
              </a:rPr>
              <a:t> </a:t>
            </a:r>
            <a:r>
              <a:rPr sz="1000" b="0" dirty="0">
                <a:latin typeface="Tahoma"/>
                <a:cs typeface="Tahoma"/>
              </a:rPr>
              <a:t>a</a:t>
            </a:r>
            <a:r>
              <a:rPr sz="1000" b="0" spc="-25" dirty="0">
                <a:latin typeface="Tahoma"/>
                <a:cs typeface="Tahoma"/>
              </a:rPr>
              <a:t> </a:t>
            </a:r>
            <a:r>
              <a:rPr sz="1000" b="0" spc="-10" dirty="0">
                <a:latin typeface="Tahoma"/>
                <a:cs typeface="Tahoma"/>
              </a:rPr>
              <a:t>hotter 	</a:t>
            </a:r>
            <a:r>
              <a:rPr sz="1000" b="0" spc="-25" dirty="0">
                <a:latin typeface="Tahoma"/>
                <a:cs typeface="Tahoma"/>
              </a:rPr>
              <a:t>and</a:t>
            </a:r>
            <a:r>
              <a:rPr sz="1000" b="0" spc="-50" dirty="0">
                <a:latin typeface="Tahoma"/>
                <a:cs typeface="Tahoma"/>
              </a:rPr>
              <a:t> </a:t>
            </a:r>
            <a:r>
              <a:rPr sz="1000" b="0" spc="-20" dirty="0">
                <a:latin typeface="Tahoma"/>
                <a:cs typeface="Tahoma"/>
              </a:rPr>
              <a:t>drier</a:t>
            </a:r>
            <a:r>
              <a:rPr sz="1000" b="0" spc="-45" dirty="0">
                <a:latin typeface="Tahoma"/>
                <a:cs typeface="Tahoma"/>
              </a:rPr>
              <a:t> environment 	</a:t>
            </a:r>
            <a:r>
              <a:rPr sz="1000" b="0" spc="-40" dirty="0">
                <a:latin typeface="Tahoma"/>
                <a:cs typeface="Tahoma"/>
              </a:rPr>
              <a:t>around </a:t>
            </a:r>
            <a:r>
              <a:rPr sz="1000" b="0" spc="-10" dirty="0">
                <a:latin typeface="Tahoma"/>
                <a:cs typeface="Tahoma"/>
              </a:rPr>
              <a:t>the</a:t>
            </a:r>
            <a:r>
              <a:rPr sz="1000" b="0" spc="-50" dirty="0">
                <a:latin typeface="Tahoma"/>
                <a:cs typeface="Tahoma"/>
              </a:rPr>
              <a:t> </a:t>
            </a:r>
            <a:r>
              <a:rPr sz="1000" b="0" spc="-10" dirty="0">
                <a:latin typeface="Tahoma"/>
                <a:cs typeface="Tahoma"/>
              </a:rPr>
              <a:t>fruit.</a:t>
            </a:r>
            <a:endParaRPr sz="1000" dirty="0">
              <a:latin typeface="Tahoma"/>
              <a:cs typeface="Tahoma"/>
            </a:endParaRPr>
          </a:p>
          <a:p>
            <a:pPr marL="3072765" marR="76200" indent="-131445">
              <a:lnSpc>
                <a:spcPct val="100000"/>
              </a:lnSpc>
              <a:spcBef>
                <a:spcPts val="585"/>
              </a:spcBef>
              <a:buClr>
                <a:srgbClr val="990000"/>
              </a:buClr>
              <a:buFont typeface="Verdana"/>
              <a:buChar char="•"/>
              <a:tabLst>
                <a:tab pos="3074035" algn="l"/>
              </a:tabLst>
            </a:pPr>
            <a:r>
              <a:rPr sz="1000" b="0" spc="-20" dirty="0">
                <a:latin typeface="Tahoma"/>
                <a:cs typeface="Tahoma"/>
              </a:rPr>
              <a:t>Such</a:t>
            </a:r>
            <a:r>
              <a:rPr sz="1000" b="0" spc="-15" dirty="0">
                <a:latin typeface="Tahoma"/>
                <a:cs typeface="Tahoma"/>
              </a:rPr>
              <a:t> </a:t>
            </a:r>
            <a:r>
              <a:rPr sz="1000" b="0" spc="-25" dirty="0">
                <a:latin typeface="Tahoma"/>
                <a:cs typeface="Tahoma"/>
              </a:rPr>
              <a:t>conditions</a:t>
            </a:r>
            <a:r>
              <a:rPr sz="1000" b="0" spc="-15" dirty="0">
                <a:latin typeface="Tahoma"/>
                <a:cs typeface="Tahoma"/>
              </a:rPr>
              <a:t> </a:t>
            </a:r>
            <a:r>
              <a:rPr sz="1000" b="0" spc="-25" dirty="0">
                <a:latin typeface="Tahoma"/>
                <a:cs typeface="Tahoma"/>
              </a:rPr>
              <a:t>may 	</a:t>
            </a:r>
            <a:r>
              <a:rPr sz="1000" b="0" spc="-40" dirty="0">
                <a:latin typeface="Tahoma"/>
                <a:cs typeface="Tahoma"/>
              </a:rPr>
              <a:t>increase</a:t>
            </a:r>
            <a:r>
              <a:rPr sz="1000" b="0" spc="-35" dirty="0">
                <a:latin typeface="Tahoma"/>
                <a:cs typeface="Tahoma"/>
              </a:rPr>
              <a:t> </a:t>
            </a:r>
            <a:r>
              <a:rPr sz="1000" b="0" dirty="0">
                <a:latin typeface="Tahoma"/>
                <a:cs typeface="Tahoma"/>
              </a:rPr>
              <a:t>fruit</a:t>
            </a:r>
            <a:r>
              <a:rPr sz="1000" b="0" spc="-30" dirty="0">
                <a:latin typeface="Tahoma"/>
                <a:cs typeface="Tahoma"/>
              </a:rPr>
              <a:t> </a:t>
            </a:r>
            <a:r>
              <a:rPr sz="1000" b="0" spc="-60" dirty="0">
                <a:latin typeface="Tahoma"/>
                <a:cs typeface="Tahoma"/>
              </a:rPr>
              <a:t>damage 	</a:t>
            </a:r>
            <a:r>
              <a:rPr sz="1000" b="0" spc="-25" dirty="0">
                <a:latin typeface="Tahoma"/>
                <a:cs typeface="Tahoma"/>
              </a:rPr>
              <a:t>and</a:t>
            </a:r>
            <a:r>
              <a:rPr sz="1000" b="0" spc="-45" dirty="0">
                <a:latin typeface="Tahoma"/>
                <a:cs typeface="Tahoma"/>
              </a:rPr>
              <a:t> </a:t>
            </a:r>
            <a:r>
              <a:rPr sz="1000" b="0" dirty="0">
                <a:latin typeface="Tahoma"/>
                <a:cs typeface="Tahoma"/>
              </a:rPr>
              <a:t>rot</a:t>
            </a:r>
            <a:r>
              <a:rPr sz="1000" b="0" spc="-40" dirty="0">
                <a:latin typeface="Tahoma"/>
                <a:cs typeface="Tahoma"/>
              </a:rPr>
              <a:t> </a:t>
            </a:r>
            <a:r>
              <a:rPr sz="1000" b="0" spc="-10" dirty="0">
                <a:latin typeface="Tahoma"/>
                <a:cs typeface="Tahoma"/>
              </a:rPr>
              <a:t>risk.</a:t>
            </a:r>
            <a:endParaRPr sz="1000" dirty="0">
              <a:latin typeface="Tahoma"/>
              <a:cs typeface="Tahoma"/>
            </a:endParaRPr>
          </a:p>
          <a:p>
            <a:pPr marL="3072765" marR="50165" indent="-131445">
              <a:lnSpc>
                <a:spcPct val="100000"/>
              </a:lnSpc>
              <a:spcBef>
                <a:spcPts val="585"/>
              </a:spcBef>
              <a:buClr>
                <a:srgbClr val="990000"/>
              </a:buClr>
              <a:buFont typeface="Verdana"/>
              <a:buChar char="•"/>
              <a:tabLst>
                <a:tab pos="3074035" algn="l"/>
              </a:tabLst>
            </a:pPr>
            <a:r>
              <a:rPr sz="1000" b="0" dirty="0">
                <a:latin typeface="Tahoma"/>
                <a:cs typeface="Tahoma"/>
              </a:rPr>
              <a:t>This</a:t>
            </a:r>
            <a:r>
              <a:rPr sz="1000" b="0" spc="-30" dirty="0">
                <a:latin typeface="Tahoma"/>
                <a:cs typeface="Tahoma"/>
              </a:rPr>
              <a:t> </a:t>
            </a:r>
            <a:r>
              <a:rPr sz="1000" b="0" spc="-40" dirty="0">
                <a:latin typeface="Tahoma"/>
                <a:cs typeface="Tahoma"/>
              </a:rPr>
              <a:t>may</a:t>
            </a:r>
            <a:r>
              <a:rPr sz="1000" b="0" spc="-30" dirty="0">
                <a:latin typeface="Tahoma"/>
                <a:cs typeface="Tahoma"/>
              </a:rPr>
              <a:t> </a:t>
            </a:r>
            <a:r>
              <a:rPr sz="1000" b="0" spc="-25" dirty="0">
                <a:latin typeface="Tahoma"/>
                <a:cs typeface="Tahoma"/>
              </a:rPr>
              <a:t>help </a:t>
            </a:r>
            <a:r>
              <a:rPr sz="1000" b="0" spc="-40" dirty="0">
                <a:latin typeface="Tahoma"/>
                <a:cs typeface="Tahoma"/>
              </a:rPr>
              <a:t>explain 	</a:t>
            </a:r>
            <a:r>
              <a:rPr sz="1000" b="0" spc="-20" dirty="0">
                <a:latin typeface="Tahoma"/>
                <a:cs typeface="Tahoma"/>
              </a:rPr>
              <a:t>the</a:t>
            </a:r>
            <a:r>
              <a:rPr sz="1000" b="0" spc="-30" dirty="0">
                <a:latin typeface="Tahoma"/>
                <a:cs typeface="Tahoma"/>
              </a:rPr>
              <a:t> </a:t>
            </a:r>
            <a:r>
              <a:rPr sz="1000" b="0" spc="-35" dirty="0">
                <a:latin typeface="Tahoma"/>
                <a:cs typeface="Tahoma"/>
              </a:rPr>
              <a:t>higher</a:t>
            </a:r>
            <a:r>
              <a:rPr sz="1000" b="0" spc="-25" dirty="0">
                <a:latin typeface="Tahoma"/>
                <a:cs typeface="Tahoma"/>
              </a:rPr>
              <a:t> </a:t>
            </a:r>
            <a:r>
              <a:rPr sz="1000" b="0" spc="-20" dirty="0">
                <a:latin typeface="Tahoma"/>
                <a:cs typeface="Tahoma"/>
              </a:rPr>
              <a:t>rotten</a:t>
            </a:r>
            <a:r>
              <a:rPr sz="1000" b="0" spc="-25" dirty="0">
                <a:latin typeface="Tahoma"/>
                <a:cs typeface="Tahoma"/>
              </a:rPr>
              <a:t> </a:t>
            </a:r>
            <a:r>
              <a:rPr sz="1000" b="0" spc="-20" dirty="0">
                <a:latin typeface="Tahoma"/>
                <a:cs typeface="Tahoma"/>
              </a:rPr>
              <a:t>rate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74720" y="2927443"/>
            <a:ext cx="65913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1000" spc="-40" dirty="0">
                <a:latin typeface="Tahoma"/>
                <a:cs typeface="Tahoma"/>
              </a:rPr>
              <a:t>under </a:t>
            </a:r>
            <a:r>
              <a:rPr sz="1000" spc="-20" dirty="0">
                <a:latin typeface="Tahoma"/>
                <a:cs typeface="Tahoma"/>
              </a:rPr>
              <a:t>OTC.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8C2A0-22F7-A4A8-9432-182D98374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5643C5-75BB-F375-D74A-F65E82ED63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221" y="88160"/>
            <a:ext cx="3941663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50" dirty="0"/>
              <a:t>Conclusions, Limitations,  &amp; Future Directions</a:t>
            </a:r>
            <a:endParaRPr spc="-10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D93550A-DB42-FE6B-9D61-327D1E31C96D}"/>
              </a:ext>
            </a:extLst>
          </p:cNvPr>
          <p:cNvGrpSpPr/>
          <p:nvPr/>
        </p:nvGrpSpPr>
        <p:grpSpPr>
          <a:xfrm>
            <a:off x="4275086" y="66886"/>
            <a:ext cx="133985" cy="216535"/>
            <a:chOff x="4275086" y="66886"/>
            <a:chExt cx="133985" cy="21653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C5C56A0-2A62-45D6-262D-69FA45512918}"/>
                </a:ext>
              </a:extLst>
            </p:cNvPr>
            <p:cNvSpPr/>
            <p:nvPr/>
          </p:nvSpPr>
          <p:spPr>
            <a:xfrm>
              <a:off x="4275086" y="66886"/>
              <a:ext cx="133985" cy="216535"/>
            </a:xfrm>
            <a:custGeom>
              <a:avLst/>
              <a:gdLst/>
              <a:ahLst/>
              <a:cxnLst/>
              <a:rect l="l" t="t" r="r" b="b"/>
              <a:pathLst>
                <a:path w="133985" h="216535">
                  <a:moveTo>
                    <a:pt x="75562" y="0"/>
                  </a:moveTo>
                  <a:lnTo>
                    <a:pt x="67666" y="472"/>
                  </a:lnTo>
                  <a:lnTo>
                    <a:pt x="66960" y="493"/>
                  </a:lnTo>
                  <a:lnTo>
                    <a:pt x="66258" y="472"/>
                  </a:lnTo>
                  <a:lnTo>
                    <a:pt x="58363" y="1"/>
                  </a:lnTo>
                  <a:lnTo>
                    <a:pt x="55719" y="9490"/>
                  </a:lnTo>
                  <a:lnTo>
                    <a:pt x="54589" y="9358"/>
                  </a:lnTo>
                  <a:lnTo>
                    <a:pt x="52122" y="9290"/>
                  </a:lnTo>
                  <a:lnTo>
                    <a:pt x="48327" y="12045"/>
                  </a:lnTo>
                  <a:lnTo>
                    <a:pt x="47311" y="14028"/>
                  </a:lnTo>
                  <a:lnTo>
                    <a:pt x="46920" y="16653"/>
                  </a:lnTo>
                  <a:lnTo>
                    <a:pt x="44422" y="16169"/>
                  </a:lnTo>
                  <a:lnTo>
                    <a:pt x="9548" y="40726"/>
                  </a:lnTo>
                  <a:lnTo>
                    <a:pt x="0" y="92324"/>
                  </a:lnTo>
                  <a:lnTo>
                    <a:pt x="105" y="98726"/>
                  </a:lnTo>
                  <a:lnTo>
                    <a:pt x="9308" y="152251"/>
                  </a:lnTo>
                  <a:lnTo>
                    <a:pt x="40505" y="199970"/>
                  </a:lnTo>
                  <a:lnTo>
                    <a:pt x="62432" y="211719"/>
                  </a:lnTo>
                  <a:lnTo>
                    <a:pt x="63840" y="214087"/>
                  </a:lnTo>
                  <a:lnTo>
                    <a:pt x="65591" y="215787"/>
                  </a:lnTo>
                  <a:lnTo>
                    <a:pt x="66961" y="216170"/>
                  </a:lnTo>
                  <a:lnTo>
                    <a:pt x="68330" y="215787"/>
                  </a:lnTo>
                  <a:lnTo>
                    <a:pt x="70078" y="214087"/>
                  </a:lnTo>
                  <a:lnTo>
                    <a:pt x="71485" y="211720"/>
                  </a:lnTo>
                  <a:lnTo>
                    <a:pt x="93417" y="199973"/>
                  </a:lnTo>
                  <a:lnTo>
                    <a:pt x="124622" y="152252"/>
                  </a:lnTo>
                  <a:lnTo>
                    <a:pt x="132975" y="111963"/>
                  </a:lnTo>
                  <a:lnTo>
                    <a:pt x="133933" y="92326"/>
                  </a:lnTo>
                  <a:lnTo>
                    <a:pt x="132846" y="72820"/>
                  </a:lnTo>
                  <a:lnTo>
                    <a:pt x="117161" y="29048"/>
                  </a:lnTo>
                  <a:lnTo>
                    <a:pt x="91934" y="16070"/>
                  </a:lnTo>
                  <a:lnTo>
                    <a:pt x="89151" y="16183"/>
                  </a:lnTo>
                  <a:lnTo>
                    <a:pt x="86501" y="16764"/>
                  </a:lnTo>
                  <a:lnTo>
                    <a:pt x="86102" y="14047"/>
                  </a:lnTo>
                  <a:lnTo>
                    <a:pt x="85078" y="12012"/>
                  </a:lnTo>
                  <a:lnTo>
                    <a:pt x="81438" y="9365"/>
                  </a:lnTo>
                  <a:lnTo>
                    <a:pt x="79249" y="9389"/>
                  </a:lnTo>
                  <a:lnTo>
                    <a:pt x="78205" y="9498"/>
                  </a:lnTo>
                  <a:lnTo>
                    <a:pt x="75562" y="0"/>
                  </a:lnTo>
                  <a:close/>
                </a:path>
              </a:pathLst>
            </a:custGeom>
            <a:solidFill>
              <a:srgbClr val="A98A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C60E1C-9592-8024-6635-9A2258C13B6E}"/>
                </a:ext>
              </a:extLst>
            </p:cNvPr>
            <p:cNvSpPr/>
            <p:nvPr/>
          </p:nvSpPr>
          <p:spPr>
            <a:xfrm>
              <a:off x="4301711" y="126161"/>
              <a:ext cx="81280" cy="127635"/>
            </a:xfrm>
            <a:custGeom>
              <a:avLst/>
              <a:gdLst/>
              <a:ahLst/>
              <a:cxnLst/>
              <a:rect l="l" t="t" r="r" b="b"/>
              <a:pathLst>
                <a:path w="81279" h="127635">
                  <a:moveTo>
                    <a:pt x="56730" y="0"/>
                  </a:moveTo>
                  <a:lnTo>
                    <a:pt x="47922" y="2286"/>
                  </a:lnTo>
                  <a:lnTo>
                    <a:pt x="43508" y="2990"/>
                  </a:lnTo>
                  <a:lnTo>
                    <a:pt x="40350" y="3075"/>
                  </a:lnTo>
                  <a:lnTo>
                    <a:pt x="36960" y="2984"/>
                  </a:lnTo>
                  <a:lnTo>
                    <a:pt x="32581" y="2243"/>
                  </a:lnTo>
                  <a:lnTo>
                    <a:pt x="23947" y="1"/>
                  </a:lnTo>
                  <a:lnTo>
                    <a:pt x="18883" y="1599"/>
                  </a:lnTo>
                  <a:lnTo>
                    <a:pt x="524" y="35285"/>
                  </a:lnTo>
                  <a:lnTo>
                    <a:pt x="0" y="44781"/>
                  </a:lnTo>
                  <a:lnTo>
                    <a:pt x="0" y="47065"/>
                  </a:lnTo>
                  <a:lnTo>
                    <a:pt x="7745" y="84974"/>
                  </a:lnTo>
                  <a:lnTo>
                    <a:pt x="33318" y="122090"/>
                  </a:lnTo>
                  <a:lnTo>
                    <a:pt x="40357" y="127353"/>
                  </a:lnTo>
                  <a:lnTo>
                    <a:pt x="47391" y="122089"/>
                  </a:lnTo>
                  <a:lnTo>
                    <a:pt x="72941" y="84976"/>
                  </a:lnTo>
                  <a:lnTo>
                    <a:pt x="80707" y="46307"/>
                  </a:lnTo>
                  <a:lnTo>
                    <a:pt x="80707" y="44260"/>
                  </a:lnTo>
                  <a:lnTo>
                    <a:pt x="66286" y="5320"/>
                  </a:lnTo>
                  <a:lnTo>
                    <a:pt x="56730" y="0"/>
                  </a:lnTo>
                  <a:close/>
                </a:path>
              </a:pathLst>
            </a:custGeom>
            <a:solidFill>
              <a:srgbClr val="CD15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AE7CE2DA-F5C8-25B7-9E40-C08B5C32952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1948" y="98740"/>
              <a:ext cx="6317" cy="16210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A15002B8-95F8-ECEE-BF2F-A1CB38A3281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0290" y="72987"/>
              <a:ext cx="103519" cy="44831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7551A06C-D204-2F68-C87F-4A62957C4AE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5606" y="162832"/>
              <a:ext cx="20230" cy="56797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FAC237AC-0B61-C19E-2683-5864C51EFFD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8639" y="162832"/>
              <a:ext cx="20228" cy="56797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2D78F72B-D8D2-6603-2BB6-F93CEDF62F0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6935" y="266463"/>
              <a:ext cx="10483" cy="14935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C33D0CC3-1534-67D3-71FF-A1C20EA1106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75192" y="67095"/>
              <a:ext cx="133721" cy="215899"/>
            </a:xfrm>
            <a:prstGeom prst="rect">
              <a:avLst/>
            </a:prstGeom>
          </p:spPr>
        </p:pic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332AD7BA-38B2-DA5A-B6E9-078F4C543B4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11</a:t>
            </a:fld>
            <a:r>
              <a:rPr spc="3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25" dirty="0"/>
              <a:t>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496B2E-D952-E74C-AB3E-10C9A4514E6D}"/>
              </a:ext>
            </a:extLst>
          </p:cNvPr>
          <p:cNvSpPr txBox="1"/>
          <p:nvPr/>
        </p:nvSpPr>
        <p:spPr>
          <a:xfrm>
            <a:off x="19050" y="511175"/>
            <a:ext cx="45683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r>
              <a:rPr lang="en-US" dirty="0"/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Long term heat experiment did not show significant results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Acute experiment significantly reduced yield and increased rot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BFEE5C-B741-76EE-E15D-055509B97C8B}"/>
              </a:ext>
            </a:extLst>
          </p:cNvPr>
          <p:cNvSpPr txBox="1"/>
          <p:nvPr/>
        </p:nvSpPr>
        <p:spPr>
          <a:xfrm>
            <a:off x="-26026" y="1190080"/>
            <a:ext cx="4568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  <a:r>
              <a:rPr lang="en-US" dirty="0"/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Errors in sensors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Small number of bio replicates – limits power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A02065-4A52-AE0C-ADED-1FC2C87CC0D1}"/>
              </a:ext>
            </a:extLst>
          </p:cNvPr>
          <p:cNvSpPr txBox="1"/>
          <p:nvPr/>
        </p:nvSpPr>
        <p:spPr>
          <a:xfrm>
            <a:off x="-24148" y="1933268"/>
            <a:ext cx="4568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Future Directions</a:t>
            </a:r>
            <a:r>
              <a:rPr lang="en-US" dirty="0"/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Increase 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Quality analysis based on gallic concentration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515938" algn="l"/>
              </a:tabLst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787317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825</Words>
  <Application>Microsoft Office PowerPoint</Application>
  <PresentationFormat>Custom</PresentationFormat>
  <Paragraphs>151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Comic Sans MS</vt:lpstr>
      <vt:lpstr>Microsoft Sans Serif</vt:lpstr>
      <vt:lpstr>Tahoma</vt:lpstr>
      <vt:lpstr>Trebuchet MS</vt:lpstr>
      <vt:lpstr>Verdana</vt:lpstr>
      <vt:lpstr>Office Theme</vt:lpstr>
      <vt:lpstr>Cranberries and Heat Stress Yield and Temperature Analysis</vt:lpstr>
      <vt:lpstr>Yield Analysis: Long-Term Experiment</vt:lpstr>
      <vt:lpstr>Yield Analysis: Acute Heat Reduces Healthy Fruit Weight</vt:lpstr>
      <vt:lpstr>Yield Analysis: Acute Heat Increases Fruit Rot</vt:lpstr>
      <vt:lpstr>Yield Analysis: No Dose–Response</vt:lpstr>
      <vt:lpstr>PowerPoint Presentation</vt:lpstr>
      <vt:lpstr>Temperature &amp; Relative Humidity Analysis</vt:lpstr>
      <vt:lpstr>Temperature &amp; Relative Humidity Analysis</vt:lpstr>
      <vt:lpstr>Temperature &amp; Relative Humidity Analysis</vt:lpstr>
      <vt:lpstr>Temperature &amp; Relative Humidity Analysis</vt:lpstr>
      <vt:lpstr>Conclusions, Limitations,  &amp; Future Directions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Cranberries and Heat Stress - Yield and Temperature Analysis</dc:title>
  <dc:creator> Name</dc:creator>
  <cp:lastModifiedBy>Rachel Rapier</cp:lastModifiedBy>
  <cp:revision>1</cp:revision>
  <dcterms:created xsi:type="dcterms:W3CDTF">2026-03-23T17:12:23Z</dcterms:created>
  <dcterms:modified xsi:type="dcterms:W3CDTF">2026-03-23T17:39:58Z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2026-03-23T00:00:00Z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